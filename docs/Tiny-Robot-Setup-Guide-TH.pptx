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ภาพรวม" id="{cfb3adf3-770d-bdf2-8246-6952c2819416}">
          <p14:sldIdLst>
            <p14:sldId id="256"/>
            <p14:sldId id="257"/>
            <p14:sldId id="258"/>
            <p14:sldId id="259"/>
          </p14:sldIdLst>
        </p14:section>
        <p14:section name="ติดตั้ง" id="{32fe05de-509a-93e4-9c53-948b2ea4f8bd}">
          <p14:sldIdLst>
            <p14:sldId id="260"/>
            <p14:sldId id="261"/>
            <p14:sldId id="262"/>
            <p14:sldId id="263"/>
            <p14:sldId id="264"/>
            <p14:sldId id="265"/>
            <p14:sldId id="266"/>
            <p14:sldId id="267"/>
          </p14:sldIdLst>
        </p14:section>
        <p14:section name="ใช้งานจริง" id="{3a39b87e-4b9e-c495-5c34-b3847d8d6241}">
          <p14:sldIdLst>
            <p14:sldId id="268"/>
            <p14:sldId id="269"/>
            <p14:sldId id="270"/>
            <p14:sldId id="271"/>
            <p14:sldId id="272"/>
          </p14:sldIdLst>
        </p14:section>
        <p14:section name="ปรับแต่งและแก้ปัญหา" id="{678bfed0-21e2-334b-ceb4-b43b5df3c393}">
          <p14:sldIdLst>
            <p14:sldId id="273"/>
            <p14:sldId id="274"/>
            <p14:sldId id="275"/>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สไลด์ชุดนี้ใช้สอนคนที่เพิ่งมารับช่วงต่อ ไล่ตั้งแต่ลงโปรแกรมในเครื่อง ต่อสาย อัปเฟิร์มแวร์ จนเปิดใช้งานได้จริง แล้วปิดท้ายด้วยอาการเสียที่เจอบ่อยพร้อมวิธีแก้
เวลาสอนให้เปิดหุ่นจริงวางไว้ข้างๆ ด้วย จะได้ชี้ของจริงประกอบไปทีละหน้า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ย้ำว่าระบบทำงานเป็นชั้นๆ ไม่ต้องมีครบทุกอย่างถึงจะวิ่งได้
STM32 ตัวเดียวก็เดินตามเส้นได้แล้ว ESP32 เพิ่มรีโมทกับจอ ส่วนกล้องกับ PC เพิ่มเรื่องอ่าน QR เข้ามา ถ้าชิ้นไหนเสีย ที่เหลือยังทำงานต่อได้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ชื่อโฟลเดอร์ใต้การ์ดแต่ละใบคือโฟลเดอร์ในโปรเจกต์ที่ต้องเปิดอัปลงบอร์ดตัวนั้น จำคู่นี้ให้แม่น เวลาอัปผิดบอร์ดจะงงกันทั้งวัน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ทุกอย่างอยู่บน Wi-Fi ชื่อ My_Robot2 ที่ ESP32 รีโมทเป็นคนปล่อย ไม่ใช่ Wi-Fi บ้าน
รีโมทเป็นเกตเวย์ของวงเสมอ IP จึงเป็น 192.168.4.1 ตายตัว ส่วนกล้องได้ IP อะไรก็ได้ตั้งแต่ .2 ขึ้นไป สคริปต์ Python จึงไล่หากล้องเองทุกครั้งที่เปิด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ลิงก์ Board Manager เต็มๆ อยู่ใน README.md หัวข้อ Getting started ให้ก๊อปจากตรงนั้น อย่าพิมพ์เอง
ถ้าสั่ง python แล้วเครื่องไม่รู้จัก ให้ใช้ py แทน เป็นเรื่องปกติของ Python บน Windows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ขาจริงของ Serial2 กับ Serial3 ขึ้นกับบอร์ดและการตั้งค่าคอร์ ให้เช็กก่อนลงมือต่อสายทุกครั้ง อย่าเชื่อตารางอย่างเดียว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เรื่องสายหลวมเคยทำให้เสียเวลาไล่หาสาเหตุทั้งวันมาแล้ว ย้ำกับคนใหม่ให้บัดกรีตั้งแต่แรก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สองเรื่องนี้คือต้นเหตุที่ทำให้อัป STM32 ไม่ติดมาตลอดในวิธีเดิม คือลืมสลับ BOOT0 กลับ กับ Serial Monitor จองพอร์ตค้างไว้
พอเปลี่ยนมาใช้ ST-Link ทั้งสองเรื่องหายไปพร้อมกัน เสียบ ST-Link ค้างไว้ได้ตลอดด้วย เพราะ PA13 PA14 ไม่ได้ถูกใช้ที่ไหนในโค้ดหุ่นเลย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แถว Board คือจุดที่พลาดกันบ่อยที่สุด ถ้าเปิดเมนู Tools แล้วไม่เห็นคำว่า Upload method เลย แปลว่ายังเลือกบอร์ดจากคอร์อื่นอยู่ ไม่ใช่คอร์ STM32 ตัวทางการ
แถว USB support หลอกที่สุด เพราะถ้าเผลอเลือก CDC มันจะย้าย Serial ไปออกทางช่อง USB ของบอร์ด ล็อกที่ขา PA9 จะเงียบสนิทโดยไม่มีอะไรฟ้อง ทั้งที่โค้ดทำงานปกติทุกอย่าง
BluePill F103C8 คือ 64 KB ส่วนโค้ดใช้ไปราว 25 KB ถ้าวันไหนโตเกิน ค่อยเปลี่ยนไปเลือก BluePill F103CB ซึ่งปลดล็อกเป็น 128 KB ที่ชิปมีจริงอยู่แล้ว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ลำดับการอัปไม่สำคัญ แต่ที่สำคัญคือต้องเปลี่ยน Tools &gt; Board ให้ตรงกับบอร์ดที่กำลังจะอัปทุกครั้ง
ลืมเปลี่ยนแล้วกดอัปคือความผิดพลาดที่เจอบ่อยที่สุด โค้ดจะถูกคอมไพล์ด้วยบอร์ดผิด ซึ่งบางทีก็อัปติดด้วยแล้วไปเพี้ยนตอนรัน
ถ้าแก้แค่โค้ดฝั่งกล้อง ก็อัปแค่ esp32_camera_server พอ ไม่ต้องอัปใหม่ทั้งสามตัว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วิธีนี้คือวิธีเดียวกับที่ปุ่ม Upload ใน IDE ทำอยู่เบื้องหลัง แค่เราเรียกเองทีละขั้นแทน
ถ้าอยากกดปุ่มแทนพิมพ์ ก็เปิดโปรแกรม STM32CubeProgrammer ได้ เลือก ST-LINK มุมขวาบน กด Connect แล้วไปแท็บ Erasing &amp; Programming ติ๊ก Verify กับ Run after programming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ข้อ 4 เป็นข้อที่คนใหม่พลาดบ่อยที่สุด เห็นหุ่นไม่ขยับแล้วคิดว่าเสีย ทั้งที่แค่ยังไม่ได้เลื่อนความเร็วขึ้นจากศูนย์
ที่ตั้งให้เริ่มที่ 0 เพราะไม่อยากให้หุ่นพุ่งทันทีที่เปิดหน้าเว็บ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ทุกหน้ายกเว้นหน้าสถานะเป็นรูปบิตแมปเต็มจอ 128x64 ที่วาดตัวหนังสือไว้ในรูปแล้ว
ถ้าอยากเปลี่ยนรูป ให้แก้ไฟล์ PNG ใน assets/oled แล้วสั่ง py tools/png_to_bitmaps.py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ถ้าเปิดหน้าเว็บไม่ขึ้น ให้เช็กว่ามือถือต่อ Wi-Fi ชื่อ My_Robot2 อยู่จริงไหม
มือถือบางรุ่นเห็นว่า Wi-Fi วงนี้ไม่มีอินเทอร์เน็ตแล้วแอบสลับกลับไปใช้เน็ตมือถือเอง ต้องเข้าไปปิดการสลับอัตโนมัติก่อน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ที่แยกเซนเซอร์เป็นคอลัมน์ละดวง เพราะถ้ายุบเป็น 00100 ช่องเดียว Excel จะอ่านเป็นตัวเลขแล้วตัดศูนย์หน้าทิ้งจนเหลือ 100
เอาคอลัมน์ Turn ไปพล็อตกราฟเทียบกับเวลา จะเห็นเลยว่าหุ่นออกแรงสู้ตรงไหนของสนามมากที่สุด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ปรับทีละค่า แล้วลองวิ่งจริงทุกครั้ง อย่าปรับพร้อมกันหลายค่า เพราะจะแยกไม่ออกว่าอันไหนช่วย
ค่า Kp กับ Kd ถูกเก็บลง CSV ทุกแถว เปิดไฟล์เก่ามาดูแล้วรู้ทันทีว่ารอบนั้นจูนด้วยค่าอะไร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การกวาดหาเส้นตั้งใจให้ช้ากว่าการเลี้ยวปกติ ถ้าหมุนเร็วเกิน เส้นจะวิ่งผ่านใต้แถวเซนเซอร์เร็วกว่าที่เซนเซอร์จะอ่านทัน แล้วหุ่นจะเลยจุดที่ข้ามเส้นไปแล้วโดยไม่รู้ตัว
ทิศที่กวาดรอบแรกถูกเลือกครั้งเดียวตอนเริ่มหา ไม่คำนวณใหม่ระหว่างทาง ไม่งั้นจะกวาดไปทางเดิมซ้ำๆ แล้วเดินห่างจากเส้นออกไปเรื่อยๆ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หน้านี้คือหน้าที่คนใหม่จะเปิดดูบ่อยที่สุด บอกให้เขาถ่ายรูปเก็บไว้ในมือถือได้เลย
ทุกข้อในตารางนี้เคยเกิดขึ้นจริงมาแล้วทั้งหมด ไม่ใช่กรณีสมมติ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แนะนำให้พิมพ์หน้านี้แปะไว้ข้างสนามทดสอบ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ปิดท้ายด้วยการเปิด README.md ให้ดูจริงสักรอบ จะได้รู้ว่าเวลาติดปัญหาต้องไปเปิดที่ไหน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11064240" cy="365760"/>
          </a:xfrm>
          <a:prstGeom prst="rect">
            <a:avLst/>
          </a:prstGeom>
          <a:noFill/>
          <a:ln/>
        </p:spPr>
        <p:txBody>
          <a:bodyPr wrap="square" rtlCol="0"/>
          <a:lstStyle>
            <a:lvl1pPr algn="l" indent="0" marL="0">
              <a:buNone/>
              <a:defRPr lang="en-US" sz="1500" b="1" dirty="0">
                <a:solidFill>
                  <a:srgbClr val="E8803A"/>
                </a:solidFill>
              </a:defRPr>
            </a:lvl1pPr>
          </a:lstStyle>
          <a:p>
            <a:pPr algn="l" indent="0" marL="0">
              <a:buNone/>
            </a:pPr>
            <a:endParaRPr lang="en-US" sz="1500" dirty="0"/>
          </a:p>
        </p:txBody>
      </p:sp>
      <p:sp>
        <p:nvSpPr>
          <p:cNvPr id="3" name="Text 0"/>
          <p:cNvSpPr/>
          <p:nvPr>
            <p:ph idx="101" type="title" hasCustomPrompt="1"/>
          </p:nvPr>
        </p:nvSpPr>
        <p:spPr>
          <a:xfrm>
            <a:off x="548640" y="2286000"/>
            <a:ext cx="11064240" cy="137160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4" name="Text 0"/>
          <p:cNvSpPr/>
          <p:nvPr>
            <p:ph idx="102" type="body" hasCustomPrompt="1"/>
          </p:nvPr>
        </p:nvSpPr>
        <p:spPr>
          <a:xfrm>
            <a:off x="548640" y="3749040"/>
            <a:ext cx="9509760" cy="1371600"/>
          </a:xfrm>
          <a:prstGeom prst="rect">
            <a:avLst/>
          </a:prstGeom>
          <a:noFill/>
          <a:ln/>
        </p:spPr>
        <p:txBody>
          <a:bodyPr wrap="square" rtlCol="0"/>
          <a:lstStyle>
            <a:lvl1pPr algn="l" indent="0" marL="0">
              <a:buNone/>
              <a:defRPr lang="en-US" sz="1800" dirty="0">
                <a:solidFill>
                  <a:srgbClr val="B9C6D4"/>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377440"/>
            <a:ext cx="11064240" cy="457200"/>
          </a:xfrm>
          <a:prstGeom prst="rect">
            <a:avLst/>
          </a:prstGeom>
          <a:noFill/>
          <a:ln/>
        </p:spPr>
        <p:txBody>
          <a:bodyPr wrap="square" rtlCol="0"/>
          <a:lstStyle>
            <a:lvl1pPr algn="l" indent="0" marL="0">
              <a:buNone/>
              <a:defRPr lang="en-US" sz="6000" b="1" dirty="0">
                <a:solidFill>
                  <a:srgbClr val="E8803A"/>
                </a:solidFill>
              </a:defRPr>
            </a:lvl1pPr>
          </a:lstStyle>
          <a:p>
            <a:pPr algn="l" indent="0" marL="0">
              <a:buNone/>
            </a:pPr>
            <a:endParaRPr lang="en-US" sz="6000" dirty="0"/>
          </a:p>
        </p:txBody>
      </p:sp>
      <p:sp>
        <p:nvSpPr>
          <p:cNvPr id="3" name="Text 0"/>
          <p:cNvSpPr/>
          <p:nvPr>
            <p:ph idx="101" type="title" hasCustomPrompt="1"/>
          </p:nvPr>
        </p:nvSpPr>
        <p:spPr>
          <a:xfrm>
            <a:off x="548640" y="3200400"/>
            <a:ext cx="11064240" cy="9144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548640" y="4206240"/>
            <a:ext cx="8686800" cy="914400"/>
          </a:xfrm>
          <a:prstGeom prst="rect">
            <a:avLst/>
          </a:prstGeom>
          <a:noFill/>
          <a:ln/>
        </p:spPr>
        <p:txBody>
          <a:bodyPr wrap="square" rtlCol="0"/>
          <a:lstStyle>
            <a:lvl1pPr algn="l" indent="0" marL="0">
              <a:buNone/>
              <a:defRPr lang="en-US" sz="1600" dirty="0">
                <a:solidFill>
                  <a:srgbClr val="B9C6D4"/>
                </a:solidFill>
              </a:defRPr>
            </a:lvl1pPr>
          </a:lstStyle>
          <a:p>
            <a:pPr algn="l" indent="0" marL="0">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68580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txBox="1"/>
          <p:nvPr/>
        </p:nvSpPr>
        <p:spPr>
          <a:xfrm>
            <a:off x="548640" y="6263640"/>
            <a:ext cx="7315200" cy="274320"/>
          </a:xfrm>
          <a:prstGeom prst="rect">
            <a:avLst/>
          </a:prstGeom>
          <a:noFill/>
          <a:ln/>
        </p:spPr>
        <p:txBody>
          <a:bodyPr wrap="square" lIns="0" tIns="0" rIns="0" bIns="0" rtlCol="0" anchor="ctr"/>
          <a:lstStyle/>
          <a:p>
            <a:pPr algn="l" indent="0" marL="0">
              <a:buNone/>
            </a:pPr>
            <a:r>
              <a:rPr lang="en-US" sz="1000" dirty="0">
                <a:solidFill>
                  <a:srgbClr val="6B7E93"/>
                </a:solidFill>
              </a:rPr>
              <a:t>Tiny Robot · คู่มือติดตั้งและเริ่มใช้งาน</a:t>
            </a:r>
            <a:endParaRPr lang="en-US" sz="1000" dirty="0"/>
          </a:p>
        </p:txBody>
      </p:sp>
      <p:sp>
        <p:nvSpPr>
          <p:cNvPr id="25" name="Slide Number Placeholder 0"/>
          <p:cNvSpPr>
            <a:spLocks noGrp="1"/>
          </p:cNvSpPr>
          <p:nvPr>
            <p:ph type="sldNum" sz="quarter" idx="4294967295"/>
          </p:nvPr>
        </p:nvSpPr>
        <p:spPr>
          <a:xfrm>
            <a:off x="11338560" y="62636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E9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2636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E9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11064240" cy="365760"/>
          </a:xfrm>
          <a:prstGeom prst="rect">
            <a:avLst/>
          </a:prstGeom>
          <a:noFill/>
          <a:ln/>
        </p:spPr>
        <p:txBody>
          <a:bodyPr wrap="square" rtlCol="0"/>
          <a:lstStyle/>
          <a:p>
            <a:pPr algn="l" indent="0" marL="0">
              <a:buNone/>
            </a:pPr>
            <a:r>
              <a:rPr lang="en-US" sz="1500" b="1" dirty="0">
                <a:solidFill>
                  <a:srgbClr val="E8803A"/>
                </a:solidFill>
              </a:rPr>
              <a:t>คู่มือสำหรับผู้ใช้งานใหม่</a:t>
            </a:r>
            <a:endParaRPr lang="en-US" sz="1500" dirty="0"/>
          </a:p>
        </p:txBody>
      </p:sp>
      <p:sp>
        <p:nvSpPr>
          <p:cNvPr id="3" name="Text 0"/>
          <p:cNvSpPr/>
          <p:nvPr>
            <p:ph idx="101" type="title" hasCustomPrompt="1"/>
          </p:nvPr>
        </p:nvSpPr>
        <p:spPr>
          <a:xfrm>
            <a:off x="548640" y="2286000"/>
            <a:ext cx="11064240" cy="1371600"/>
          </a:xfrm>
          <a:prstGeom prst="rect">
            <a:avLst/>
          </a:prstGeom>
          <a:noFill/>
          <a:ln/>
        </p:spPr>
        <p:txBody>
          <a:bodyPr wrap="square" rtlCol="0"/>
          <a:lstStyle/>
          <a:p>
            <a:pPr algn="l" indent="0" marL="0">
              <a:buNone/>
            </a:pPr>
            <a:r>
              <a:rPr lang="en-US" sz="5400" b="1" dirty="0">
                <a:solidFill>
                  <a:schemeClr val="bg1"/>
                </a:solidFill>
              </a:rPr>
              <a:t>Tiny Robot</a:t>
            </a:r>
            <a:endParaRPr lang="en-US" sz="5400" dirty="0"/>
          </a:p>
        </p:txBody>
      </p:sp>
      <p:sp>
        <p:nvSpPr>
          <p:cNvPr id="4" name="Text 0"/>
          <p:cNvSpPr/>
          <p:nvPr>
            <p:ph idx="102" type="body" hasCustomPrompt="1"/>
          </p:nvPr>
        </p:nvSpPr>
        <p:spPr>
          <a:xfrm>
            <a:off x="548640" y="3749040"/>
            <a:ext cx="9509760" cy="1371600"/>
          </a:xfrm>
          <a:prstGeom prst="rect">
            <a:avLst/>
          </a:prstGeom>
          <a:noFill/>
          <a:ln/>
        </p:spPr>
        <p:txBody>
          <a:bodyPr wrap="square" rtlCol="0"/>
          <a:lstStyle/>
          <a:p>
            <a:pPr algn="l" indent="0" marL="0">
              <a:buNone/>
            </a:pPr>
            <a:r>
              <a:rPr lang="en-US" sz="1800" dirty="0">
                <a:solidFill>
                  <a:srgbClr val="B9C6D4"/>
                </a:solidFill>
              </a:rPr>
              <a:t>หุ่นสองล้อเดินตามเส้นดำ อ่าน QR แล้วหยุด และสั่งงานผ่านมือถือได้   ติดตั้งตั้งแต่ศูนย์จนวิ่งได้จริง</a:t>
            </a:r>
            <a:endParaRPr lang="en-US" sz="1800" dirty="0"/>
          </a:p>
        </p:txBody>
      </p:sp>
      <p:sp>
        <p:nvSpPr>
          <p:cNvPr id="5" name="Text 3"/>
          <p:cNvSpPr txBox="1"/>
          <p:nvPr/>
        </p:nvSpPr>
        <p:spPr>
          <a:xfrm>
            <a:off x="548640" y="5760720"/>
            <a:ext cx="11064240" cy="365760"/>
          </a:xfrm>
          <a:prstGeom prst="rect">
            <a:avLst/>
          </a:prstGeom>
          <a:noFill/>
          <a:ln/>
        </p:spPr>
        <p:txBody>
          <a:bodyPr wrap="square" lIns="0" tIns="0" rIns="0" bIns="0" rtlCol="0" anchor="ctr"/>
          <a:lstStyle/>
          <a:p>
            <a:pPr algn="l" indent="0" marL="0">
              <a:buNone/>
            </a:pPr>
            <a:r>
              <a:rPr lang="en-US" sz="1300" dirty="0">
                <a:solidFill>
                  <a:srgbClr val="6B7E93"/>
                </a:solidFill>
              </a:rPr>
              <a:t>STM32 Blue Pill  ·  ESP32  ·  ESP32-CAM  ·  Python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685800"/>
          </a:xfrm>
          <a:prstGeom prst="rect">
            <a:avLst/>
          </a:prstGeom>
          <a:noFill/>
          <a:ln/>
        </p:spPr>
        <p:txBody>
          <a:bodyPr wrap="square" rtlCol="0"/>
          <a:lstStyle/>
          <a:p>
            <a:pPr algn="l" indent="0" marL="0">
              <a:buNone/>
            </a:pPr>
            <a:r>
              <a:rPr lang="en-US" sz="3200" b="1" dirty="0">
                <a:solidFill>
                  <a:schemeClr val="tx1"/>
                </a:solidFill>
              </a:rPr>
              <a:t>หุ่นตัวนี้ทำอะไรได้</a:t>
            </a:r>
            <a:endParaRPr lang="en-US" sz="3200" dirty="0"/>
          </a:p>
        </p:txBody>
      </p:sp>
      <p:sp>
        <p:nvSpPr>
          <p:cNvPr id="3" name="card-เดินตามเส้นดำ"/>
          <p:cNvSpPr/>
          <p:nvPr/>
        </p:nvSpPr>
        <p:spPr>
          <a:xfrm>
            <a:off x="548640" y="1600200"/>
            <a:ext cx="3444240" cy="1481328"/>
          </a:xfrm>
          <a:prstGeom prst="roundRect">
            <a:avLst>
              <a:gd name="adj" fmla="val 6173"/>
            </a:avLst>
          </a:prstGeom>
          <a:solidFill>
            <a:schemeClr val="bg2"/>
          </a:solidFill>
          <a:ln w="12700">
            <a:solidFill>
              <a:srgbClr val="D9E0E8"/>
            </a:solidFill>
            <a:prstDash val="solid"/>
          </a:ln>
        </p:spPr>
      </p:sp>
      <p:sp>
        <p:nvSpPr>
          <p:cNvPr id="4" name="Text 2"/>
          <p:cNvSpPr txBox="1"/>
          <p:nvPr/>
        </p:nvSpPr>
        <p:spPr>
          <a:xfrm>
            <a:off x="804672" y="1783080"/>
            <a:ext cx="2932176" cy="365760"/>
          </a:xfrm>
          <a:prstGeom prst="rect">
            <a:avLst/>
          </a:prstGeom>
          <a:noFill/>
          <a:ln/>
        </p:spPr>
        <p:txBody>
          <a:bodyPr wrap="square" lIns="0" tIns="0" rIns="0" bIns="0" rtlCol="0" anchor="t"/>
          <a:lstStyle/>
          <a:p>
            <a:pPr algn="l" indent="0" marL="0">
              <a:buNone/>
            </a:pPr>
            <a:r>
              <a:rPr lang="en-US" sz="1600" b="1" dirty="0">
                <a:solidFill>
                  <a:srgbClr val="E8803A"/>
                </a:solidFill>
              </a:rPr>
              <a:t>เดินตามเส้นดำ</a:t>
            </a:r>
            <a:endParaRPr lang="en-US" sz="1600" dirty="0"/>
          </a:p>
        </p:txBody>
      </p:sp>
      <p:sp>
        <p:nvSpPr>
          <p:cNvPr id="5" name="Text 3"/>
          <p:cNvSpPr txBox="1"/>
          <p:nvPr/>
        </p:nvSpPr>
        <p:spPr>
          <a:xfrm>
            <a:off x="804672" y="2258568"/>
            <a:ext cx="2932176" cy="612648"/>
          </a:xfrm>
          <a:prstGeom prst="rect">
            <a:avLst/>
          </a:prstGeom>
          <a:noFill/>
          <a:ln/>
        </p:spPr>
        <p:txBody>
          <a:bodyPr wrap="square" lIns="0" tIns="0" rIns="0" bIns="0" rtlCol="0" anchor="t"/>
          <a:lstStyle/>
          <a:p>
            <a:pPr algn="l" indent="0" marL="0">
              <a:lnSpc>
                <a:spcPct val="125000"/>
              </a:lnSpc>
              <a:buNone/>
            </a:pPr>
            <a:r>
              <a:rPr lang="en-US" sz="1300" dirty="0">
                <a:solidFill>
                  <a:srgbClr val="4A5568"/>
                </a:solidFill>
              </a:rPr>
              <a:t>เซนเซอร์ 5 ดวง คุมด้วย PD เข้าโค้งได้ และเบรกเองเมื่อถึงเส้นชัย</a:t>
            </a:r>
            <a:endParaRPr lang="en-US" sz="1300" dirty="0"/>
          </a:p>
        </p:txBody>
      </p:sp>
      <p:sp>
        <p:nvSpPr>
          <p:cNvPr id="6" name="card-รับคำสั่งจากมื"/>
          <p:cNvSpPr/>
          <p:nvPr/>
        </p:nvSpPr>
        <p:spPr>
          <a:xfrm>
            <a:off x="4358640" y="1600200"/>
            <a:ext cx="3444240" cy="1481328"/>
          </a:xfrm>
          <a:prstGeom prst="roundRect">
            <a:avLst>
              <a:gd name="adj" fmla="val 6173"/>
            </a:avLst>
          </a:prstGeom>
          <a:solidFill>
            <a:schemeClr val="bg2"/>
          </a:solidFill>
          <a:ln w="12700">
            <a:solidFill>
              <a:srgbClr val="D9E0E8"/>
            </a:solidFill>
            <a:prstDash val="solid"/>
          </a:ln>
        </p:spPr>
      </p:sp>
      <p:sp>
        <p:nvSpPr>
          <p:cNvPr id="7" name="Text 5"/>
          <p:cNvSpPr txBox="1"/>
          <p:nvPr/>
        </p:nvSpPr>
        <p:spPr>
          <a:xfrm>
            <a:off x="4614672" y="1783080"/>
            <a:ext cx="2932176" cy="365760"/>
          </a:xfrm>
          <a:prstGeom prst="rect">
            <a:avLst/>
          </a:prstGeom>
          <a:noFill/>
          <a:ln/>
        </p:spPr>
        <p:txBody>
          <a:bodyPr wrap="square" lIns="0" tIns="0" rIns="0" bIns="0" rtlCol="0" anchor="t"/>
          <a:lstStyle/>
          <a:p>
            <a:pPr algn="l" indent="0" marL="0">
              <a:buNone/>
            </a:pPr>
            <a:r>
              <a:rPr lang="en-US" sz="1600" b="1" dirty="0">
                <a:solidFill>
                  <a:srgbClr val="E8803A"/>
                </a:solidFill>
              </a:rPr>
              <a:t>รับคำสั่งจากมือถือ</a:t>
            </a:r>
            <a:endParaRPr lang="en-US" sz="1600" dirty="0"/>
          </a:p>
        </p:txBody>
      </p:sp>
      <p:sp>
        <p:nvSpPr>
          <p:cNvPr id="8" name="Text 6"/>
          <p:cNvSpPr txBox="1"/>
          <p:nvPr/>
        </p:nvSpPr>
        <p:spPr>
          <a:xfrm>
            <a:off x="4614672" y="2258568"/>
            <a:ext cx="2932176" cy="612648"/>
          </a:xfrm>
          <a:prstGeom prst="rect">
            <a:avLst/>
          </a:prstGeom>
          <a:noFill/>
          <a:ln/>
        </p:spPr>
        <p:txBody>
          <a:bodyPr wrap="square" lIns="0" tIns="0" rIns="0" bIns="0" rtlCol="0" anchor="t"/>
          <a:lstStyle/>
          <a:p>
            <a:pPr algn="l" indent="0" marL="0">
              <a:lnSpc>
                <a:spcPct val="125000"/>
              </a:lnSpc>
              <a:buNone/>
            </a:pPr>
            <a:r>
              <a:rPr lang="en-US" sz="1300" dirty="0">
                <a:solidFill>
                  <a:srgbClr val="4A5568"/>
                </a:solidFill>
              </a:rPr>
              <a:t>เดินหน้า ถอยหลัง เลี้ยว หยุด พร้อมแถบเลื่อนความเร็วและโหมด Auto</a:t>
            </a:r>
            <a:endParaRPr lang="en-US" sz="1300" dirty="0"/>
          </a:p>
        </p:txBody>
      </p:sp>
      <p:sp>
        <p:nvSpPr>
          <p:cNvPr id="9" name="card-มองเห็น"/>
          <p:cNvSpPr/>
          <p:nvPr/>
        </p:nvSpPr>
        <p:spPr>
          <a:xfrm>
            <a:off x="8168640" y="1600200"/>
            <a:ext cx="3444240" cy="1481328"/>
          </a:xfrm>
          <a:prstGeom prst="roundRect">
            <a:avLst>
              <a:gd name="adj" fmla="val 6173"/>
            </a:avLst>
          </a:prstGeom>
          <a:solidFill>
            <a:schemeClr val="bg2"/>
          </a:solidFill>
          <a:ln w="12700">
            <a:solidFill>
              <a:srgbClr val="D9E0E8"/>
            </a:solidFill>
            <a:prstDash val="solid"/>
          </a:ln>
        </p:spPr>
      </p:sp>
      <p:sp>
        <p:nvSpPr>
          <p:cNvPr id="10" name="Text 8"/>
          <p:cNvSpPr txBox="1"/>
          <p:nvPr/>
        </p:nvSpPr>
        <p:spPr>
          <a:xfrm>
            <a:off x="8424672" y="1783080"/>
            <a:ext cx="2932176" cy="365760"/>
          </a:xfrm>
          <a:prstGeom prst="rect">
            <a:avLst/>
          </a:prstGeom>
          <a:noFill/>
          <a:ln/>
        </p:spPr>
        <p:txBody>
          <a:bodyPr wrap="square" lIns="0" tIns="0" rIns="0" bIns="0" rtlCol="0" anchor="t"/>
          <a:lstStyle/>
          <a:p>
            <a:pPr algn="l" indent="0" marL="0">
              <a:buNone/>
            </a:pPr>
            <a:r>
              <a:rPr lang="en-US" sz="1600" b="1" dirty="0">
                <a:solidFill>
                  <a:srgbClr val="E8803A"/>
                </a:solidFill>
              </a:rPr>
              <a:t>มองเห็น</a:t>
            </a:r>
            <a:endParaRPr lang="en-US" sz="1600" dirty="0"/>
          </a:p>
        </p:txBody>
      </p:sp>
      <p:sp>
        <p:nvSpPr>
          <p:cNvPr id="11" name="Text 9"/>
          <p:cNvSpPr txBox="1"/>
          <p:nvPr/>
        </p:nvSpPr>
        <p:spPr>
          <a:xfrm>
            <a:off x="8424672" y="2258568"/>
            <a:ext cx="2932176" cy="612648"/>
          </a:xfrm>
          <a:prstGeom prst="rect">
            <a:avLst/>
          </a:prstGeom>
          <a:noFill/>
          <a:ln/>
        </p:spPr>
        <p:txBody>
          <a:bodyPr wrap="square" lIns="0" tIns="0" rIns="0" bIns="0" rtlCol="0" anchor="t"/>
          <a:lstStyle/>
          <a:p>
            <a:pPr algn="l" indent="0" marL="0">
              <a:lnSpc>
                <a:spcPct val="125000"/>
              </a:lnSpc>
              <a:buNone/>
            </a:pPr>
            <a:r>
              <a:rPr lang="en-US" sz="1300" dirty="0">
                <a:solidFill>
                  <a:srgbClr val="4A5568"/>
                </a:solidFill>
              </a:rPr>
              <a:t>ESP32-CAM ส่งภาพสดเข้าหน้าเว็บ และส่งให้เครื่อง PC อ่าน QR</a:t>
            </a:r>
            <a:endParaRPr lang="en-US" sz="1300" dirty="0"/>
          </a:p>
        </p:txBody>
      </p:sp>
      <p:sp>
        <p:nvSpPr>
          <p:cNvPr id="12" name="card-อ่าน QR ได้ 5 "/>
          <p:cNvSpPr/>
          <p:nvPr/>
        </p:nvSpPr>
        <p:spPr>
          <a:xfrm>
            <a:off x="548640" y="3374136"/>
            <a:ext cx="3444240" cy="1481328"/>
          </a:xfrm>
          <a:prstGeom prst="roundRect">
            <a:avLst>
              <a:gd name="adj" fmla="val 6173"/>
            </a:avLst>
          </a:prstGeom>
          <a:solidFill>
            <a:schemeClr val="bg2"/>
          </a:solidFill>
          <a:ln w="12700">
            <a:solidFill>
              <a:srgbClr val="D9E0E8"/>
            </a:solidFill>
            <a:prstDash val="solid"/>
          </a:ln>
        </p:spPr>
      </p:sp>
      <p:sp>
        <p:nvSpPr>
          <p:cNvPr id="13" name="Text 11"/>
          <p:cNvSpPr txBox="1"/>
          <p:nvPr/>
        </p:nvSpPr>
        <p:spPr>
          <a:xfrm>
            <a:off x="804672" y="3557016"/>
            <a:ext cx="2932176" cy="365760"/>
          </a:xfrm>
          <a:prstGeom prst="rect">
            <a:avLst/>
          </a:prstGeom>
          <a:noFill/>
          <a:ln/>
        </p:spPr>
        <p:txBody>
          <a:bodyPr wrap="square" lIns="0" tIns="0" rIns="0" bIns="0" rtlCol="0" anchor="t"/>
          <a:lstStyle/>
          <a:p>
            <a:pPr algn="l" indent="0" marL="0">
              <a:buNone/>
            </a:pPr>
            <a:r>
              <a:rPr lang="en-US" sz="1600" b="1" dirty="0">
                <a:solidFill>
                  <a:srgbClr val="1C7293"/>
                </a:solidFill>
              </a:rPr>
              <a:t>อ่าน QR ได้ 5 คำ</a:t>
            </a:r>
            <a:endParaRPr lang="en-US" sz="1600" dirty="0"/>
          </a:p>
        </p:txBody>
      </p:sp>
      <p:sp>
        <p:nvSpPr>
          <p:cNvPr id="14" name="Text 12"/>
          <p:cNvSpPr txBox="1"/>
          <p:nvPr/>
        </p:nvSpPr>
        <p:spPr>
          <a:xfrm>
            <a:off x="804672" y="4032504"/>
            <a:ext cx="2932176" cy="612648"/>
          </a:xfrm>
          <a:prstGeom prst="rect">
            <a:avLst/>
          </a:prstGeom>
          <a:noFill/>
          <a:ln/>
        </p:spPr>
        <p:txBody>
          <a:bodyPr wrap="square" lIns="0" tIns="0" rIns="0" bIns="0" rtlCol="0" anchor="t"/>
          <a:lstStyle/>
          <a:p>
            <a:pPr algn="l" indent="0" marL="0">
              <a:lnSpc>
                <a:spcPct val="125000"/>
              </a:lnSpc>
              <a:buNone/>
            </a:pPr>
            <a:r>
              <a:rPr lang="en-US" sz="1300" dirty="0">
                <a:solidFill>
                  <a:srgbClr val="4A5568"/>
                </a:solidFill>
              </a:rPr>
              <a:t>DOG  CAT  BIRD  LION  TIGER ถอดรหัสที่เครื่อง PC แล้วส่งกลับมา</a:t>
            </a:r>
            <a:endParaRPr lang="en-US" sz="1300" dirty="0"/>
          </a:p>
        </p:txBody>
      </p:sp>
      <p:sp>
        <p:nvSpPr>
          <p:cNvPr id="15" name="card-ตอบสนอง"/>
          <p:cNvSpPr/>
          <p:nvPr/>
        </p:nvSpPr>
        <p:spPr>
          <a:xfrm>
            <a:off x="4358640" y="3374136"/>
            <a:ext cx="3444240" cy="1481328"/>
          </a:xfrm>
          <a:prstGeom prst="roundRect">
            <a:avLst>
              <a:gd name="adj" fmla="val 6173"/>
            </a:avLst>
          </a:prstGeom>
          <a:solidFill>
            <a:schemeClr val="bg2"/>
          </a:solidFill>
          <a:ln w="12700">
            <a:solidFill>
              <a:srgbClr val="D9E0E8"/>
            </a:solidFill>
            <a:prstDash val="solid"/>
          </a:ln>
        </p:spPr>
      </p:sp>
      <p:sp>
        <p:nvSpPr>
          <p:cNvPr id="16" name="Text 14"/>
          <p:cNvSpPr txBox="1"/>
          <p:nvPr/>
        </p:nvSpPr>
        <p:spPr>
          <a:xfrm>
            <a:off x="4614672" y="3557016"/>
            <a:ext cx="2932176" cy="365760"/>
          </a:xfrm>
          <a:prstGeom prst="rect">
            <a:avLst/>
          </a:prstGeom>
          <a:noFill/>
          <a:ln/>
        </p:spPr>
        <p:txBody>
          <a:bodyPr wrap="square" lIns="0" tIns="0" rIns="0" bIns="0" rtlCol="0" anchor="t"/>
          <a:lstStyle/>
          <a:p>
            <a:pPr algn="l" indent="0" marL="0">
              <a:buNone/>
            </a:pPr>
            <a:r>
              <a:rPr lang="en-US" sz="1600" b="1" dirty="0">
                <a:solidFill>
                  <a:srgbClr val="1C7293"/>
                </a:solidFill>
              </a:rPr>
              <a:t>ตอบสนอง</a:t>
            </a:r>
            <a:endParaRPr lang="en-US" sz="1600" dirty="0"/>
          </a:p>
        </p:txBody>
      </p:sp>
      <p:sp>
        <p:nvSpPr>
          <p:cNvPr id="17" name="Text 15"/>
          <p:cNvSpPr txBox="1"/>
          <p:nvPr/>
        </p:nvSpPr>
        <p:spPr>
          <a:xfrm>
            <a:off x="4614672" y="4032504"/>
            <a:ext cx="2932176" cy="612648"/>
          </a:xfrm>
          <a:prstGeom prst="rect">
            <a:avLst/>
          </a:prstGeom>
          <a:noFill/>
          <a:ln/>
        </p:spPr>
        <p:txBody>
          <a:bodyPr wrap="square" lIns="0" tIns="0" rIns="0" bIns="0" rtlCol="0" anchor="t"/>
          <a:lstStyle/>
          <a:p>
            <a:pPr algn="l" indent="0" marL="0">
              <a:lnSpc>
                <a:spcPct val="125000"/>
              </a:lnSpc>
              <a:buNone/>
            </a:pPr>
            <a:r>
              <a:rPr lang="en-US" sz="1300" dirty="0">
                <a:solidFill>
                  <a:srgbClr val="4A5568"/>
                </a:solidFill>
              </a:rPr>
              <a:t>เจอรหัสแล้วหยุด 5 วินาที พร้อมวาดรูปสัตว์ตัวนั้นขึ้นจอ OLED</a:t>
            </a:r>
            <a:endParaRPr lang="en-US" sz="1300" dirty="0"/>
          </a:p>
        </p:txBody>
      </p:sp>
      <p:sp>
        <p:nvSpPr>
          <p:cNvPr id="18" name="card-เก็บข้อมูลให้ด"/>
          <p:cNvSpPr/>
          <p:nvPr/>
        </p:nvSpPr>
        <p:spPr>
          <a:xfrm>
            <a:off x="8168640" y="3374136"/>
            <a:ext cx="3444240" cy="1481328"/>
          </a:xfrm>
          <a:prstGeom prst="roundRect">
            <a:avLst>
              <a:gd name="adj" fmla="val 6173"/>
            </a:avLst>
          </a:prstGeom>
          <a:solidFill>
            <a:schemeClr val="tx1"/>
          </a:solidFill>
          <a:ln w="12700">
            <a:solidFill>
              <a:schemeClr val="tx1"/>
            </a:solidFill>
            <a:prstDash val="solid"/>
          </a:ln>
        </p:spPr>
      </p:sp>
      <p:sp>
        <p:nvSpPr>
          <p:cNvPr id="19" name="Text 17"/>
          <p:cNvSpPr txBox="1"/>
          <p:nvPr/>
        </p:nvSpPr>
        <p:spPr>
          <a:xfrm>
            <a:off x="8424672" y="3557016"/>
            <a:ext cx="2932176" cy="365760"/>
          </a:xfrm>
          <a:prstGeom prst="rect">
            <a:avLst/>
          </a:prstGeom>
          <a:noFill/>
          <a:ln/>
        </p:spPr>
        <p:txBody>
          <a:bodyPr wrap="square" lIns="0" tIns="0" rIns="0" bIns="0" rtlCol="0" anchor="t"/>
          <a:lstStyle/>
          <a:p>
            <a:pPr algn="l" indent="0" marL="0">
              <a:buNone/>
            </a:pPr>
            <a:r>
              <a:rPr lang="en-US" sz="1600" b="1" dirty="0">
                <a:solidFill>
                  <a:srgbClr val="E8803A"/>
                </a:solidFill>
              </a:rPr>
              <a:t>เก็บข้อมูลให้ด้วย</a:t>
            </a:r>
            <a:endParaRPr lang="en-US" sz="1600" dirty="0"/>
          </a:p>
        </p:txBody>
      </p:sp>
      <p:sp>
        <p:nvSpPr>
          <p:cNvPr id="20" name="Text 18"/>
          <p:cNvSpPr txBox="1"/>
          <p:nvPr/>
        </p:nvSpPr>
        <p:spPr>
          <a:xfrm>
            <a:off x="8424672" y="4032504"/>
            <a:ext cx="2932176" cy="612648"/>
          </a:xfrm>
          <a:prstGeom prst="rect">
            <a:avLst/>
          </a:prstGeom>
          <a:noFill/>
          <a:ln/>
        </p:spPr>
        <p:txBody>
          <a:bodyPr wrap="square" lIns="0" tIns="0" rIns="0" bIns="0" rtlCol="0" anchor="t"/>
          <a:lstStyle/>
          <a:p>
            <a:pPr algn="l" indent="0" marL="0">
              <a:lnSpc>
                <a:spcPct val="125000"/>
              </a:lnSpc>
              <a:buNone/>
            </a:pPr>
            <a:r>
              <a:rPr lang="en-US" sz="1300" dirty="0">
                <a:solidFill>
                  <a:srgbClr val="B9C6D4"/>
                </a:solidFill>
              </a:rPr>
              <a:t>บันทึกความเร็วและการเลี้ยวทุกวินาที ลงไฟล์ CSV เปิดใน Excel ได้ทันที</a:t>
            </a:r>
            <a:endParaRPr lang="en-US" sz="1300" dirty="0"/>
          </a:p>
        </p:txBody>
      </p:sp>
      <p:sp>
        <p:nvSpPr>
          <p:cNvPr id="21" name="callout"/>
          <p:cNvSpPr/>
          <p:nvPr/>
        </p:nvSpPr>
        <p:spPr>
          <a:xfrm>
            <a:off x="548640" y="5074920"/>
            <a:ext cx="11064240" cy="1005840"/>
          </a:xfrm>
          <a:prstGeom prst="roundRect">
            <a:avLst>
              <a:gd name="adj" fmla="val 7273"/>
            </a:avLst>
          </a:prstGeom>
          <a:solidFill>
            <a:srgbClr val="E8F1F5"/>
          </a:solidFill>
          <a:ln w="12700">
            <a:solidFill>
              <a:srgbClr val="CBE0E9"/>
            </a:solidFill>
            <a:prstDash val="solid"/>
          </a:ln>
        </p:spPr>
      </p:sp>
      <p:sp>
        <p:nvSpPr>
          <p:cNvPr id="22" name="Text 20"/>
          <p:cNvSpPr txBox="1"/>
          <p:nvPr/>
        </p:nvSpPr>
        <p:spPr>
          <a:xfrm>
            <a:off x="777240" y="5202936"/>
            <a:ext cx="10607040" cy="274320"/>
          </a:xfrm>
          <a:prstGeom prst="rect">
            <a:avLst/>
          </a:prstGeom>
          <a:noFill/>
          <a:ln/>
        </p:spPr>
        <p:txBody>
          <a:bodyPr wrap="square" lIns="0" tIns="0" rIns="0" bIns="0" rtlCol="0" anchor="t"/>
          <a:lstStyle/>
          <a:p>
            <a:pPr algn="l" indent="0" marL="0">
              <a:buNone/>
            </a:pPr>
            <a:r>
              <a:rPr lang="en-US" sz="1400" b="1" dirty="0">
                <a:solidFill>
                  <a:srgbClr val="1C7293"/>
                </a:solidFill>
              </a:rPr>
              <a:t>ไม่ต้องพึ่งอินเทอร์เน็ตของที่ไหนเลย</a:t>
            </a:r>
            <a:endParaRPr lang="en-US" sz="1400" dirty="0"/>
          </a:p>
        </p:txBody>
      </p:sp>
      <p:sp>
        <p:nvSpPr>
          <p:cNvPr id="23" name="Text 21"/>
          <p:cNvSpPr txBox="1"/>
          <p:nvPr/>
        </p:nvSpPr>
        <p:spPr>
          <a:xfrm>
            <a:off x="777240" y="5513832"/>
            <a:ext cx="10607040" cy="438912"/>
          </a:xfrm>
          <a:prstGeom prst="rect">
            <a:avLst/>
          </a:prstGeom>
          <a:noFill/>
          <a:ln/>
        </p:spPr>
        <p:txBody>
          <a:bodyPr wrap="square" lIns="0" tIns="0" rIns="0" bIns="0" rtlCol="0" anchor="t"/>
          <a:lstStyle/>
          <a:p>
            <a:pPr algn="l" indent="0" marL="0">
              <a:lnSpc>
                <a:spcPct val="120000"/>
              </a:lnSpc>
              <a:buNone/>
            </a:pPr>
            <a:r>
              <a:rPr lang="en-US" sz="1250" dirty="0">
                <a:solidFill>
                  <a:srgbClr val="4A5568"/>
                </a:solidFill>
              </a:rPr>
              <a:t>ESP32 บนตัวหุ่นปล่อย Wi-Fi ของมันเองชื่อ My_Robot2  มือถือกับคอมต่อเข้าวงนี้ตรงๆ</a:t>
            </a:r>
            <a:endParaRPr lang="en-US" sz="1250" dirty="0"/>
          </a:p>
          <a:p>
            <a:pPr algn="l" indent="0" marL="0">
              <a:lnSpc>
                <a:spcPct val="120000"/>
              </a:lnSpc>
              <a:buNone/>
            </a:pPr>
            <a:r>
              <a:rPr lang="en-US" sz="1250" dirty="0">
                <a:solidFill>
                  <a:srgbClr val="4A5568"/>
                </a:solidFill>
              </a:rPr>
              <a:t>เอาไปสาธิตที่ไหนก็ได้ ไม่ต้องขอรหัส Wi-Fi ของสถานที่ และไม่มีปัญหาเน็ตช้า</a:t>
            </a:r>
            <a:endParaRPr lang="en-US" sz="1250" dirty="0"/>
          </a:p>
        </p:txBody>
      </p:sp>
      <p:sp>
        <p:nvSpPr>
          <p:cNvPr id="25" name="Slide Number Placeholder 0"/>
          <p:cNvSpPr>
            <a:spLocks noGrp="1"/>
          </p:cNvSpPr>
          <p:nvPr>
            <p:ph type="sldNum" sz="quarter" idx="4294967295"/>
          </p:nvPr>
        </p:nvSpPr>
        <p:spPr>
          <a:xfrm>
            <a:off x="11338560" y="62636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E9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685800"/>
          </a:xfrm>
          <a:prstGeom prst="rect">
            <a:avLst/>
          </a:prstGeom>
          <a:noFill/>
          <a:ln/>
        </p:spPr>
        <p:txBody>
          <a:bodyPr wrap="square" rtlCol="0"/>
          <a:lstStyle/>
          <a:p>
            <a:pPr algn="l" indent="0" marL="0">
              <a:buNone/>
            </a:pPr>
            <a:r>
              <a:rPr lang="en-US" sz="3200" b="1" dirty="0">
                <a:solidFill>
                  <a:schemeClr val="tx1"/>
                </a:solidFill>
              </a:rPr>
              <a:t>อุปกรณ์ 4 ชิ้นที่ต้องมี</a:t>
            </a:r>
            <a:endParaRPr lang="en-US" sz="3200" dirty="0"/>
          </a:p>
        </p:txBody>
      </p:sp>
      <p:sp>
        <p:nvSpPr>
          <p:cNvPr id="3" name="part-0"/>
          <p:cNvSpPr/>
          <p:nvPr/>
        </p:nvSpPr>
        <p:spPr>
          <a:xfrm>
            <a:off x="548640" y="1463040"/>
            <a:ext cx="2560320" cy="3200400"/>
          </a:xfrm>
          <a:prstGeom prst="roundRect">
            <a:avLst>
              <a:gd name="adj" fmla="val 3571"/>
            </a:avLst>
          </a:prstGeom>
          <a:solidFill>
            <a:schemeClr val="bg2"/>
          </a:solidFill>
          <a:ln w="12700">
            <a:solidFill>
              <a:srgbClr val="D9E0E8"/>
            </a:solidFill>
            <a:prstDash val="solid"/>
          </a:ln>
        </p:spPr>
      </p:sp>
      <p:sp>
        <p:nvSpPr>
          <p:cNvPr id="4" name="dot-1"/>
          <p:cNvSpPr/>
          <p:nvPr/>
        </p:nvSpPr>
        <p:spPr>
          <a:xfrm>
            <a:off x="804672" y="1719072"/>
            <a:ext cx="475488" cy="475488"/>
          </a:xfrm>
          <a:prstGeom prst="ellipse">
            <a:avLst/>
          </a:prstGeom>
          <a:solidFill>
            <a:srgbClr val="E8803A"/>
          </a:solidFill>
          <a:ln w="12700">
            <a:solidFill>
              <a:srgbClr val="E8803A"/>
            </a:solidFill>
            <a:prstDash val="solid"/>
          </a:ln>
        </p:spPr>
      </p:sp>
      <p:sp>
        <p:nvSpPr>
          <p:cNvPr id="5" name="Text 3"/>
          <p:cNvSpPr txBox="1"/>
          <p:nvPr/>
        </p:nvSpPr>
        <p:spPr>
          <a:xfrm>
            <a:off x="804672" y="1719072"/>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6" name="Text 4"/>
          <p:cNvSpPr txBox="1"/>
          <p:nvPr/>
        </p:nvSpPr>
        <p:spPr>
          <a:xfrm>
            <a:off x="804672" y="2359152"/>
            <a:ext cx="2048256" cy="640080"/>
          </a:xfrm>
          <a:prstGeom prst="rect">
            <a:avLst/>
          </a:prstGeom>
          <a:noFill/>
          <a:ln/>
        </p:spPr>
        <p:txBody>
          <a:bodyPr wrap="square" lIns="0" tIns="0" rIns="0" bIns="0" rtlCol="0" anchor="t"/>
          <a:lstStyle/>
          <a:p>
            <a:pPr algn="l" indent="0" marL="0">
              <a:buNone/>
            </a:pPr>
            <a:r>
              <a:rPr lang="en-US" sz="1700" b="1" dirty="0">
                <a:solidFill>
                  <a:schemeClr val="tx1"/>
                </a:solidFill>
              </a:rPr>
              <a:t>STM32 Blue Pill</a:t>
            </a:r>
            <a:endParaRPr lang="en-US" sz="1700" dirty="0"/>
          </a:p>
        </p:txBody>
      </p:sp>
      <p:sp>
        <p:nvSpPr>
          <p:cNvPr id="7" name="Text 5"/>
          <p:cNvSpPr txBox="1"/>
          <p:nvPr/>
        </p:nvSpPr>
        <p:spPr>
          <a:xfrm>
            <a:off x="804672" y="3017520"/>
            <a:ext cx="2048256" cy="1005840"/>
          </a:xfrm>
          <a:prstGeom prst="rect">
            <a:avLst/>
          </a:prstGeom>
          <a:noFill/>
          <a:ln/>
        </p:spPr>
        <p:txBody>
          <a:bodyPr wrap="square" lIns="0" tIns="0" rIns="0" bIns="0" rtlCol="0" anchor="t"/>
          <a:lstStyle/>
          <a:p>
            <a:pPr algn="l" indent="0" marL="0">
              <a:lnSpc>
                <a:spcPct val="125000"/>
              </a:lnSpc>
              <a:buNone/>
            </a:pPr>
            <a:r>
              <a:rPr lang="en-US" sz="1300" dirty="0">
                <a:solidFill>
                  <a:srgbClr val="4A5568"/>
                </a:solidFill>
              </a:rPr>
              <a:t>สมองของหุ่น คุมมอเตอร์ อ่านเซนเซอร์ และเดินตามเส้น</a:t>
            </a:r>
            <a:endParaRPr lang="en-US" sz="1300" dirty="0"/>
          </a:p>
        </p:txBody>
      </p:sp>
      <p:sp>
        <p:nvSpPr>
          <p:cNvPr id="8" name="Text 6"/>
          <p:cNvSpPr txBox="1"/>
          <p:nvPr/>
        </p:nvSpPr>
        <p:spPr>
          <a:xfrm>
            <a:off x="804672" y="4133088"/>
            <a:ext cx="2048256" cy="411480"/>
          </a:xfrm>
          <a:prstGeom prst="rect">
            <a:avLst/>
          </a:prstGeom>
          <a:noFill/>
          <a:ln/>
        </p:spPr>
        <p:txBody>
          <a:bodyPr wrap="square" lIns="0" tIns="0" rIns="0" bIns="0" rtlCol="0" anchor="t"/>
          <a:lstStyle/>
          <a:p>
            <a:pPr algn="l" indent="0" marL="0">
              <a:buNone/>
            </a:pPr>
            <a:r>
              <a:rPr lang="en-US" sz="1050" dirty="0">
                <a:solidFill>
                  <a:srgbClr val="1C7293"/>
                </a:solidFill>
                <a:latin typeface="Courier New" pitchFamily="34" charset="0"/>
                <a:ea typeface="Courier New" pitchFamily="34" charset="-122"/>
                <a:cs typeface="Courier New" pitchFamily="34" charset="-120"/>
              </a:rPr>
              <a:t>stm32_robot_controller</a:t>
            </a:r>
            <a:endParaRPr lang="en-US" sz="1050" dirty="0"/>
          </a:p>
        </p:txBody>
      </p:sp>
      <p:sp>
        <p:nvSpPr>
          <p:cNvPr id="9" name="part-1"/>
          <p:cNvSpPr/>
          <p:nvPr/>
        </p:nvSpPr>
        <p:spPr>
          <a:xfrm>
            <a:off x="3383280" y="1463040"/>
            <a:ext cx="2560320" cy="3200400"/>
          </a:xfrm>
          <a:prstGeom prst="roundRect">
            <a:avLst>
              <a:gd name="adj" fmla="val 3571"/>
            </a:avLst>
          </a:prstGeom>
          <a:solidFill>
            <a:schemeClr val="bg2"/>
          </a:solidFill>
          <a:ln w="12700">
            <a:solidFill>
              <a:srgbClr val="D9E0E8"/>
            </a:solidFill>
            <a:prstDash val="solid"/>
          </a:ln>
        </p:spPr>
      </p:sp>
      <p:sp>
        <p:nvSpPr>
          <p:cNvPr id="10" name="dot-2"/>
          <p:cNvSpPr/>
          <p:nvPr/>
        </p:nvSpPr>
        <p:spPr>
          <a:xfrm>
            <a:off x="3639312" y="1719072"/>
            <a:ext cx="475488" cy="475488"/>
          </a:xfrm>
          <a:prstGeom prst="ellipse">
            <a:avLst/>
          </a:prstGeom>
          <a:solidFill>
            <a:srgbClr val="E8803A"/>
          </a:solidFill>
          <a:ln w="12700">
            <a:solidFill>
              <a:srgbClr val="E8803A"/>
            </a:solidFill>
            <a:prstDash val="solid"/>
          </a:ln>
        </p:spPr>
      </p:sp>
      <p:sp>
        <p:nvSpPr>
          <p:cNvPr id="11" name="Text 9"/>
          <p:cNvSpPr txBox="1"/>
          <p:nvPr/>
        </p:nvSpPr>
        <p:spPr>
          <a:xfrm>
            <a:off x="3639312" y="1719072"/>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2" name="Text 10"/>
          <p:cNvSpPr txBox="1"/>
          <p:nvPr/>
        </p:nvSpPr>
        <p:spPr>
          <a:xfrm>
            <a:off x="3639312" y="2359152"/>
            <a:ext cx="2048256" cy="640080"/>
          </a:xfrm>
          <a:prstGeom prst="rect">
            <a:avLst/>
          </a:prstGeom>
          <a:noFill/>
          <a:ln/>
        </p:spPr>
        <p:txBody>
          <a:bodyPr wrap="square" lIns="0" tIns="0" rIns="0" bIns="0" rtlCol="0" anchor="t"/>
          <a:lstStyle/>
          <a:p>
            <a:pPr algn="l" indent="0" marL="0">
              <a:buNone/>
            </a:pPr>
            <a:r>
              <a:rPr lang="en-US" sz="1700" b="1" dirty="0">
                <a:solidFill>
                  <a:schemeClr val="tx1"/>
                </a:solidFill>
              </a:rPr>
              <a:t>ESP32</a:t>
            </a:r>
            <a:endParaRPr lang="en-US" sz="1700" dirty="0"/>
          </a:p>
        </p:txBody>
      </p:sp>
      <p:sp>
        <p:nvSpPr>
          <p:cNvPr id="13" name="Text 11"/>
          <p:cNvSpPr txBox="1"/>
          <p:nvPr/>
        </p:nvSpPr>
        <p:spPr>
          <a:xfrm>
            <a:off x="3639312" y="3017520"/>
            <a:ext cx="2048256" cy="1005840"/>
          </a:xfrm>
          <a:prstGeom prst="rect">
            <a:avLst/>
          </a:prstGeom>
          <a:noFill/>
          <a:ln/>
        </p:spPr>
        <p:txBody>
          <a:bodyPr wrap="square" lIns="0" tIns="0" rIns="0" bIns="0" rtlCol="0" anchor="t"/>
          <a:lstStyle/>
          <a:p>
            <a:pPr algn="l" indent="0" marL="0">
              <a:lnSpc>
                <a:spcPct val="125000"/>
              </a:lnSpc>
              <a:buNone/>
            </a:pPr>
            <a:r>
              <a:rPr lang="en-US" sz="1300" dirty="0">
                <a:solidFill>
                  <a:srgbClr val="4A5568"/>
                </a:solidFill>
              </a:rPr>
              <a:t>ปล่อย Wi-Fi ชื่อ My_Robot2 เปิดหน้าเว็บรีโมท และคุมจอ OLED</a:t>
            </a:r>
            <a:endParaRPr lang="en-US" sz="1300" dirty="0"/>
          </a:p>
        </p:txBody>
      </p:sp>
      <p:sp>
        <p:nvSpPr>
          <p:cNvPr id="14" name="Text 12"/>
          <p:cNvSpPr txBox="1"/>
          <p:nvPr/>
        </p:nvSpPr>
        <p:spPr>
          <a:xfrm>
            <a:off x="3639312" y="4133088"/>
            <a:ext cx="2048256" cy="411480"/>
          </a:xfrm>
          <a:prstGeom prst="rect">
            <a:avLst/>
          </a:prstGeom>
          <a:noFill/>
          <a:ln/>
        </p:spPr>
        <p:txBody>
          <a:bodyPr wrap="square" lIns="0" tIns="0" rIns="0" bIns="0" rtlCol="0" anchor="t"/>
          <a:lstStyle/>
          <a:p>
            <a:pPr algn="l" indent="0" marL="0">
              <a:buNone/>
            </a:pPr>
            <a:r>
              <a:rPr lang="en-US" sz="1050" dirty="0">
                <a:solidFill>
                  <a:srgbClr val="1C7293"/>
                </a:solidFill>
                <a:latin typeface="Courier New" pitchFamily="34" charset="0"/>
                <a:ea typeface="Courier New" pitchFamily="34" charset="-122"/>
                <a:cs typeface="Courier New" pitchFamily="34" charset="-120"/>
              </a:rPr>
              <a:t>esp32_remote_controller</a:t>
            </a:r>
            <a:endParaRPr lang="en-US" sz="1050" dirty="0"/>
          </a:p>
        </p:txBody>
      </p:sp>
      <p:sp>
        <p:nvSpPr>
          <p:cNvPr id="15" name="part-2"/>
          <p:cNvSpPr/>
          <p:nvPr/>
        </p:nvSpPr>
        <p:spPr>
          <a:xfrm>
            <a:off x="6217920" y="1463040"/>
            <a:ext cx="2560320" cy="3200400"/>
          </a:xfrm>
          <a:prstGeom prst="roundRect">
            <a:avLst>
              <a:gd name="adj" fmla="val 3571"/>
            </a:avLst>
          </a:prstGeom>
          <a:solidFill>
            <a:schemeClr val="bg2"/>
          </a:solidFill>
          <a:ln w="12700">
            <a:solidFill>
              <a:srgbClr val="D9E0E8"/>
            </a:solidFill>
            <a:prstDash val="solid"/>
          </a:ln>
        </p:spPr>
      </p:sp>
      <p:sp>
        <p:nvSpPr>
          <p:cNvPr id="16" name="dot-3"/>
          <p:cNvSpPr/>
          <p:nvPr/>
        </p:nvSpPr>
        <p:spPr>
          <a:xfrm>
            <a:off x="6473952" y="1719072"/>
            <a:ext cx="475488" cy="475488"/>
          </a:xfrm>
          <a:prstGeom prst="ellipse">
            <a:avLst/>
          </a:prstGeom>
          <a:solidFill>
            <a:srgbClr val="E8803A"/>
          </a:solidFill>
          <a:ln w="12700">
            <a:solidFill>
              <a:srgbClr val="E8803A"/>
            </a:solidFill>
            <a:prstDash val="solid"/>
          </a:ln>
        </p:spPr>
      </p:sp>
      <p:sp>
        <p:nvSpPr>
          <p:cNvPr id="17" name="Text 15"/>
          <p:cNvSpPr txBox="1"/>
          <p:nvPr/>
        </p:nvSpPr>
        <p:spPr>
          <a:xfrm>
            <a:off x="6473952" y="1719072"/>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8" name="Text 16"/>
          <p:cNvSpPr txBox="1"/>
          <p:nvPr/>
        </p:nvSpPr>
        <p:spPr>
          <a:xfrm>
            <a:off x="6473952" y="2359152"/>
            <a:ext cx="2048256" cy="640080"/>
          </a:xfrm>
          <a:prstGeom prst="rect">
            <a:avLst/>
          </a:prstGeom>
          <a:noFill/>
          <a:ln/>
        </p:spPr>
        <p:txBody>
          <a:bodyPr wrap="square" lIns="0" tIns="0" rIns="0" bIns="0" rtlCol="0" anchor="t"/>
          <a:lstStyle/>
          <a:p>
            <a:pPr algn="l" indent="0" marL="0">
              <a:buNone/>
            </a:pPr>
            <a:r>
              <a:rPr lang="en-US" sz="1700" b="1" dirty="0">
                <a:solidFill>
                  <a:schemeClr val="tx1"/>
                </a:solidFill>
              </a:rPr>
              <a:t>ESP32-CAM</a:t>
            </a:r>
            <a:endParaRPr lang="en-US" sz="1700" dirty="0"/>
          </a:p>
        </p:txBody>
      </p:sp>
      <p:sp>
        <p:nvSpPr>
          <p:cNvPr id="19" name="Text 17"/>
          <p:cNvSpPr txBox="1"/>
          <p:nvPr/>
        </p:nvSpPr>
        <p:spPr>
          <a:xfrm>
            <a:off x="6473952" y="3017520"/>
            <a:ext cx="2048256" cy="1005840"/>
          </a:xfrm>
          <a:prstGeom prst="rect">
            <a:avLst/>
          </a:prstGeom>
          <a:noFill/>
          <a:ln/>
        </p:spPr>
        <p:txBody>
          <a:bodyPr wrap="square" lIns="0" tIns="0" rIns="0" bIns="0" rtlCol="0" anchor="t"/>
          <a:lstStyle/>
          <a:p>
            <a:pPr algn="l" indent="0" marL="0">
              <a:lnSpc>
                <a:spcPct val="125000"/>
              </a:lnSpc>
              <a:buNone/>
            </a:pPr>
            <a:r>
              <a:rPr lang="en-US" sz="1300" dirty="0">
                <a:solidFill>
                  <a:srgbClr val="4A5568"/>
                </a:solidFill>
              </a:rPr>
              <a:t>กล้องของหุ่น ส่งภาพให้ PC และสั่งหยุดเมื่อเจอรหัสสัตว์</a:t>
            </a:r>
            <a:endParaRPr lang="en-US" sz="1300" dirty="0"/>
          </a:p>
        </p:txBody>
      </p:sp>
      <p:sp>
        <p:nvSpPr>
          <p:cNvPr id="20" name="Text 18"/>
          <p:cNvSpPr txBox="1"/>
          <p:nvPr/>
        </p:nvSpPr>
        <p:spPr>
          <a:xfrm>
            <a:off x="6473952" y="4133088"/>
            <a:ext cx="2048256" cy="411480"/>
          </a:xfrm>
          <a:prstGeom prst="rect">
            <a:avLst/>
          </a:prstGeom>
          <a:noFill/>
          <a:ln/>
        </p:spPr>
        <p:txBody>
          <a:bodyPr wrap="square" lIns="0" tIns="0" rIns="0" bIns="0" rtlCol="0" anchor="t"/>
          <a:lstStyle/>
          <a:p>
            <a:pPr algn="l" indent="0" marL="0">
              <a:buNone/>
            </a:pPr>
            <a:r>
              <a:rPr lang="en-US" sz="1050" dirty="0">
                <a:solidFill>
                  <a:srgbClr val="1C7293"/>
                </a:solidFill>
                <a:latin typeface="Courier New" pitchFamily="34" charset="0"/>
                <a:ea typeface="Courier New" pitchFamily="34" charset="-122"/>
                <a:cs typeface="Courier New" pitchFamily="34" charset="-120"/>
              </a:rPr>
              <a:t>esp32_camera_server</a:t>
            </a:r>
            <a:endParaRPr lang="en-US" sz="1050" dirty="0"/>
          </a:p>
        </p:txBody>
      </p:sp>
      <p:sp>
        <p:nvSpPr>
          <p:cNvPr id="21" name="part-3"/>
          <p:cNvSpPr/>
          <p:nvPr/>
        </p:nvSpPr>
        <p:spPr>
          <a:xfrm>
            <a:off x="9052560" y="1463040"/>
            <a:ext cx="2560320" cy="3200400"/>
          </a:xfrm>
          <a:prstGeom prst="roundRect">
            <a:avLst>
              <a:gd name="adj" fmla="val 3571"/>
            </a:avLst>
          </a:prstGeom>
          <a:solidFill>
            <a:schemeClr val="bg2"/>
          </a:solidFill>
          <a:ln w="12700">
            <a:solidFill>
              <a:srgbClr val="D9E0E8"/>
            </a:solidFill>
            <a:prstDash val="solid"/>
          </a:ln>
        </p:spPr>
      </p:sp>
      <p:sp>
        <p:nvSpPr>
          <p:cNvPr id="22" name="dot-4"/>
          <p:cNvSpPr/>
          <p:nvPr/>
        </p:nvSpPr>
        <p:spPr>
          <a:xfrm>
            <a:off x="9308592" y="1719072"/>
            <a:ext cx="475488" cy="475488"/>
          </a:xfrm>
          <a:prstGeom prst="ellipse">
            <a:avLst/>
          </a:prstGeom>
          <a:solidFill>
            <a:srgbClr val="E8803A"/>
          </a:solidFill>
          <a:ln w="12700">
            <a:solidFill>
              <a:srgbClr val="E8803A"/>
            </a:solidFill>
            <a:prstDash val="solid"/>
          </a:ln>
        </p:spPr>
      </p:sp>
      <p:sp>
        <p:nvSpPr>
          <p:cNvPr id="23" name="Text 21"/>
          <p:cNvSpPr txBox="1"/>
          <p:nvPr/>
        </p:nvSpPr>
        <p:spPr>
          <a:xfrm>
            <a:off x="9308592" y="1719072"/>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24" name="Text 22"/>
          <p:cNvSpPr txBox="1"/>
          <p:nvPr/>
        </p:nvSpPr>
        <p:spPr>
          <a:xfrm>
            <a:off x="9308592" y="2359152"/>
            <a:ext cx="2048256" cy="640080"/>
          </a:xfrm>
          <a:prstGeom prst="rect">
            <a:avLst/>
          </a:prstGeom>
          <a:noFill/>
          <a:ln/>
        </p:spPr>
        <p:txBody>
          <a:bodyPr wrap="square" lIns="0" tIns="0" rIns="0" bIns="0" rtlCol="0" anchor="t"/>
          <a:lstStyle/>
          <a:p>
            <a:pPr algn="l" indent="0" marL="0">
              <a:buNone/>
            </a:pPr>
            <a:r>
              <a:rPr lang="en-US" sz="1700" b="1" dirty="0">
                <a:solidFill>
                  <a:schemeClr val="tx1"/>
                </a:solidFill>
              </a:rPr>
              <a:t>เครื่อง PC</a:t>
            </a:r>
            <a:endParaRPr lang="en-US" sz="1700" dirty="0"/>
          </a:p>
        </p:txBody>
      </p:sp>
      <p:sp>
        <p:nvSpPr>
          <p:cNvPr id="25" name="Text 23"/>
          <p:cNvSpPr txBox="1"/>
          <p:nvPr/>
        </p:nvSpPr>
        <p:spPr>
          <a:xfrm>
            <a:off x="9308592" y="3017520"/>
            <a:ext cx="2048256" cy="1005840"/>
          </a:xfrm>
          <a:prstGeom prst="rect">
            <a:avLst/>
          </a:prstGeom>
          <a:noFill/>
          <a:ln/>
        </p:spPr>
        <p:txBody>
          <a:bodyPr wrap="square" lIns="0" tIns="0" rIns="0" bIns="0" rtlCol="0" anchor="t"/>
          <a:lstStyle/>
          <a:p>
            <a:pPr algn="l" indent="0" marL="0">
              <a:lnSpc>
                <a:spcPct val="125000"/>
              </a:lnSpc>
              <a:buNone/>
            </a:pPr>
            <a:r>
              <a:rPr lang="en-US" sz="1300" dirty="0">
                <a:solidFill>
                  <a:srgbClr val="4A5568"/>
                </a:solidFill>
              </a:rPr>
              <a:t>อ่าน QR จากภาพ แล้วเก็บข้อมูลการวิ่งลง CSV บนเดสก์ท็อป</a:t>
            </a:r>
            <a:endParaRPr lang="en-US" sz="1300" dirty="0"/>
          </a:p>
        </p:txBody>
      </p:sp>
      <p:sp>
        <p:nvSpPr>
          <p:cNvPr id="26" name="Text 24"/>
          <p:cNvSpPr txBox="1"/>
          <p:nvPr/>
        </p:nvSpPr>
        <p:spPr>
          <a:xfrm>
            <a:off x="9308592" y="4133088"/>
            <a:ext cx="2048256" cy="411480"/>
          </a:xfrm>
          <a:prstGeom prst="rect">
            <a:avLst/>
          </a:prstGeom>
          <a:noFill/>
          <a:ln/>
        </p:spPr>
        <p:txBody>
          <a:bodyPr wrap="square" lIns="0" tIns="0" rIns="0" bIns="0" rtlCol="0" anchor="t"/>
          <a:lstStyle/>
          <a:p>
            <a:pPr algn="l" indent="0" marL="0">
              <a:buNone/>
            </a:pPr>
            <a:r>
              <a:rPr lang="en-US" sz="1050" dirty="0">
                <a:solidFill>
                  <a:srgbClr val="1C7293"/>
                </a:solidFill>
                <a:latin typeface="Courier New" pitchFamily="34" charset="0"/>
                <a:ea typeface="Courier New" pitchFamily="34" charset="-122"/>
                <a:cs typeface="Courier New" pitchFamily="34" charset="-120"/>
              </a:rPr>
              <a:t>qr_scanner.py</a:t>
            </a:r>
            <a:endParaRPr lang="en-US" sz="1050" dirty="0"/>
          </a:p>
        </p:txBody>
      </p:sp>
      <p:sp>
        <p:nvSpPr>
          <p:cNvPr id="27" name="callout"/>
          <p:cNvSpPr/>
          <p:nvPr/>
        </p:nvSpPr>
        <p:spPr>
          <a:xfrm>
            <a:off x="548640" y="4892040"/>
            <a:ext cx="11064240" cy="960120"/>
          </a:xfrm>
          <a:prstGeom prst="roundRect">
            <a:avLst>
              <a:gd name="adj" fmla="val 7619"/>
            </a:avLst>
          </a:prstGeom>
          <a:solidFill>
            <a:srgbClr val="E8F1F5"/>
          </a:solidFill>
          <a:ln w="12700">
            <a:solidFill>
              <a:srgbClr val="CBE0E9"/>
            </a:solidFill>
            <a:prstDash val="solid"/>
          </a:ln>
        </p:spPr>
      </p:sp>
      <p:sp>
        <p:nvSpPr>
          <p:cNvPr id="28" name="Text 26"/>
          <p:cNvSpPr txBox="1"/>
          <p:nvPr/>
        </p:nvSpPr>
        <p:spPr>
          <a:xfrm>
            <a:off x="777240" y="5020056"/>
            <a:ext cx="10607040" cy="274320"/>
          </a:xfrm>
          <a:prstGeom prst="rect">
            <a:avLst/>
          </a:prstGeom>
          <a:noFill/>
          <a:ln/>
        </p:spPr>
        <p:txBody>
          <a:bodyPr wrap="square" lIns="0" tIns="0" rIns="0" bIns="0" rtlCol="0" anchor="t"/>
          <a:lstStyle/>
          <a:p>
            <a:pPr algn="l" indent="0" marL="0">
              <a:buNone/>
            </a:pPr>
            <a:r>
              <a:rPr lang="en-US" sz="1400" b="1" dirty="0">
                <a:solidFill>
                  <a:srgbClr val="1C7293"/>
                </a:solidFill>
              </a:rPr>
              <a:t>ไม่ต้องมีครบก็เริ่มได้</a:t>
            </a:r>
            <a:endParaRPr lang="en-US" sz="1400" dirty="0"/>
          </a:p>
        </p:txBody>
      </p:sp>
      <p:sp>
        <p:nvSpPr>
          <p:cNvPr id="29" name="Text 27"/>
          <p:cNvSpPr txBox="1"/>
          <p:nvPr/>
        </p:nvSpPr>
        <p:spPr>
          <a:xfrm>
            <a:off x="777240" y="5330952"/>
            <a:ext cx="10607040" cy="393192"/>
          </a:xfrm>
          <a:prstGeom prst="rect">
            <a:avLst/>
          </a:prstGeom>
          <a:noFill/>
          <a:ln/>
        </p:spPr>
        <p:txBody>
          <a:bodyPr wrap="square" lIns="0" tIns="0" rIns="0" bIns="0" rtlCol="0" anchor="t"/>
          <a:lstStyle/>
          <a:p>
            <a:pPr algn="l" indent="0" marL="0">
              <a:lnSpc>
                <a:spcPct val="120000"/>
              </a:lnSpc>
              <a:buNone/>
            </a:pPr>
            <a:r>
              <a:rPr lang="en-US" sz="1250" dirty="0">
                <a:solidFill>
                  <a:srgbClr val="4A5568"/>
                </a:solidFill>
              </a:rPr>
              <a:t>STM32 ตัวเดียวเดินตามเส้นได้แล้ว  เพิ่ม ESP32 เพื่อให้มีรีโมทกับจอ  แล้วค่อยเพิ่มกล้องกับ PC ตอนจะทำเรื่องอ่าน QR</a:t>
            </a:r>
            <a:endParaRPr lang="en-US" sz="1250" dirty="0"/>
          </a:p>
        </p:txBody>
      </p:sp>
      <p:sp>
        <p:nvSpPr>
          <p:cNvPr id="25" name="Slide Number Placeholder 0"/>
          <p:cNvSpPr>
            <a:spLocks noGrp="1"/>
          </p:cNvSpPr>
          <p:nvPr>
            <p:ph type="sldNum" sz="quarter" idx="4294967295"/>
          </p:nvPr>
        </p:nvSpPr>
        <p:spPr>
          <a:xfrm>
            <a:off x="11338560" y="62636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E9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685800"/>
          </a:xfrm>
          <a:prstGeom prst="rect">
            <a:avLst/>
          </a:prstGeom>
          <a:noFill/>
          <a:ln/>
        </p:spPr>
        <p:txBody>
          <a:bodyPr wrap="square" rtlCol="0"/>
          <a:lstStyle/>
          <a:p>
            <a:pPr algn="l" indent="0" marL="0">
              <a:buNone/>
            </a:pPr>
            <a:r>
              <a:rPr lang="en-US" sz="3200" b="1" dirty="0">
                <a:solidFill>
                  <a:schemeClr val="tx1"/>
                </a:solidFill>
              </a:rPr>
              <a:t>ใครคุยกับใคร</a:t>
            </a:r>
            <a:endParaRPr lang="en-US" sz="3200" dirty="0"/>
          </a:p>
        </p:txBody>
      </p:sp>
      <p:sp>
        <p:nvSpPr>
          <p:cNvPr id="3" name="Text 1"/>
          <p:cNvSpPr txBox="1"/>
          <p:nvPr/>
        </p:nvSpPr>
        <p:spPr>
          <a:xfrm>
            <a:off x="548640" y="1280160"/>
            <a:ext cx="11064240" cy="274320"/>
          </a:xfrm>
          <a:prstGeom prst="rect">
            <a:avLst/>
          </a:prstGeom>
          <a:noFill/>
          <a:ln/>
        </p:spPr>
        <p:txBody>
          <a:bodyPr wrap="square" lIns="0" tIns="0" rIns="0" bIns="0" rtlCol="0" anchor="ctr"/>
          <a:lstStyle/>
          <a:p>
            <a:pPr algn="l" indent="0" marL="0">
              <a:buNone/>
            </a:pPr>
            <a:r>
              <a:rPr lang="en-US" sz="1300" b="1" dirty="0">
                <a:solidFill>
                  <a:srgbClr val="E8803A"/>
                </a:solidFill>
              </a:rPr>
              <a:t>เส้นทางที่ 1  ·  สั่งงานด้วยมือ</a:t>
            </a:r>
            <a:endParaRPr lang="en-US" sz="1300" dirty="0"/>
          </a:p>
        </p:txBody>
      </p:sp>
      <p:sp>
        <p:nvSpPr>
          <p:cNvPr id="4" name="node-มือถือ"/>
          <p:cNvSpPr/>
          <p:nvPr/>
        </p:nvSpPr>
        <p:spPr>
          <a:xfrm>
            <a:off x="548640" y="1627632"/>
            <a:ext cx="2926080" cy="1143000"/>
          </a:xfrm>
          <a:prstGeom prst="roundRect">
            <a:avLst>
              <a:gd name="adj" fmla="val 8000"/>
            </a:avLst>
          </a:prstGeom>
          <a:solidFill>
            <a:schemeClr val="bg2"/>
          </a:solidFill>
          <a:ln w="12700">
            <a:solidFill>
              <a:schemeClr val="bg2"/>
            </a:solidFill>
            <a:prstDash val="solid"/>
          </a:ln>
        </p:spPr>
      </p:sp>
      <p:sp>
        <p:nvSpPr>
          <p:cNvPr id="5" name="Text 3"/>
          <p:cNvSpPr txBox="1"/>
          <p:nvPr/>
        </p:nvSpPr>
        <p:spPr>
          <a:xfrm>
            <a:off x="685800" y="1792224"/>
            <a:ext cx="2651760" cy="320040"/>
          </a:xfrm>
          <a:prstGeom prst="rect">
            <a:avLst/>
          </a:prstGeom>
          <a:noFill/>
          <a:ln/>
        </p:spPr>
        <p:txBody>
          <a:bodyPr wrap="square" lIns="0" tIns="0" rIns="0" bIns="0" rtlCol="0" anchor="ctr"/>
          <a:lstStyle/>
          <a:p>
            <a:pPr algn="ctr" indent="0" marL="0">
              <a:buNone/>
            </a:pPr>
            <a:r>
              <a:rPr lang="en-US" sz="1600" b="1" dirty="0">
                <a:solidFill>
                  <a:srgbClr val="16202E"/>
                </a:solidFill>
              </a:rPr>
              <a:t>มือถือ</a:t>
            </a:r>
            <a:endParaRPr lang="en-US" sz="1600" dirty="0"/>
          </a:p>
        </p:txBody>
      </p:sp>
      <p:sp>
        <p:nvSpPr>
          <p:cNvPr id="6" name="Text 4"/>
          <p:cNvSpPr txBox="1"/>
          <p:nvPr/>
        </p:nvSpPr>
        <p:spPr>
          <a:xfrm>
            <a:off x="685800" y="2139696"/>
            <a:ext cx="2651760" cy="274320"/>
          </a:xfrm>
          <a:prstGeom prst="rect">
            <a:avLst/>
          </a:prstGeom>
          <a:noFill/>
          <a:ln/>
        </p:spPr>
        <p:txBody>
          <a:bodyPr wrap="square" lIns="0" tIns="0" rIns="0" bIns="0" rtlCol="0" anchor="ctr"/>
          <a:lstStyle/>
          <a:p>
            <a:pPr algn="ctr" indent="0" marL="0">
              <a:buNone/>
            </a:pPr>
            <a:r>
              <a:rPr lang="en-US" sz="1100" dirty="0">
                <a:solidFill>
                  <a:srgbClr val="4A5568"/>
                </a:solidFill>
              </a:rPr>
              <a:t>เปิด 192.168.4.1</a:t>
            </a:r>
            <a:endParaRPr lang="en-US" sz="1100" dirty="0"/>
          </a:p>
        </p:txBody>
      </p:sp>
      <p:sp>
        <p:nvSpPr>
          <p:cNvPr id="7" name="node-ESP32 รีโมท"/>
          <p:cNvSpPr/>
          <p:nvPr/>
        </p:nvSpPr>
        <p:spPr>
          <a:xfrm>
            <a:off x="4617720" y="1627632"/>
            <a:ext cx="2926080" cy="1143000"/>
          </a:xfrm>
          <a:prstGeom prst="roundRect">
            <a:avLst>
              <a:gd name="adj" fmla="val 8000"/>
            </a:avLst>
          </a:prstGeom>
          <a:solidFill>
            <a:srgbClr val="16202E"/>
          </a:solidFill>
          <a:ln w="12700">
            <a:solidFill>
              <a:srgbClr val="16202E"/>
            </a:solidFill>
            <a:prstDash val="solid"/>
          </a:ln>
        </p:spPr>
      </p:sp>
      <p:sp>
        <p:nvSpPr>
          <p:cNvPr id="8" name="Text 6"/>
          <p:cNvSpPr txBox="1"/>
          <p:nvPr/>
        </p:nvSpPr>
        <p:spPr>
          <a:xfrm>
            <a:off x="4754880" y="1792224"/>
            <a:ext cx="2651760" cy="320040"/>
          </a:xfrm>
          <a:prstGeom prst="rect">
            <a:avLst/>
          </a:prstGeom>
          <a:noFill/>
          <a:ln/>
        </p:spPr>
        <p:txBody>
          <a:bodyPr wrap="square" lIns="0" tIns="0" rIns="0" bIns="0" rtlCol="0" anchor="ctr"/>
          <a:lstStyle/>
          <a:p>
            <a:pPr algn="ctr" indent="0" marL="0">
              <a:buNone/>
            </a:pPr>
            <a:r>
              <a:rPr lang="en-US" sz="1600" b="1" dirty="0">
                <a:solidFill>
                  <a:srgbClr val="FFFFFF"/>
                </a:solidFill>
              </a:rPr>
              <a:t>ESP32 รีโมท</a:t>
            </a:r>
            <a:endParaRPr lang="en-US" sz="1600" dirty="0"/>
          </a:p>
        </p:txBody>
      </p:sp>
      <p:sp>
        <p:nvSpPr>
          <p:cNvPr id="9" name="Text 7"/>
          <p:cNvSpPr txBox="1"/>
          <p:nvPr/>
        </p:nvSpPr>
        <p:spPr>
          <a:xfrm>
            <a:off x="4754880" y="2139696"/>
            <a:ext cx="2651760" cy="274320"/>
          </a:xfrm>
          <a:prstGeom prst="rect">
            <a:avLst/>
          </a:prstGeom>
          <a:noFill/>
          <a:ln/>
        </p:spPr>
        <p:txBody>
          <a:bodyPr wrap="square" lIns="0" tIns="0" rIns="0" bIns="0" rtlCol="0" anchor="ctr"/>
          <a:lstStyle/>
          <a:p>
            <a:pPr algn="ctr" indent="0" marL="0">
              <a:buNone/>
            </a:pPr>
            <a:r>
              <a:rPr lang="en-US" sz="1100" dirty="0">
                <a:solidFill>
                  <a:srgbClr val="B9C6D4"/>
                </a:solidFill>
              </a:rPr>
              <a:t>ปล่อย Wi-Fi + จอ OLED</a:t>
            </a:r>
            <a:endParaRPr lang="en-US" sz="1100" dirty="0"/>
          </a:p>
        </p:txBody>
      </p:sp>
      <p:sp>
        <p:nvSpPr>
          <p:cNvPr id="10" name="node-STM32"/>
          <p:cNvSpPr/>
          <p:nvPr/>
        </p:nvSpPr>
        <p:spPr>
          <a:xfrm>
            <a:off x="8686800" y="1627632"/>
            <a:ext cx="2926080" cy="1143000"/>
          </a:xfrm>
          <a:prstGeom prst="roundRect">
            <a:avLst>
              <a:gd name="adj" fmla="val 8000"/>
            </a:avLst>
          </a:prstGeom>
          <a:solidFill>
            <a:schemeClr val="bg2"/>
          </a:solidFill>
          <a:ln w="12700">
            <a:solidFill>
              <a:schemeClr val="bg2"/>
            </a:solidFill>
            <a:prstDash val="solid"/>
          </a:ln>
        </p:spPr>
      </p:sp>
      <p:sp>
        <p:nvSpPr>
          <p:cNvPr id="11" name="Text 9"/>
          <p:cNvSpPr txBox="1"/>
          <p:nvPr/>
        </p:nvSpPr>
        <p:spPr>
          <a:xfrm>
            <a:off x="8823960" y="1792224"/>
            <a:ext cx="2651760" cy="320040"/>
          </a:xfrm>
          <a:prstGeom prst="rect">
            <a:avLst/>
          </a:prstGeom>
          <a:noFill/>
          <a:ln/>
        </p:spPr>
        <p:txBody>
          <a:bodyPr wrap="square" lIns="0" tIns="0" rIns="0" bIns="0" rtlCol="0" anchor="ctr"/>
          <a:lstStyle/>
          <a:p>
            <a:pPr algn="ctr" indent="0" marL="0">
              <a:buNone/>
            </a:pPr>
            <a:r>
              <a:rPr lang="en-US" sz="1600" b="1" dirty="0">
                <a:solidFill>
                  <a:srgbClr val="16202E"/>
                </a:solidFill>
              </a:rPr>
              <a:t>STM32</a:t>
            </a:r>
            <a:endParaRPr lang="en-US" sz="1600" dirty="0"/>
          </a:p>
        </p:txBody>
      </p:sp>
      <p:sp>
        <p:nvSpPr>
          <p:cNvPr id="12" name="Text 10"/>
          <p:cNvSpPr txBox="1"/>
          <p:nvPr/>
        </p:nvSpPr>
        <p:spPr>
          <a:xfrm>
            <a:off x="8823960" y="2139696"/>
            <a:ext cx="2651760" cy="274320"/>
          </a:xfrm>
          <a:prstGeom prst="rect">
            <a:avLst/>
          </a:prstGeom>
          <a:noFill/>
          <a:ln/>
        </p:spPr>
        <p:txBody>
          <a:bodyPr wrap="square" lIns="0" tIns="0" rIns="0" bIns="0" rtlCol="0" anchor="ctr"/>
          <a:lstStyle/>
          <a:p>
            <a:pPr algn="ctr" indent="0" marL="0">
              <a:buNone/>
            </a:pPr>
            <a:r>
              <a:rPr lang="en-US" sz="1100" dirty="0">
                <a:solidFill>
                  <a:srgbClr val="4A5568"/>
                </a:solidFill>
              </a:rPr>
              <a:t>มอเตอร์ + เซนเซอร์</a:t>
            </a:r>
            <a:endParaRPr lang="en-US" sz="1100" dirty="0"/>
          </a:p>
        </p:txBody>
      </p:sp>
      <p:sp>
        <p:nvSpPr>
          <p:cNvPr id="13" name="Text 11"/>
          <p:cNvSpPr txBox="1"/>
          <p:nvPr/>
        </p:nvSpPr>
        <p:spPr>
          <a:xfrm>
            <a:off x="3493008" y="1719072"/>
            <a:ext cx="1106424" cy="292608"/>
          </a:xfrm>
          <a:prstGeom prst="rect">
            <a:avLst/>
          </a:prstGeom>
          <a:noFill/>
          <a:ln/>
        </p:spPr>
        <p:txBody>
          <a:bodyPr wrap="square" lIns="0" tIns="0" rIns="0" bIns="0" rtlCol="0" anchor="b"/>
          <a:lstStyle/>
          <a:p>
            <a:pPr algn="ctr" indent="0" marL="0">
              <a:buNone/>
            </a:pPr>
            <a:r>
              <a:rPr lang="en-US" sz="1000" dirty="0">
                <a:solidFill>
                  <a:srgbClr val="6B7E93"/>
                </a:solidFill>
              </a:rPr>
              <a:t>WebSocket 81</a:t>
            </a:r>
            <a:endParaRPr lang="en-US" sz="1000" dirty="0"/>
          </a:p>
        </p:txBody>
      </p:sp>
      <p:sp>
        <p:nvSpPr>
          <p:cNvPr id="14" name="arrow-WebSocket "/>
          <p:cNvSpPr/>
          <p:nvPr/>
        </p:nvSpPr>
        <p:spPr>
          <a:xfrm>
            <a:off x="3584448" y="2103120"/>
            <a:ext cx="923544" cy="201168"/>
          </a:xfrm>
          <a:prstGeom prst="rightArrow">
            <a:avLst/>
          </a:prstGeom>
          <a:solidFill>
            <a:srgbClr val="E8803A"/>
          </a:solidFill>
          <a:ln w="12700">
            <a:solidFill>
              <a:srgbClr val="E8803A"/>
            </a:solidFill>
            <a:prstDash val="solid"/>
          </a:ln>
        </p:spPr>
      </p:sp>
      <p:sp>
        <p:nvSpPr>
          <p:cNvPr id="15" name="Text 13"/>
          <p:cNvSpPr txBox="1"/>
          <p:nvPr/>
        </p:nvSpPr>
        <p:spPr>
          <a:xfrm>
            <a:off x="7562088" y="1719072"/>
            <a:ext cx="1106424" cy="292608"/>
          </a:xfrm>
          <a:prstGeom prst="rect">
            <a:avLst/>
          </a:prstGeom>
          <a:noFill/>
          <a:ln/>
        </p:spPr>
        <p:txBody>
          <a:bodyPr wrap="square" lIns="0" tIns="0" rIns="0" bIns="0" rtlCol="0" anchor="b"/>
          <a:lstStyle/>
          <a:p>
            <a:pPr algn="ctr" indent="0" marL="0">
              <a:buNone/>
            </a:pPr>
            <a:r>
              <a:rPr lang="en-US" sz="1000" dirty="0">
                <a:solidFill>
                  <a:srgbClr val="6B7E93"/>
                </a:solidFill>
              </a:rPr>
              <a:t>Serial2 115200</a:t>
            </a:r>
            <a:endParaRPr lang="en-US" sz="1000" dirty="0"/>
          </a:p>
        </p:txBody>
      </p:sp>
      <p:sp>
        <p:nvSpPr>
          <p:cNvPr id="16" name="arrow-Serial2 11"/>
          <p:cNvSpPr/>
          <p:nvPr/>
        </p:nvSpPr>
        <p:spPr>
          <a:xfrm>
            <a:off x="7653528" y="2103120"/>
            <a:ext cx="923544" cy="201168"/>
          </a:xfrm>
          <a:prstGeom prst="rightArrow">
            <a:avLst/>
          </a:prstGeom>
          <a:solidFill>
            <a:srgbClr val="E8803A"/>
          </a:solidFill>
          <a:ln w="12700">
            <a:solidFill>
              <a:srgbClr val="E8803A"/>
            </a:solidFill>
            <a:prstDash val="solid"/>
          </a:ln>
        </p:spPr>
      </p:sp>
      <p:sp>
        <p:nvSpPr>
          <p:cNvPr id="17" name="Text 15"/>
          <p:cNvSpPr txBox="1"/>
          <p:nvPr/>
        </p:nvSpPr>
        <p:spPr>
          <a:xfrm>
            <a:off x="548640" y="3200400"/>
            <a:ext cx="11064240" cy="274320"/>
          </a:xfrm>
          <a:prstGeom prst="rect">
            <a:avLst/>
          </a:prstGeom>
          <a:noFill/>
          <a:ln/>
        </p:spPr>
        <p:txBody>
          <a:bodyPr wrap="square" lIns="0" tIns="0" rIns="0" bIns="0" rtlCol="0" anchor="ctr"/>
          <a:lstStyle/>
          <a:p>
            <a:pPr algn="l" indent="0" marL="0">
              <a:buNone/>
            </a:pPr>
            <a:r>
              <a:rPr lang="en-US" sz="1300" b="1" dirty="0">
                <a:solidFill>
                  <a:srgbClr val="1C7293"/>
                </a:solidFill>
              </a:rPr>
              <a:t>เส้นทางที่ 2  ·  อ่าน QR แล้วสั่งหยุด</a:t>
            </a:r>
            <a:endParaRPr lang="en-US" sz="1300" dirty="0"/>
          </a:p>
        </p:txBody>
      </p:sp>
      <p:sp>
        <p:nvSpPr>
          <p:cNvPr id="18" name="node-เครื่อง PC"/>
          <p:cNvSpPr/>
          <p:nvPr/>
        </p:nvSpPr>
        <p:spPr>
          <a:xfrm>
            <a:off x="548640" y="3547872"/>
            <a:ext cx="2926080" cy="1143000"/>
          </a:xfrm>
          <a:prstGeom prst="roundRect">
            <a:avLst>
              <a:gd name="adj" fmla="val 8000"/>
            </a:avLst>
          </a:prstGeom>
          <a:solidFill>
            <a:schemeClr val="bg2"/>
          </a:solidFill>
          <a:ln w="12700">
            <a:solidFill>
              <a:schemeClr val="bg2"/>
            </a:solidFill>
            <a:prstDash val="solid"/>
          </a:ln>
        </p:spPr>
      </p:sp>
      <p:sp>
        <p:nvSpPr>
          <p:cNvPr id="19" name="Text 17"/>
          <p:cNvSpPr txBox="1"/>
          <p:nvPr/>
        </p:nvSpPr>
        <p:spPr>
          <a:xfrm>
            <a:off x="685800" y="3712464"/>
            <a:ext cx="2651760" cy="320040"/>
          </a:xfrm>
          <a:prstGeom prst="rect">
            <a:avLst/>
          </a:prstGeom>
          <a:noFill/>
          <a:ln/>
        </p:spPr>
        <p:txBody>
          <a:bodyPr wrap="square" lIns="0" tIns="0" rIns="0" bIns="0" rtlCol="0" anchor="ctr"/>
          <a:lstStyle/>
          <a:p>
            <a:pPr algn="ctr" indent="0" marL="0">
              <a:buNone/>
            </a:pPr>
            <a:r>
              <a:rPr lang="en-US" sz="1600" b="1" dirty="0">
                <a:solidFill>
                  <a:srgbClr val="16202E"/>
                </a:solidFill>
              </a:rPr>
              <a:t>เครื่อง PC</a:t>
            </a:r>
            <a:endParaRPr lang="en-US" sz="1600" dirty="0"/>
          </a:p>
        </p:txBody>
      </p:sp>
      <p:sp>
        <p:nvSpPr>
          <p:cNvPr id="20" name="Text 18"/>
          <p:cNvSpPr txBox="1"/>
          <p:nvPr/>
        </p:nvSpPr>
        <p:spPr>
          <a:xfrm>
            <a:off x="685800" y="4059936"/>
            <a:ext cx="2651760" cy="274320"/>
          </a:xfrm>
          <a:prstGeom prst="rect">
            <a:avLst/>
          </a:prstGeom>
          <a:noFill/>
          <a:ln/>
        </p:spPr>
        <p:txBody>
          <a:bodyPr wrap="square" lIns="0" tIns="0" rIns="0" bIns="0" rtlCol="0" anchor="ctr"/>
          <a:lstStyle/>
          <a:p>
            <a:pPr algn="ctr" indent="0" marL="0">
              <a:buNone/>
            </a:pPr>
            <a:r>
              <a:rPr lang="en-US" sz="1100" dirty="0">
                <a:solidFill>
                  <a:srgbClr val="4A5568"/>
                </a:solidFill>
              </a:rPr>
              <a:t>qr_scanner.py</a:t>
            </a:r>
            <a:endParaRPr lang="en-US" sz="1100" dirty="0"/>
          </a:p>
        </p:txBody>
      </p:sp>
      <p:sp>
        <p:nvSpPr>
          <p:cNvPr id="21" name="node-ESP32-CAM"/>
          <p:cNvSpPr/>
          <p:nvPr/>
        </p:nvSpPr>
        <p:spPr>
          <a:xfrm>
            <a:off x="4617720" y="3547872"/>
            <a:ext cx="2926080" cy="1143000"/>
          </a:xfrm>
          <a:prstGeom prst="roundRect">
            <a:avLst>
              <a:gd name="adj" fmla="val 8000"/>
            </a:avLst>
          </a:prstGeom>
          <a:solidFill>
            <a:srgbClr val="16202E"/>
          </a:solidFill>
          <a:ln w="12700">
            <a:solidFill>
              <a:srgbClr val="16202E"/>
            </a:solidFill>
            <a:prstDash val="solid"/>
          </a:ln>
        </p:spPr>
      </p:sp>
      <p:sp>
        <p:nvSpPr>
          <p:cNvPr id="22" name="Text 20"/>
          <p:cNvSpPr txBox="1"/>
          <p:nvPr/>
        </p:nvSpPr>
        <p:spPr>
          <a:xfrm>
            <a:off x="4754880" y="3712464"/>
            <a:ext cx="2651760" cy="320040"/>
          </a:xfrm>
          <a:prstGeom prst="rect">
            <a:avLst/>
          </a:prstGeom>
          <a:noFill/>
          <a:ln/>
        </p:spPr>
        <p:txBody>
          <a:bodyPr wrap="square" lIns="0" tIns="0" rIns="0" bIns="0" rtlCol="0" anchor="ctr"/>
          <a:lstStyle/>
          <a:p>
            <a:pPr algn="ctr" indent="0" marL="0">
              <a:buNone/>
            </a:pPr>
            <a:r>
              <a:rPr lang="en-US" sz="1600" b="1" dirty="0">
                <a:solidFill>
                  <a:srgbClr val="FFFFFF"/>
                </a:solidFill>
              </a:rPr>
              <a:t>ESP32-CAM</a:t>
            </a:r>
            <a:endParaRPr lang="en-US" sz="1600" dirty="0"/>
          </a:p>
        </p:txBody>
      </p:sp>
      <p:sp>
        <p:nvSpPr>
          <p:cNvPr id="23" name="Text 21"/>
          <p:cNvSpPr txBox="1"/>
          <p:nvPr/>
        </p:nvSpPr>
        <p:spPr>
          <a:xfrm>
            <a:off x="4754880" y="4059936"/>
            <a:ext cx="2651760" cy="274320"/>
          </a:xfrm>
          <a:prstGeom prst="rect">
            <a:avLst/>
          </a:prstGeom>
          <a:noFill/>
          <a:ln/>
        </p:spPr>
        <p:txBody>
          <a:bodyPr wrap="square" lIns="0" tIns="0" rIns="0" bIns="0" rtlCol="0" anchor="ctr"/>
          <a:lstStyle/>
          <a:p>
            <a:pPr algn="ctr" indent="0" marL="0">
              <a:buNone/>
            </a:pPr>
            <a:r>
              <a:rPr lang="en-US" sz="1100" dirty="0">
                <a:solidFill>
                  <a:srgbClr val="B9C6D4"/>
                </a:solidFill>
              </a:rPr>
              <a:t>กล้อง + สะพานสัญญาณ</a:t>
            </a:r>
            <a:endParaRPr lang="en-US" sz="1100" dirty="0"/>
          </a:p>
        </p:txBody>
      </p:sp>
      <p:sp>
        <p:nvSpPr>
          <p:cNvPr id="24" name="node-STM32"/>
          <p:cNvSpPr/>
          <p:nvPr/>
        </p:nvSpPr>
        <p:spPr>
          <a:xfrm>
            <a:off x="8686800" y="3547872"/>
            <a:ext cx="2926080" cy="1143000"/>
          </a:xfrm>
          <a:prstGeom prst="roundRect">
            <a:avLst>
              <a:gd name="adj" fmla="val 8000"/>
            </a:avLst>
          </a:prstGeom>
          <a:solidFill>
            <a:schemeClr val="bg2"/>
          </a:solidFill>
          <a:ln w="12700">
            <a:solidFill>
              <a:schemeClr val="bg2"/>
            </a:solidFill>
            <a:prstDash val="solid"/>
          </a:ln>
        </p:spPr>
      </p:sp>
      <p:sp>
        <p:nvSpPr>
          <p:cNvPr id="25" name="Text 23"/>
          <p:cNvSpPr txBox="1"/>
          <p:nvPr/>
        </p:nvSpPr>
        <p:spPr>
          <a:xfrm>
            <a:off x="8823960" y="3712464"/>
            <a:ext cx="2651760" cy="320040"/>
          </a:xfrm>
          <a:prstGeom prst="rect">
            <a:avLst/>
          </a:prstGeom>
          <a:noFill/>
          <a:ln/>
        </p:spPr>
        <p:txBody>
          <a:bodyPr wrap="square" lIns="0" tIns="0" rIns="0" bIns="0" rtlCol="0" anchor="ctr"/>
          <a:lstStyle/>
          <a:p>
            <a:pPr algn="ctr" indent="0" marL="0">
              <a:buNone/>
            </a:pPr>
            <a:r>
              <a:rPr lang="en-US" sz="1600" b="1" dirty="0">
                <a:solidFill>
                  <a:srgbClr val="16202E"/>
                </a:solidFill>
              </a:rPr>
              <a:t>STM32</a:t>
            </a:r>
            <a:endParaRPr lang="en-US" sz="1600" dirty="0"/>
          </a:p>
        </p:txBody>
      </p:sp>
      <p:sp>
        <p:nvSpPr>
          <p:cNvPr id="26" name="Text 24"/>
          <p:cNvSpPr txBox="1"/>
          <p:nvPr/>
        </p:nvSpPr>
        <p:spPr>
          <a:xfrm>
            <a:off x="8823960" y="4059936"/>
            <a:ext cx="2651760" cy="274320"/>
          </a:xfrm>
          <a:prstGeom prst="rect">
            <a:avLst/>
          </a:prstGeom>
          <a:noFill/>
          <a:ln/>
        </p:spPr>
        <p:txBody>
          <a:bodyPr wrap="square" lIns="0" tIns="0" rIns="0" bIns="0" rtlCol="0" anchor="ctr"/>
          <a:lstStyle/>
          <a:p>
            <a:pPr algn="ctr" indent="0" marL="0">
              <a:buNone/>
            </a:pPr>
            <a:r>
              <a:rPr lang="en-US" sz="1100" dirty="0">
                <a:solidFill>
                  <a:srgbClr val="4A5568"/>
                </a:solidFill>
              </a:rPr>
              <a:t>หยุด 5 วินาที</a:t>
            </a:r>
            <a:endParaRPr lang="en-US" sz="1100" dirty="0"/>
          </a:p>
        </p:txBody>
      </p:sp>
      <p:sp>
        <p:nvSpPr>
          <p:cNvPr id="27" name="Text 25"/>
          <p:cNvSpPr txBox="1"/>
          <p:nvPr/>
        </p:nvSpPr>
        <p:spPr>
          <a:xfrm>
            <a:off x="3493008" y="3639312"/>
            <a:ext cx="1106424" cy="292608"/>
          </a:xfrm>
          <a:prstGeom prst="rect">
            <a:avLst/>
          </a:prstGeom>
          <a:noFill/>
          <a:ln/>
        </p:spPr>
        <p:txBody>
          <a:bodyPr wrap="square" lIns="0" tIns="0" rIns="0" bIns="0" rtlCol="0" anchor="b"/>
          <a:lstStyle/>
          <a:p>
            <a:pPr algn="ctr" indent="0" marL="0">
              <a:buNone/>
            </a:pPr>
            <a:r>
              <a:rPr lang="en-US" sz="1000" dirty="0">
                <a:solidFill>
                  <a:srgbClr val="6B7E93"/>
                </a:solidFill>
              </a:rPr>
              <a:t>UDP 1234</a:t>
            </a:r>
            <a:endParaRPr lang="en-US" sz="1000" dirty="0"/>
          </a:p>
        </p:txBody>
      </p:sp>
      <p:sp>
        <p:nvSpPr>
          <p:cNvPr id="28" name="arrow-UDP 1234"/>
          <p:cNvSpPr/>
          <p:nvPr/>
        </p:nvSpPr>
        <p:spPr>
          <a:xfrm>
            <a:off x="3584448" y="4023360"/>
            <a:ext cx="923544" cy="201168"/>
          </a:xfrm>
          <a:prstGeom prst="rightArrow">
            <a:avLst/>
          </a:prstGeom>
          <a:solidFill>
            <a:srgbClr val="E8803A"/>
          </a:solidFill>
          <a:ln w="12700">
            <a:solidFill>
              <a:srgbClr val="E8803A"/>
            </a:solidFill>
            <a:prstDash val="solid"/>
          </a:ln>
        </p:spPr>
      </p:sp>
      <p:sp>
        <p:nvSpPr>
          <p:cNvPr id="29" name="Text 27"/>
          <p:cNvSpPr txBox="1"/>
          <p:nvPr/>
        </p:nvSpPr>
        <p:spPr>
          <a:xfrm>
            <a:off x="7562088" y="3639312"/>
            <a:ext cx="1106424" cy="292608"/>
          </a:xfrm>
          <a:prstGeom prst="rect">
            <a:avLst/>
          </a:prstGeom>
          <a:noFill/>
          <a:ln/>
        </p:spPr>
        <p:txBody>
          <a:bodyPr wrap="square" lIns="0" tIns="0" rIns="0" bIns="0" rtlCol="0" anchor="b"/>
          <a:lstStyle/>
          <a:p>
            <a:pPr algn="ctr" indent="0" marL="0">
              <a:buNone/>
            </a:pPr>
            <a:r>
              <a:rPr lang="en-US" sz="1000" dirty="0">
                <a:solidFill>
                  <a:srgbClr val="6B7E93"/>
                </a:solidFill>
              </a:rPr>
              <a:t>Serial 9600  'S'</a:t>
            </a:r>
            <a:endParaRPr lang="en-US" sz="1000" dirty="0"/>
          </a:p>
        </p:txBody>
      </p:sp>
      <p:sp>
        <p:nvSpPr>
          <p:cNvPr id="30" name="arrow-Serial 960"/>
          <p:cNvSpPr/>
          <p:nvPr/>
        </p:nvSpPr>
        <p:spPr>
          <a:xfrm>
            <a:off x="7653528" y="4023360"/>
            <a:ext cx="923544" cy="201168"/>
          </a:xfrm>
          <a:prstGeom prst="rightArrow">
            <a:avLst/>
          </a:prstGeom>
          <a:solidFill>
            <a:srgbClr val="E8803A"/>
          </a:solidFill>
          <a:ln w="12700">
            <a:solidFill>
              <a:srgbClr val="E8803A"/>
            </a:solidFill>
            <a:prstDash val="solid"/>
          </a:ln>
        </p:spPr>
      </p:sp>
      <p:sp>
        <p:nvSpPr>
          <p:cNvPr id="31" name="callout"/>
          <p:cNvSpPr/>
          <p:nvPr/>
        </p:nvSpPr>
        <p:spPr>
          <a:xfrm>
            <a:off x="548640" y="5029200"/>
            <a:ext cx="11064240" cy="914400"/>
          </a:xfrm>
          <a:prstGeom prst="roundRect">
            <a:avLst>
              <a:gd name="adj" fmla="val 8000"/>
            </a:avLst>
          </a:prstGeom>
          <a:solidFill>
            <a:srgbClr val="E8F1F5"/>
          </a:solidFill>
          <a:ln w="12700">
            <a:solidFill>
              <a:srgbClr val="CBE0E9"/>
            </a:solidFill>
            <a:prstDash val="solid"/>
          </a:ln>
        </p:spPr>
      </p:sp>
      <p:sp>
        <p:nvSpPr>
          <p:cNvPr id="32" name="Text 30"/>
          <p:cNvSpPr txBox="1"/>
          <p:nvPr/>
        </p:nvSpPr>
        <p:spPr>
          <a:xfrm>
            <a:off x="777240" y="5157216"/>
            <a:ext cx="10607040" cy="274320"/>
          </a:xfrm>
          <a:prstGeom prst="rect">
            <a:avLst/>
          </a:prstGeom>
          <a:noFill/>
          <a:ln/>
        </p:spPr>
        <p:txBody>
          <a:bodyPr wrap="square" lIns="0" tIns="0" rIns="0" bIns="0" rtlCol="0" anchor="t"/>
          <a:lstStyle/>
          <a:p>
            <a:pPr algn="l" indent="0" marL="0">
              <a:buNone/>
            </a:pPr>
            <a:r>
              <a:rPr lang="en-US" sz="1400" b="1" dirty="0">
                <a:solidFill>
                  <a:srgbClr val="1C7293"/>
                </a:solidFill>
              </a:rPr>
              <a:t>ยังมีอีกสองเส้นที่มองไม่เห็นจากหน้านี้</a:t>
            </a:r>
            <a:endParaRPr lang="en-US" sz="1400" dirty="0"/>
          </a:p>
        </p:txBody>
      </p:sp>
      <p:sp>
        <p:nvSpPr>
          <p:cNvPr id="33" name="Text 31"/>
          <p:cNvSpPr txBox="1"/>
          <p:nvPr/>
        </p:nvSpPr>
        <p:spPr>
          <a:xfrm>
            <a:off x="777240" y="5468112"/>
            <a:ext cx="10607040" cy="347472"/>
          </a:xfrm>
          <a:prstGeom prst="rect">
            <a:avLst/>
          </a:prstGeom>
          <a:noFill/>
          <a:ln/>
        </p:spPr>
        <p:txBody>
          <a:bodyPr wrap="square" lIns="0" tIns="0" rIns="0" bIns="0" rtlCol="0" anchor="t"/>
          <a:lstStyle/>
          <a:p>
            <a:pPr algn="l" indent="0" marL="0">
              <a:lnSpc>
                <a:spcPct val="120000"/>
              </a:lnSpc>
              <a:buNone/>
            </a:pPr>
            <a:r>
              <a:rPr lang="en-US" sz="1250" dirty="0">
                <a:solidFill>
                  <a:srgbClr val="4A5568"/>
                </a:solidFill>
              </a:rPr>
              <a:t>กล้องส่งสัญญาณบอกตัวตนให้รีโมททุก 2 วินาที รีโมทจะได้รู้ IP ไว้ทำลิงก์ภาพสด   และ STM32 ส่งค่าสถานะกลับทุก 200 มิลลิวินาที ให้ PC ดึงไปเก็บลง Excel</a:t>
            </a:r>
            <a:endParaRPr lang="en-US" sz="1250" dirty="0"/>
          </a:p>
        </p:txBody>
      </p:sp>
      <p:sp>
        <p:nvSpPr>
          <p:cNvPr id="25" name="Slide Number Placeholder 0"/>
          <p:cNvSpPr>
            <a:spLocks noGrp="1"/>
          </p:cNvSpPr>
          <p:nvPr>
            <p:ph type="sldNum" sz="quarter" idx="4294967295"/>
          </p:nvPr>
        </p:nvSpPr>
        <p:spPr>
          <a:xfrm>
            <a:off x="11338560" y="62636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E9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377440"/>
            <a:ext cx="11064240" cy="457200"/>
          </a:xfrm>
          <a:prstGeom prst="rect">
            <a:avLst/>
          </a:prstGeom>
          <a:noFill/>
          <a:ln/>
        </p:spPr>
        <p:txBody>
          <a:bodyPr wrap="square" rtlCol="0"/>
          <a:lstStyle/>
          <a:p>
            <a:pPr algn="l" indent="0" marL="0">
              <a:buNone/>
            </a:pPr>
            <a:r>
              <a:rPr lang="en-US" sz="6000" b="1" dirty="0">
                <a:solidFill>
                  <a:srgbClr val="E8803A"/>
                </a:solidFill>
              </a:rPr>
              <a:t>01</a:t>
            </a:r>
            <a:endParaRPr lang="en-US" sz="6000" dirty="0"/>
          </a:p>
        </p:txBody>
      </p:sp>
      <p:sp>
        <p:nvSpPr>
          <p:cNvPr id="3" name="Text 0"/>
          <p:cNvSpPr/>
          <p:nvPr>
            <p:ph idx="101" type="title" hasCustomPrompt="1"/>
          </p:nvPr>
        </p:nvSpPr>
        <p:spPr>
          <a:xfrm>
            <a:off x="548640" y="3200400"/>
            <a:ext cx="11064240" cy="914400"/>
          </a:xfrm>
          <a:prstGeom prst="rect">
            <a:avLst/>
          </a:prstGeom>
          <a:noFill/>
          <a:ln/>
        </p:spPr>
        <p:txBody>
          <a:bodyPr wrap="square" rtlCol="0"/>
          <a:lstStyle/>
          <a:p>
            <a:pPr algn="l" indent="0" marL="0">
              <a:buNone/>
            </a:pPr>
            <a:r>
              <a:rPr lang="en-US" sz="4000" b="1" dirty="0">
                <a:solidFill>
                  <a:schemeClr val="bg1"/>
                </a:solidFill>
              </a:rPr>
              <a:t>ติดตั้งและต่อสาย</a:t>
            </a:r>
            <a:endParaRPr lang="en-US" sz="4000" dirty="0"/>
          </a:p>
        </p:txBody>
      </p:sp>
      <p:sp>
        <p:nvSpPr>
          <p:cNvPr id="4" name="Text 0"/>
          <p:cNvSpPr/>
          <p:nvPr>
            <p:ph idx="102" type="body" hasCustomPrompt="1"/>
          </p:nvPr>
        </p:nvSpPr>
        <p:spPr>
          <a:xfrm>
            <a:off x="548640" y="4206240"/>
            <a:ext cx="8686800" cy="914400"/>
          </a:xfrm>
          <a:prstGeom prst="rect">
            <a:avLst/>
          </a:prstGeom>
          <a:noFill/>
          <a:ln/>
        </p:spPr>
        <p:txBody>
          <a:bodyPr wrap="square" rtlCol="0"/>
          <a:lstStyle/>
          <a:p>
            <a:pPr algn="l" indent="0" marL="0">
              <a:buNone/>
            </a:pPr>
            <a:r>
              <a:rPr lang="en-US" sz="1600" dirty="0">
                <a:solidFill>
                  <a:srgbClr val="B9C6D4"/>
                </a:solidFill>
              </a:rPr>
              <a:t>ลงโปรแกรมในเครื่อง ต่อสายให้ครบ แล้วอัปเฟิร์มแวร์ลงทั้งสามบอร์ด</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685800"/>
          </a:xfrm>
          <a:prstGeom prst="rect">
            <a:avLst/>
          </a:prstGeom>
          <a:noFill/>
          <a:ln/>
        </p:spPr>
        <p:txBody>
          <a:bodyPr wrap="square" rtlCol="0"/>
          <a:lstStyle/>
          <a:p>
            <a:pPr algn="l" indent="0" marL="0">
              <a:buNone/>
            </a:pPr>
            <a:r>
              <a:rPr lang="en-US" sz="3200" b="1" dirty="0">
                <a:solidFill>
                  <a:schemeClr val="tx1"/>
                </a:solidFill>
              </a:rPr>
              <a:t>ลงโปรแกรมในเครื่องก่อน</a:t>
            </a:r>
            <a:endParaRPr lang="en-US" sz="3200" dirty="0"/>
          </a:p>
        </p:txBody>
      </p:sp>
      <p:sp>
        <p:nvSpPr>
          <p:cNvPr id="3" name="sw-1"/>
          <p:cNvSpPr/>
          <p:nvPr/>
        </p:nvSpPr>
        <p:spPr>
          <a:xfrm>
            <a:off x="548640" y="1371600"/>
            <a:ext cx="3444240" cy="3566160"/>
          </a:xfrm>
          <a:prstGeom prst="roundRect">
            <a:avLst>
              <a:gd name="adj" fmla="val 2655"/>
            </a:avLst>
          </a:prstGeom>
          <a:solidFill>
            <a:schemeClr val="bg2"/>
          </a:solidFill>
          <a:ln w="12700">
            <a:solidFill>
              <a:srgbClr val="D9E0E8"/>
            </a:solidFill>
            <a:prstDash val="solid"/>
          </a:ln>
        </p:spPr>
      </p:sp>
      <p:sp>
        <p:nvSpPr>
          <p:cNvPr id="4" name="dot-1"/>
          <p:cNvSpPr/>
          <p:nvPr/>
        </p:nvSpPr>
        <p:spPr>
          <a:xfrm>
            <a:off x="804672" y="1627632"/>
            <a:ext cx="475488" cy="475488"/>
          </a:xfrm>
          <a:prstGeom prst="ellipse">
            <a:avLst/>
          </a:prstGeom>
          <a:solidFill>
            <a:srgbClr val="E8803A"/>
          </a:solidFill>
          <a:ln w="12700">
            <a:solidFill>
              <a:srgbClr val="E8803A"/>
            </a:solidFill>
            <a:prstDash val="solid"/>
          </a:ln>
        </p:spPr>
      </p:sp>
      <p:sp>
        <p:nvSpPr>
          <p:cNvPr id="5" name="Text 3"/>
          <p:cNvSpPr txBox="1"/>
          <p:nvPr/>
        </p:nvSpPr>
        <p:spPr>
          <a:xfrm>
            <a:off x="804672" y="1627632"/>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6" name="Text 4"/>
          <p:cNvSpPr txBox="1"/>
          <p:nvPr/>
        </p:nvSpPr>
        <p:spPr>
          <a:xfrm>
            <a:off x="804672" y="2267712"/>
            <a:ext cx="2932176" cy="365760"/>
          </a:xfrm>
          <a:prstGeom prst="rect">
            <a:avLst/>
          </a:prstGeom>
          <a:noFill/>
          <a:ln/>
        </p:spPr>
        <p:txBody>
          <a:bodyPr wrap="square" lIns="0" tIns="0" rIns="0" bIns="0" rtlCol="0" anchor="t"/>
          <a:lstStyle/>
          <a:p>
            <a:pPr algn="l" indent="0" marL="0">
              <a:buNone/>
            </a:pPr>
            <a:r>
              <a:rPr lang="en-US" sz="1600" b="1" dirty="0">
                <a:solidFill>
                  <a:schemeClr val="tx1"/>
                </a:solidFill>
              </a:rPr>
              <a:t>Arduino IDE + บอร์ด</a:t>
            </a:r>
            <a:endParaRPr lang="en-US" sz="1600" dirty="0"/>
          </a:p>
        </p:txBody>
      </p:sp>
      <p:sp>
        <p:nvSpPr>
          <p:cNvPr id="7" name="Text 5"/>
          <p:cNvSpPr txBox="1"/>
          <p:nvPr/>
        </p:nvSpPr>
        <p:spPr>
          <a:xfrm>
            <a:off x="804672" y="2697480"/>
            <a:ext cx="2932176" cy="1188720"/>
          </a:xfrm>
          <a:prstGeom prst="rect">
            <a:avLst/>
          </a:prstGeom>
          <a:noFill/>
          <a:ln/>
        </p:spPr>
        <p:txBody>
          <a:bodyPr wrap="square" lIns="0" tIns="0" rIns="0" bIns="0" rtlCol="0" anchor="t"/>
          <a:lstStyle/>
          <a:p>
            <a:pPr algn="l" indent="0" marL="0">
              <a:lnSpc>
                <a:spcPct val="125000"/>
              </a:lnSpc>
              <a:buNone/>
            </a:pPr>
            <a:r>
              <a:rPr lang="en-US" sz="1300" dirty="0">
                <a:solidFill>
                  <a:srgbClr val="4A5568"/>
                </a:solidFill>
              </a:rPr>
              <a:t>เปิด File &gt; Preferences แล้วใส่ลิงก์ Board Manager ของ STM32 ลงไป จากนั้นลง STM32 MCU based boards และชุดบอร์ด ESP32</a:t>
            </a:r>
            <a:endParaRPr lang="en-US" sz="1300" dirty="0"/>
          </a:p>
        </p:txBody>
      </p:sp>
      <p:sp>
        <p:nvSpPr>
          <p:cNvPr id="8" name="Text 6"/>
          <p:cNvSpPr txBox="1"/>
          <p:nvPr/>
        </p:nvSpPr>
        <p:spPr>
          <a:xfrm>
            <a:off x="804672" y="4023360"/>
            <a:ext cx="2932176" cy="640080"/>
          </a:xfrm>
          <a:prstGeom prst="rect">
            <a:avLst/>
          </a:prstGeom>
          <a:noFill/>
          <a:ln/>
        </p:spPr>
        <p:txBody>
          <a:bodyPr wrap="square" lIns="0" tIns="0" rIns="0" bIns="0" rtlCol="0" anchor="t"/>
          <a:lstStyle/>
          <a:p>
            <a:pPr algn="l" indent="0" marL="0">
              <a:buNone/>
            </a:pPr>
            <a:r>
              <a:rPr lang="en-US" sz="1000" dirty="0">
                <a:solidFill>
                  <a:srgbClr val="1C7293"/>
                </a:solidFill>
                <a:latin typeface="Courier New" pitchFamily="34" charset="0"/>
                <a:ea typeface="Courier New" pitchFamily="34" charset="-122"/>
                <a:cs typeface="Courier New" pitchFamily="34" charset="-120"/>
              </a:rPr>
              <a:t>github.com/stm32duino/</a:t>
            </a:r>
            <a:endParaRPr lang="en-US" sz="1000" dirty="0"/>
          </a:p>
          <a:p>
            <a:pPr algn="l" indent="0" marL="0">
              <a:buNone/>
            </a:pPr>
            <a:r>
              <a:rPr lang="en-US" sz="1000" dirty="0">
                <a:solidFill>
                  <a:srgbClr val="1C7293"/>
                </a:solidFill>
                <a:latin typeface="Courier New" pitchFamily="34" charset="0"/>
                <a:ea typeface="Courier New" pitchFamily="34" charset="-122"/>
                <a:cs typeface="Courier New" pitchFamily="34" charset="-120"/>
              </a:rPr>
              <a:t>BoardManagerFiles</a:t>
            </a:r>
            <a:endParaRPr lang="en-US" sz="1000" dirty="0"/>
          </a:p>
        </p:txBody>
      </p:sp>
      <p:sp>
        <p:nvSpPr>
          <p:cNvPr id="9" name="sw-2"/>
          <p:cNvSpPr/>
          <p:nvPr/>
        </p:nvSpPr>
        <p:spPr>
          <a:xfrm>
            <a:off x="4358640" y="1371600"/>
            <a:ext cx="3444240" cy="3566160"/>
          </a:xfrm>
          <a:prstGeom prst="roundRect">
            <a:avLst>
              <a:gd name="adj" fmla="val 2655"/>
            </a:avLst>
          </a:prstGeom>
          <a:solidFill>
            <a:schemeClr val="bg2"/>
          </a:solidFill>
          <a:ln w="12700">
            <a:solidFill>
              <a:srgbClr val="D9E0E8"/>
            </a:solidFill>
            <a:prstDash val="solid"/>
          </a:ln>
        </p:spPr>
      </p:sp>
      <p:sp>
        <p:nvSpPr>
          <p:cNvPr id="10" name="dot-2"/>
          <p:cNvSpPr/>
          <p:nvPr/>
        </p:nvSpPr>
        <p:spPr>
          <a:xfrm>
            <a:off x="4614672" y="1627632"/>
            <a:ext cx="475488" cy="475488"/>
          </a:xfrm>
          <a:prstGeom prst="ellipse">
            <a:avLst/>
          </a:prstGeom>
          <a:solidFill>
            <a:srgbClr val="E8803A"/>
          </a:solidFill>
          <a:ln w="12700">
            <a:solidFill>
              <a:srgbClr val="E8803A"/>
            </a:solidFill>
            <a:prstDash val="solid"/>
          </a:ln>
        </p:spPr>
      </p:sp>
      <p:sp>
        <p:nvSpPr>
          <p:cNvPr id="11" name="Text 9"/>
          <p:cNvSpPr txBox="1"/>
          <p:nvPr/>
        </p:nvSpPr>
        <p:spPr>
          <a:xfrm>
            <a:off x="4614672" y="1627632"/>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2" name="Text 10"/>
          <p:cNvSpPr txBox="1"/>
          <p:nvPr/>
        </p:nvSpPr>
        <p:spPr>
          <a:xfrm>
            <a:off x="4614672" y="2267712"/>
            <a:ext cx="2932176" cy="365760"/>
          </a:xfrm>
          <a:prstGeom prst="rect">
            <a:avLst/>
          </a:prstGeom>
          <a:noFill/>
          <a:ln/>
        </p:spPr>
        <p:txBody>
          <a:bodyPr wrap="square" lIns="0" tIns="0" rIns="0" bIns="0" rtlCol="0" anchor="t"/>
          <a:lstStyle/>
          <a:p>
            <a:pPr algn="l" indent="0" marL="0">
              <a:buNone/>
            </a:pPr>
            <a:r>
              <a:rPr lang="en-US" sz="1600" b="1" dirty="0">
                <a:solidFill>
                  <a:schemeClr val="tx1"/>
                </a:solidFill>
              </a:rPr>
              <a:t>ไลบรารีของ ESP32</a:t>
            </a:r>
            <a:endParaRPr lang="en-US" sz="1600" dirty="0"/>
          </a:p>
        </p:txBody>
      </p:sp>
      <p:sp>
        <p:nvSpPr>
          <p:cNvPr id="13" name="Text 11"/>
          <p:cNvSpPr txBox="1"/>
          <p:nvPr/>
        </p:nvSpPr>
        <p:spPr>
          <a:xfrm>
            <a:off x="4614672" y="2697480"/>
            <a:ext cx="2932176" cy="1828800"/>
          </a:xfrm>
          <a:prstGeom prst="rect">
            <a:avLst/>
          </a:prstGeom>
          <a:noFill/>
          <a:ln/>
        </p:spPr>
        <p:txBody>
          <a:bodyPr wrap="square" lIns="0" tIns="0" rIns="0" bIns="0" rtlCol="0" anchor="t"/>
          <a:lstStyle/>
          <a:p>
            <a:pPr algn="l" marL="342900" indent="-342900">
              <a:spcAft>
                <a:spcPts val="700"/>
              </a:spcAft>
              <a:buSzPct val="100000"/>
              <a:buChar char="•"/>
            </a:pPr>
            <a:r>
              <a:rPr lang="en-US" sz="1300" dirty="0">
                <a:solidFill>
                  <a:srgbClr val="4A5568"/>
                </a:solidFill>
              </a:rPr>
              <a:t>WebSockets โดย Markus Sattler</a:t>
            </a:r>
            <a:endParaRPr lang="en-US" sz="1300" dirty="0"/>
          </a:p>
          <a:p>
            <a:pPr algn="l" marL="342900" indent="-342900">
              <a:spcAft>
                <a:spcPts val="700"/>
              </a:spcAft>
              <a:buSzPct val="100000"/>
              <a:buChar char="•"/>
            </a:pPr>
            <a:r>
              <a:rPr lang="en-US" sz="1300" dirty="0">
                <a:solidFill>
                  <a:srgbClr val="4A5568"/>
                </a:solidFill>
              </a:rPr>
              <a:t>Adafruit GFX Library</a:t>
            </a:r>
            <a:endParaRPr lang="en-US" sz="1300" dirty="0"/>
          </a:p>
          <a:p>
            <a:pPr algn="l" marL="342900" indent="-342900">
              <a:spcAft>
                <a:spcPts val="700"/>
              </a:spcAft>
              <a:buSzPct val="100000"/>
              <a:buChar char="•"/>
            </a:pPr>
            <a:r>
              <a:rPr lang="en-US" sz="1300" dirty="0">
                <a:solidFill>
                  <a:srgbClr val="4A5568"/>
                </a:solidFill>
              </a:rPr>
              <a:t>Adafruit SH110X  ←  จอของหุ่นตัวนี้</a:t>
            </a:r>
            <a:endParaRPr lang="en-US" sz="1300" dirty="0"/>
          </a:p>
          <a:p>
            <a:pPr algn="l" marL="342900" indent="-342900">
              <a:spcAft>
                <a:spcPts val="700"/>
              </a:spcAft>
              <a:buSzPct val="100000"/>
              <a:buChar char="•"/>
            </a:pPr>
            <a:r>
              <a:rPr lang="en-US" sz="1300" dirty="0">
                <a:solidFill>
                  <a:srgbClr val="4A5568"/>
                </a:solidFill>
              </a:rPr>
              <a:t>Adafruit SSD1306  ถ้าเปลี่ยนไปใช้จอ 0.96 นิ้ว</a:t>
            </a:r>
            <a:endParaRPr lang="en-US" sz="1300" dirty="0"/>
          </a:p>
        </p:txBody>
      </p:sp>
      <p:sp>
        <p:nvSpPr>
          <p:cNvPr id="14" name="sw-3"/>
          <p:cNvSpPr/>
          <p:nvPr/>
        </p:nvSpPr>
        <p:spPr>
          <a:xfrm>
            <a:off x="8168640" y="1371600"/>
            <a:ext cx="3444240" cy="3566160"/>
          </a:xfrm>
          <a:prstGeom prst="roundRect">
            <a:avLst>
              <a:gd name="adj" fmla="val 2655"/>
            </a:avLst>
          </a:prstGeom>
          <a:solidFill>
            <a:schemeClr val="tx1"/>
          </a:solidFill>
          <a:ln w="12700">
            <a:solidFill>
              <a:schemeClr val="tx1"/>
            </a:solidFill>
            <a:prstDash val="solid"/>
          </a:ln>
        </p:spPr>
      </p:sp>
      <p:sp>
        <p:nvSpPr>
          <p:cNvPr id="15" name="dot-3"/>
          <p:cNvSpPr/>
          <p:nvPr/>
        </p:nvSpPr>
        <p:spPr>
          <a:xfrm>
            <a:off x="8424672" y="1627632"/>
            <a:ext cx="475488" cy="475488"/>
          </a:xfrm>
          <a:prstGeom prst="ellipse">
            <a:avLst/>
          </a:prstGeom>
          <a:solidFill>
            <a:srgbClr val="E8803A"/>
          </a:solidFill>
          <a:ln w="12700">
            <a:solidFill>
              <a:srgbClr val="E8803A"/>
            </a:solidFill>
            <a:prstDash val="solid"/>
          </a:ln>
        </p:spPr>
      </p:sp>
      <p:sp>
        <p:nvSpPr>
          <p:cNvPr id="16" name="Text 14"/>
          <p:cNvSpPr txBox="1"/>
          <p:nvPr/>
        </p:nvSpPr>
        <p:spPr>
          <a:xfrm>
            <a:off x="8424672" y="1627632"/>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7" name="Text 15"/>
          <p:cNvSpPr txBox="1"/>
          <p:nvPr/>
        </p:nvSpPr>
        <p:spPr>
          <a:xfrm>
            <a:off x="8424672" y="2267712"/>
            <a:ext cx="2932176" cy="365760"/>
          </a:xfrm>
          <a:prstGeom prst="rect">
            <a:avLst/>
          </a:prstGeom>
          <a:noFill/>
          <a:ln/>
        </p:spPr>
        <p:txBody>
          <a:bodyPr wrap="square" lIns="0" tIns="0" rIns="0" bIns="0" rtlCol="0" anchor="t"/>
          <a:lstStyle/>
          <a:p>
            <a:pPr algn="l" indent="0" marL="0">
              <a:buNone/>
            </a:pPr>
            <a:r>
              <a:rPr lang="en-US" sz="1600" b="1" dirty="0">
                <a:solidFill>
                  <a:srgbClr val="FFFFFF"/>
                </a:solidFill>
              </a:rPr>
              <a:t>ของฝั่งเครื่อง PC</a:t>
            </a:r>
            <a:endParaRPr lang="en-US" sz="1600" dirty="0"/>
          </a:p>
        </p:txBody>
      </p:sp>
      <p:sp>
        <p:nvSpPr>
          <p:cNvPr id="18" name="Text 16"/>
          <p:cNvSpPr txBox="1"/>
          <p:nvPr/>
        </p:nvSpPr>
        <p:spPr>
          <a:xfrm>
            <a:off x="8424672" y="2697480"/>
            <a:ext cx="2932176" cy="822960"/>
          </a:xfrm>
          <a:prstGeom prst="rect">
            <a:avLst/>
          </a:prstGeom>
          <a:noFill/>
          <a:ln/>
        </p:spPr>
        <p:txBody>
          <a:bodyPr wrap="square" lIns="0" tIns="0" rIns="0" bIns="0" rtlCol="0" anchor="t"/>
          <a:lstStyle/>
          <a:p>
            <a:pPr algn="l" indent="0" marL="0">
              <a:lnSpc>
                <a:spcPct val="125000"/>
              </a:lnSpc>
              <a:buNone/>
            </a:pPr>
            <a:r>
              <a:rPr lang="en-US" sz="1300" dirty="0">
                <a:solidFill>
                  <a:srgbClr val="B9C6D4"/>
                </a:solidFill>
              </a:rPr>
              <a:t>ลง Python ก่อน แล้วสั่งติดตั้งไลบรารีสี่ตัวนี้ในหน้าต่าง Command Prompt</a:t>
            </a:r>
            <a:endParaRPr lang="en-US" sz="1300" dirty="0"/>
          </a:p>
        </p:txBody>
      </p:sp>
      <p:sp>
        <p:nvSpPr>
          <p:cNvPr id="19" name="Text 17"/>
          <p:cNvSpPr txBox="1"/>
          <p:nvPr/>
        </p:nvSpPr>
        <p:spPr>
          <a:xfrm>
            <a:off x="8424672" y="3611880"/>
            <a:ext cx="2932176" cy="1005840"/>
          </a:xfrm>
          <a:prstGeom prst="rect">
            <a:avLst/>
          </a:prstGeom>
          <a:noFill/>
          <a:ln/>
        </p:spPr>
        <p:txBody>
          <a:bodyPr wrap="square" lIns="0" tIns="0" rIns="0" bIns="0" rtlCol="0" anchor="t"/>
          <a:lstStyle/>
          <a:p>
            <a:pPr algn="l" indent="0" marL="0">
              <a:lnSpc>
                <a:spcPct val="120000"/>
              </a:lnSpc>
              <a:buNone/>
            </a:pPr>
            <a:r>
              <a:rPr lang="en-US" sz="1100" dirty="0">
                <a:solidFill>
                  <a:srgbClr val="E8803A"/>
                </a:solidFill>
                <a:latin typeface="Courier New" pitchFamily="34" charset="0"/>
                <a:ea typeface="Courier New" pitchFamily="34" charset="-122"/>
                <a:cs typeface="Courier New" pitchFamily="34" charset="-120"/>
              </a:rPr>
              <a:t>py -m pip install</a:t>
            </a:r>
            <a:endParaRPr lang="en-US" sz="1100" dirty="0"/>
          </a:p>
          <a:p>
            <a:pPr algn="l" indent="0" marL="0">
              <a:lnSpc>
                <a:spcPct val="120000"/>
              </a:lnSpc>
              <a:buNone/>
            </a:pPr>
            <a:r>
              <a:rPr lang="en-US" sz="1100" dirty="0">
                <a:solidFill>
                  <a:srgbClr val="E8803A"/>
                </a:solidFill>
                <a:latin typeface="Courier New" pitchFamily="34" charset="0"/>
                <a:ea typeface="Courier New" pitchFamily="34" charset="-122"/>
                <a:cs typeface="Courier New" pitchFamily="34" charset="-120"/>
              </a:rPr>
              <a:t>  opencv-python numpy</a:t>
            </a:r>
            <a:endParaRPr lang="en-US" sz="1100" dirty="0"/>
          </a:p>
          <a:p>
            <a:pPr algn="l" indent="0" marL="0">
              <a:lnSpc>
                <a:spcPct val="120000"/>
              </a:lnSpc>
              <a:buNone/>
            </a:pPr>
            <a:r>
              <a:rPr lang="en-US" sz="1100" dirty="0">
                <a:solidFill>
                  <a:srgbClr val="E8803A"/>
                </a:solidFill>
                <a:latin typeface="Courier New" pitchFamily="34" charset="0"/>
                <a:ea typeface="Courier New" pitchFamily="34" charset="-122"/>
                <a:cs typeface="Courier New" pitchFamily="34" charset="-120"/>
              </a:rPr>
              <a:t>  pyzbar requests</a:t>
            </a:r>
            <a:endParaRPr lang="en-US" sz="1100" dirty="0"/>
          </a:p>
        </p:txBody>
      </p:sp>
      <p:sp>
        <p:nvSpPr>
          <p:cNvPr id="20" name="callout"/>
          <p:cNvSpPr/>
          <p:nvPr/>
        </p:nvSpPr>
        <p:spPr>
          <a:xfrm>
            <a:off x="548640" y="5120640"/>
            <a:ext cx="11064240" cy="822960"/>
          </a:xfrm>
          <a:prstGeom prst="roundRect">
            <a:avLst>
              <a:gd name="adj" fmla="val 8889"/>
            </a:avLst>
          </a:prstGeom>
          <a:solidFill>
            <a:srgbClr val="FBEEEC"/>
          </a:solidFill>
          <a:ln w="12700">
            <a:solidFill>
              <a:srgbClr val="F0D3CE"/>
            </a:solidFill>
            <a:prstDash val="solid"/>
          </a:ln>
        </p:spPr>
      </p:sp>
      <p:sp>
        <p:nvSpPr>
          <p:cNvPr id="21" name="Text 19"/>
          <p:cNvSpPr txBox="1"/>
          <p:nvPr/>
        </p:nvSpPr>
        <p:spPr>
          <a:xfrm>
            <a:off x="777240" y="5248656"/>
            <a:ext cx="10607040" cy="274320"/>
          </a:xfrm>
          <a:prstGeom prst="rect">
            <a:avLst/>
          </a:prstGeom>
          <a:noFill/>
          <a:ln/>
        </p:spPr>
        <p:txBody>
          <a:bodyPr wrap="square" lIns="0" tIns="0" rIns="0" bIns="0" rtlCol="0" anchor="t"/>
          <a:lstStyle/>
          <a:p>
            <a:pPr algn="l" indent="0" marL="0">
              <a:buNone/>
            </a:pPr>
            <a:r>
              <a:rPr lang="en-US" sz="1400" b="1" dirty="0">
                <a:solidFill>
                  <a:srgbClr val="B3261E"/>
                </a:solidFill>
              </a:rPr>
              <a:t>จอ OLED มีสองชิปที่หน้าตาเหมือนกันเป๊ะ</a:t>
            </a:r>
            <a:endParaRPr lang="en-US" sz="1400" dirty="0"/>
          </a:p>
        </p:txBody>
      </p:sp>
      <p:sp>
        <p:nvSpPr>
          <p:cNvPr id="22" name="Text 20"/>
          <p:cNvSpPr txBox="1"/>
          <p:nvPr/>
        </p:nvSpPr>
        <p:spPr>
          <a:xfrm>
            <a:off x="777240" y="5559552"/>
            <a:ext cx="10607040" cy="256032"/>
          </a:xfrm>
          <a:prstGeom prst="rect">
            <a:avLst/>
          </a:prstGeom>
          <a:noFill/>
          <a:ln/>
        </p:spPr>
        <p:txBody>
          <a:bodyPr wrap="square" lIns="0" tIns="0" rIns="0" bIns="0" rtlCol="0" anchor="t"/>
          <a:lstStyle/>
          <a:p>
            <a:pPr algn="l" indent="0" marL="0">
              <a:lnSpc>
                <a:spcPct val="120000"/>
              </a:lnSpc>
              <a:buNone/>
            </a:pPr>
            <a:r>
              <a:rPr lang="en-US" sz="1250" dirty="0">
                <a:solidFill>
                  <a:srgbClr val="4A5568"/>
                </a:solidFill>
              </a:rPr>
              <a:t>จอของหุ่นตัวนี้เป็น SH1106 ถ้าลงไลบรารีผิดตัว ภาพจะอัดอยู่แถบบนสุดของจอ ส่วนที่เหลือเป็นจุดรบกวน</a:t>
            </a:r>
            <a:endParaRPr lang="en-US" sz="1250" dirty="0"/>
          </a:p>
        </p:txBody>
      </p:sp>
      <p:sp>
        <p:nvSpPr>
          <p:cNvPr id="25" name="Slide Number Placeholder 0"/>
          <p:cNvSpPr>
            <a:spLocks noGrp="1"/>
          </p:cNvSpPr>
          <p:nvPr>
            <p:ph type="sldNum" sz="quarter" idx="4294967295"/>
          </p:nvPr>
        </p:nvSpPr>
        <p:spPr>
          <a:xfrm>
            <a:off x="11338560" y="62636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E9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685800"/>
          </a:xfrm>
          <a:prstGeom prst="rect">
            <a:avLst/>
          </a:prstGeom>
          <a:noFill/>
          <a:ln/>
        </p:spPr>
        <p:txBody>
          <a:bodyPr wrap="square" rtlCol="0"/>
          <a:lstStyle/>
          <a:p>
            <a:pPr algn="l" indent="0" marL="0">
              <a:buNone/>
            </a:pPr>
            <a:r>
              <a:rPr lang="en-US" sz="3200" b="1" dirty="0">
                <a:solidFill>
                  <a:schemeClr val="tx1"/>
                </a:solidFill>
              </a:rPr>
              <a:t>ต่อสาย STM32</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583680" cy="914400"/>
        </p:xfrm>
        <a:graphic>
          <a:graphicData uri="http://schemas.openxmlformats.org/drawingml/2006/table">
            <a:tbl>
              <a:tblPr/>
              <a:tblGrid>
                <a:gridCol w="3931920"/>
                <a:gridCol w="2651760"/>
              </a:tblGrid>
              <a:tr h="0">
                <a:tc>
                  <a:txBody>
                    <a:bodyPr/>
                    <a:lstStyle/>
                    <a:p>
                      <a:pPr indent="0" marL="0">
                        <a:buNone/>
                      </a:pPr>
                      <a:r>
                        <a:rPr lang="en-US" sz="1300" b="1" dirty="0">
                          <a:solidFill>
                            <a:srgbClr val="FFFFFF"/>
                          </a:solidFill>
                        </a:rPr>
                        <a:t>หน้าที่</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16202E"/>
                    </a:solidFill>
                  </a:tcPr>
                </a:tc>
                <a:tc>
                  <a:txBody>
                    <a:bodyPr/>
                    <a:lstStyle/>
                    <a:p>
                      <a:pPr indent="0" marL="0">
                        <a:buNone/>
                      </a:pPr>
                      <a:r>
                        <a:rPr lang="en-US" sz="1300" b="1" dirty="0">
                          <a:solidFill>
                            <a:srgbClr val="FFFFFF"/>
                          </a:solidFill>
                        </a:rPr>
                        <a:t>ขา</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16202E"/>
                    </a:solidFill>
                  </a:tcPr>
                </a:tc>
              </a:tr>
              <a:tr h="0">
                <a:tc>
                  <a:txBody>
                    <a:bodyPr/>
                    <a:lstStyle/>
                    <a:p>
                      <a:pPr indent="0" marL="0">
                        <a:buNone/>
                      </a:pPr>
                      <a:r>
                        <a:rPr lang="en-US" sz="1300" b="1" dirty="0">
                          <a:solidFill>
                            <a:srgbClr val="16202E"/>
                          </a:solidFill>
                        </a:rPr>
                        <a:t>มอเตอร์ซ้าย  AIN1 / AIN2</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300" dirty="0">
                          <a:solidFill>
                            <a:srgbClr val="4A5568"/>
                          </a:solidFill>
                        </a:rPr>
                        <a:t>PA0 / PA1</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6202E"/>
                          </a:solidFill>
                        </a:rPr>
                        <a:t>มอเตอร์ขวา  BIN1 / BIN2</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300" dirty="0">
                          <a:solidFill>
                            <a:srgbClr val="4A5568"/>
                          </a:solidFill>
                        </a:rPr>
                        <a:t>PB0 / PB1</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6202E"/>
                          </a:solidFill>
                        </a:rPr>
                        <a:t>เซนเซอร์เส้น L2 L1 C R1 R2</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300" dirty="0">
                          <a:solidFill>
                            <a:srgbClr val="4A5568"/>
                          </a:solidFill>
                        </a:rPr>
                        <a:t>PB9 PB8 PB7 PB6 PB5</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6202E"/>
                          </a:solidFill>
                        </a:rPr>
                        <a:t>Serial2  จาก ESP32 รีโมท</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300" dirty="0">
                          <a:solidFill>
                            <a:srgbClr val="4A5568"/>
                          </a:solidFill>
                        </a:rPr>
                        <a:t>PA2 ส่ง / PA3 รับ</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6202E"/>
                          </a:solidFill>
                        </a:rPr>
                        <a:t>Serial3  จาก ESP32-CAM</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300" dirty="0">
                          <a:solidFill>
                            <a:srgbClr val="4A5568"/>
                          </a:solidFill>
                        </a:rPr>
                        <a:t>PB10 ส่ง / PB11 รับ</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3794760"/>
            <a:ext cx="6583680" cy="548640"/>
          </a:xfrm>
          <a:prstGeom prst="rect">
            <a:avLst/>
          </a:prstGeom>
          <a:noFill/>
          <a:ln/>
        </p:spPr>
        <p:txBody>
          <a:bodyPr wrap="square" lIns="0" tIns="0" rIns="0" bIns="0" rtlCol="0" anchor="t"/>
          <a:lstStyle/>
          <a:p>
            <a:pPr algn="l" indent="0" marL="0">
              <a:lnSpc>
                <a:spcPct val="120000"/>
              </a:lnSpc>
              <a:buNone/>
            </a:pPr>
            <a:r>
              <a:rPr lang="en-US" sz="1200" dirty="0">
                <a:solidFill>
                  <a:srgbClr val="6B7E93"/>
                </a:solidFill>
              </a:rPr>
              <a:t>ขาจริงของ Serial2 และ Serial3 ขึ้นกับบอร์ดและการตั้งค่าคอร์ ให้เช็กก่อนลงมือต่อสายทุกครั้ง</a:t>
            </a:r>
            <a:endParaRPr lang="en-US" sz="1200" dirty="0"/>
          </a:p>
        </p:txBody>
      </p:sp>
      <p:sp>
        <p:nvSpPr>
          <p:cNvPr id="5" name="card-สายสื่อสารต้อง"/>
          <p:cNvSpPr/>
          <p:nvPr/>
        </p:nvSpPr>
        <p:spPr>
          <a:xfrm>
            <a:off x="7406640" y="1371600"/>
            <a:ext cx="4206240" cy="1554480"/>
          </a:xfrm>
          <a:prstGeom prst="roundRect">
            <a:avLst>
              <a:gd name="adj" fmla="val 5882"/>
            </a:avLst>
          </a:prstGeom>
          <a:solidFill>
            <a:schemeClr val="bg2"/>
          </a:solidFill>
          <a:ln w="12700">
            <a:solidFill>
              <a:srgbClr val="D9E0E8"/>
            </a:solidFill>
            <a:prstDash val="solid"/>
          </a:ln>
        </p:spPr>
      </p:sp>
      <p:sp>
        <p:nvSpPr>
          <p:cNvPr id="6" name="Text 3"/>
          <p:cNvSpPr txBox="1"/>
          <p:nvPr/>
        </p:nvSpPr>
        <p:spPr>
          <a:xfrm>
            <a:off x="7662672" y="1554480"/>
            <a:ext cx="3694176" cy="365760"/>
          </a:xfrm>
          <a:prstGeom prst="rect">
            <a:avLst/>
          </a:prstGeom>
          <a:noFill/>
          <a:ln/>
        </p:spPr>
        <p:txBody>
          <a:bodyPr wrap="square" lIns="0" tIns="0" rIns="0" bIns="0" rtlCol="0" anchor="t"/>
          <a:lstStyle/>
          <a:p>
            <a:pPr algn="l" indent="0" marL="0">
              <a:buNone/>
            </a:pPr>
            <a:r>
              <a:rPr lang="en-US" sz="1600" b="1" dirty="0">
                <a:solidFill>
                  <a:srgbClr val="E8803A"/>
                </a:solidFill>
              </a:rPr>
              <a:t>สายสื่อสารต้องไขว้</a:t>
            </a:r>
            <a:endParaRPr lang="en-US" sz="1600" dirty="0"/>
          </a:p>
        </p:txBody>
      </p:sp>
      <p:sp>
        <p:nvSpPr>
          <p:cNvPr id="7" name="Text 4"/>
          <p:cNvSpPr txBox="1"/>
          <p:nvPr/>
        </p:nvSpPr>
        <p:spPr>
          <a:xfrm>
            <a:off x="7662672" y="2029968"/>
            <a:ext cx="3694176" cy="685800"/>
          </a:xfrm>
          <a:prstGeom prst="rect">
            <a:avLst/>
          </a:prstGeom>
          <a:noFill/>
          <a:ln/>
        </p:spPr>
        <p:txBody>
          <a:bodyPr wrap="square" lIns="0" tIns="0" rIns="0" bIns="0" rtlCol="0" anchor="t"/>
          <a:lstStyle/>
          <a:p>
            <a:pPr algn="l" indent="0" marL="0">
              <a:lnSpc>
                <a:spcPct val="125000"/>
              </a:lnSpc>
              <a:buNone/>
            </a:pPr>
            <a:r>
              <a:rPr lang="en-US" sz="1300" dirty="0">
                <a:solidFill>
                  <a:srgbClr val="4A5568"/>
                </a:solidFill>
              </a:rPr>
              <a:t>ขาส่งของฝั่งหนึ่งไปเข้าขารับของอีกฝั่งเสมอ และต้องต่อสาย GND ร่วมกันด้วย ไม่งั้นสัญญาณไม่มีจุดอ้างอิง</a:t>
            </a:r>
            <a:endParaRPr lang="en-US" sz="1300" dirty="0"/>
          </a:p>
        </p:txBody>
      </p:sp>
      <p:sp>
        <p:nvSpPr>
          <p:cNvPr id="8" name="card-เซนเซอร์เรียงจ"/>
          <p:cNvSpPr/>
          <p:nvPr/>
        </p:nvSpPr>
        <p:spPr>
          <a:xfrm>
            <a:off x="7406640" y="3154680"/>
            <a:ext cx="4206240" cy="1417320"/>
          </a:xfrm>
          <a:prstGeom prst="roundRect">
            <a:avLst>
              <a:gd name="adj" fmla="val 6452"/>
            </a:avLst>
          </a:prstGeom>
          <a:solidFill>
            <a:schemeClr val="bg2"/>
          </a:solidFill>
          <a:ln w="12700">
            <a:solidFill>
              <a:srgbClr val="D9E0E8"/>
            </a:solidFill>
            <a:prstDash val="solid"/>
          </a:ln>
        </p:spPr>
      </p:sp>
      <p:sp>
        <p:nvSpPr>
          <p:cNvPr id="9" name="Text 6"/>
          <p:cNvSpPr txBox="1"/>
          <p:nvPr/>
        </p:nvSpPr>
        <p:spPr>
          <a:xfrm>
            <a:off x="7662672" y="3337560"/>
            <a:ext cx="3694176" cy="365760"/>
          </a:xfrm>
          <a:prstGeom prst="rect">
            <a:avLst/>
          </a:prstGeom>
          <a:noFill/>
          <a:ln/>
        </p:spPr>
        <p:txBody>
          <a:bodyPr wrap="square" lIns="0" tIns="0" rIns="0" bIns="0" rtlCol="0" anchor="t"/>
          <a:lstStyle/>
          <a:p>
            <a:pPr algn="l" indent="0" marL="0">
              <a:buNone/>
            </a:pPr>
            <a:r>
              <a:rPr lang="en-US" sz="1600" b="1" dirty="0">
                <a:solidFill>
                  <a:srgbClr val="1C7293"/>
                </a:solidFill>
              </a:rPr>
              <a:t>เซนเซอร์เรียงจากซ้ายไปขวา</a:t>
            </a:r>
            <a:endParaRPr lang="en-US" sz="1600" dirty="0"/>
          </a:p>
        </p:txBody>
      </p:sp>
      <p:sp>
        <p:nvSpPr>
          <p:cNvPr id="10" name="Text 7"/>
          <p:cNvSpPr txBox="1"/>
          <p:nvPr/>
        </p:nvSpPr>
        <p:spPr>
          <a:xfrm>
            <a:off x="7662672" y="3813048"/>
            <a:ext cx="3694176" cy="548640"/>
          </a:xfrm>
          <a:prstGeom prst="rect">
            <a:avLst/>
          </a:prstGeom>
          <a:noFill/>
          <a:ln/>
        </p:spPr>
        <p:txBody>
          <a:bodyPr wrap="square" lIns="0" tIns="0" rIns="0" bIns="0" rtlCol="0" anchor="t"/>
          <a:lstStyle/>
          <a:p>
            <a:pPr algn="l" indent="0" marL="0">
              <a:lnSpc>
                <a:spcPct val="125000"/>
              </a:lnSpc>
              <a:buNone/>
            </a:pPr>
            <a:r>
              <a:rPr lang="en-US" sz="1300" dirty="0">
                <a:solidFill>
                  <a:srgbClr val="4A5568"/>
                </a:solidFill>
              </a:rPr>
              <a:t>L2 คือซ้ายสุด R2 คือขวาสุด สลับลำดับแล้วหุ่นจะเลี้ยวออกจากเส้นแทนที่จะเลี้ยวเข้า</a:t>
            </a:r>
            <a:endParaRPr lang="en-US" sz="1300" dirty="0"/>
          </a:p>
        </p:txBody>
      </p:sp>
      <p:sp>
        <p:nvSpPr>
          <p:cNvPr id="11" name="callout"/>
          <p:cNvSpPr/>
          <p:nvPr/>
        </p:nvSpPr>
        <p:spPr>
          <a:xfrm>
            <a:off x="548640" y="5120640"/>
            <a:ext cx="11064240" cy="822960"/>
          </a:xfrm>
          <a:prstGeom prst="roundRect">
            <a:avLst>
              <a:gd name="adj" fmla="val 8889"/>
            </a:avLst>
          </a:prstGeom>
          <a:solidFill>
            <a:srgbClr val="FBEEEC"/>
          </a:solidFill>
          <a:ln w="12700">
            <a:solidFill>
              <a:srgbClr val="F0D3CE"/>
            </a:solidFill>
            <a:prstDash val="solid"/>
          </a:ln>
        </p:spPr>
      </p:sp>
      <p:sp>
        <p:nvSpPr>
          <p:cNvPr id="12" name="Text 9"/>
          <p:cNvSpPr txBox="1"/>
          <p:nvPr/>
        </p:nvSpPr>
        <p:spPr>
          <a:xfrm>
            <a:off x="777240" y="5248656"/>
            <a:ext cx="10607040" cy="274320"/>
          </a:xfrm>
          <a:prstGeom prst="rect">
            <a:avLst/>
          </a:prstGeom>
          <a:noFill/>
          <a:ln/>
        </p:spPr>
        <p:txBody>
          <a:bodyPr wrap="square" lIns="0" tIns="0" rIns="0" bIns="0" rtlCol="0" anchor="t"/>
          <a:lstStyle/>
          <a:p>
            <a:pPr algn="l" indent="0" marL="0">
              <a:buNone/>
            </a:pPr>
            <a:r>
              <a:rPr lang="en-US" sz="1400" b="1" dirty="0">
                <a:solidFill>
                  <a:srgbClr val="B3261E"/>
                </a:solidFill>
              </a:rPr>
              <a:t>ห้ามสลับคู่ขามอเตอร์ในฟังก์ชัน setSpeed</a:t>
            </a:r>
            <a:endParaRPr lang="en-US" sz="1400" dirty="0"/>
          </a:p>
        </p:txBody>
      </p:sp>
      <p:sp>
        <p:nvSpPr>
          <p:cNvPr id="13" name="Text 10"/>
          <p:cNvSpPr txBox="1"/>
          <p:nvPr/>
        </p:nvSpPr>
        <p:spPr>
          <a:xfrm>
            <a:off x="777240" y="5559552"/>
            <a:ext cx="10607040" cy="256032"/>
          </a:xfrm>
          <a:prstGeom prst="rect">
            <a:avLst/>
          </a:prstGeom>
          <a:noFill/>
          <a:ln/>
        </p:spPr>
        <p:txBody>
          <a:bodyPr wrap="square" lIns="0" tIns="0" rIns="0" bIns="0" rtlCol="0" anchor="t"/>
          <a:lstStyle/>
          <a:p>
            <a:pPr algn="l" indent="0" marL="0">
              <a:lnSpc>
                <a:spcPct val="120000"/>
              </a:lnSpc>
              <a:buNone/>
            </a:pPr>
            <a:r>
              <a:rPr lang="en-US" sz="1250" dirty="0">
                <a:solidFill>
                  <a:srgbClr val="4A5568"/>
                </a:solidFill>
              </a:rPr>
              <a:t>สลับแล้วมอเตอร์กลับทิศทั้งคู่ เดินหน้ากลายเป็นถอยหลัง ซ้ายกลายเป็นขวา และหุ่นจะวิ่งหนีออกจากเส้น</a:t>
            </a:r>
            <a:endParaRPr lang="en-US" sz="1250" dirty="0"/>
          </a:p>
        </p:txBody>
      </p:sp>
      <p:sp>
        <p:nvSpPr>
          <p:cNvPr id="25" name="Slide Number Placeholder 0"/>
          <p:cNvSpPr>
            <a:spLocks noGrp="1"/>
          </p:cNvSpPr>
          <p:nvPr>
            <p:ph type="sldNum" sz="quarter" idx="4294967295"/>
          </p:nvPr>
        </p:nvSpPr>
        <p:spPr>
          <a:xfrm>
            <a:off x="11338560" y="62636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E9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685800"/>
          </a:xfrm>
          <a:prstGeom prst="rect">
            <a:avLst/>
          </a:prstGeom>
          <a:noFill/>
          <a:ln/>
        </p:spPr>
        <p:txBody>
          <a:bodyPr wrap="square" rtlCol="0"/>
          <a:lstStyle/>
          <a:p>
            <a:pPr algn="l" indent="0" marL="0">
              <a:buNone/>
            </a:pPr>
            <a:r>
              <a:rPr lang="en-US" sz="3200" b="1" dirty="0">
                <a:solidFill>
                  <a:schemeClr val="tx1"/>
                </a:solidFill>
              </a:rPr>
              <a:t>ต่อสาย ESP32 และ ESP32-CAM</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583680" cy="914400"/>
        </p:xfrm>
        <a:graphic>
          <a:graphicData uri="http://schemas.openxmlformats.org/drawingml/2006/table">
            <a:tbl>
              <a:tblPr/>
              <a:tblGrid>
                <a:gridCol w="4206240"/>
                <a:gridCol w="2377440"/>
              </a:tblGrid>
              <a:tr h="0">
                <a:tc>
                  <a:txBody>
                    <a:bodyPr/>
                    <a:lstStyle/>
                    <a:p>
                      <a:pPr indent="0" marL="0">
                        <a:buNone/>
                      </a:pPr>
                      <a:r>
                        <a:rPr lang="en-US" sz="1300" b="1" dirty="0">
                          <a:solidFill>
                            <a:srgbClr val="FFFFFF"/>
                          </a:solidFill>
                        </a:rPr>
                        <a:t>หน้าที่</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16202E"/>
                    </a:solidFill>
                  </a:tcPr>
                </a:tc>
                <a:tc>
                  <a:txBody>
                    <a:bodyPr/>
                    <a:lstStyle/>
                    <a:p>
                      <a:pPr indent="0" marL="0">
                        <a:buNone/>
                      </a:pPr>
                      <a:r>
                        <a:rPr lang="en-US" sz="1300" b="1" dirty="0">
                          <a:solidFill>
                            <a:srgbClr val="FFFFFF"/>
                          </a:solidFill>
                        </a:rPr>
                        <a:t>ขา</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16202E"/>
                    </a:solidFill>
                  </a:tcPr>
                </a:tc>
              </a:tr>
              <a:tr h="0">
                <a:tc>
                  <a:txBody>
                    <a:bodyPr/>
                    <a:lstStyle/>
                    <a:p>
                      <a:pPr indent="0" marL="0">
                        <a:buNone/>
                      </a:pPr>
                      <a:r>
                        <a:rPr lang="en-US" sz="1300" b="1" dirty="0">
                          <a:solidFill>
                            <a:srgbClr val="16202E"/>
                          </a:solidFill>
                        </a:rPr>
                        <a:t>จอ OLED  SDA</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300" dirty="0">
                          <a:solidFill>
                            <a:srgbClr val="4A5568"/>
                          </a:solidFill>
                        </a:rPr>
                        <a:t>GPIO21</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6202E"/>
                          </a:solidFill>
                        </a:rPr>
                        <a:t>จอ OLED  SCL</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300" dirty="0">
                          <a:solidFill>
                            <a:srgbClr val="4A5568"/>
                          </a:solidFill>
                        </a:rPr>
                        <a:t>GPIO22</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6202E"/>
                          </a:solidFill>
                        </a:rPr>
                        <a:t>ไป STM32 Serial2 รับ (PA3)</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300" dirty="0">
                          <a:solidFill>
                            <a:srgbClr val="4A5568"/>
                          </a:solidFill>
                        </a:rPr>
                        <a:t>GPIO17 ส่ง</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6202E"/>
                          </a:solidFill>
                        </a:rPr>
                        <a:t>จาก STM32 Serial2 ส่ง (PA2)</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300" dirty="0">
                          <a:solidFill>
                            <a:srgbClr val="4A5568"/>
                          </a:solidFill>
                        </a:rPr>
                        <a:t>GPIO16 รับ</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6202E"/>
                          </a:solidFill>
                        </a:rPr>
                        <a:t>CAM ไป STM32 Serial3 รับ (PB11)</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300" dirty="0">
                          <a:solidFill>
                            <a:srgbClr val="4A5568"/>
                          </a:solidFill>
                        </a:rPr>
                        <a:t>GPIO14 ส่ง</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3794760"/>
            <a:ext cx="6583680" cy="548640"/>
          </a:xfrm>
          <a:prstGeom prst="rect">
            <a:avLst/>
          </a:prstGeom>
          <a:noFill/>
          <a:ln/>
        </p:spPr>
        <p:txBody>
          <a:bodyPr wrap="square" lIns="0" tIns="0" rIns="0" bIns="0" rtlCol="0" anchor="t"/>
          <a:lstStyle/>
          <a:p>
            <a:pPr algn="l" indent="0" marL="0">
              <a:lnSpc>
                <a:spcPct val="120000"/>
              </a:lnSpc>
              <a:buNone/>
            </a:pPr>
            <a:r>
              <a:rPr lang="en-US" sz="1200" dirty="0">
                <a:solidFill>
                  <a:srgbClr val="6B7E93"/>
                </a:solidFill>
              </a:rPr>
              <a:t>ESP32-CAM ต่อเข้า Serial3 ของ STM32 คนละช่องกับรีโมท ทั้งสองบอร์ดจึงสั่งงานหุ่นได้พร้อมกัน</a:t>
            </a:r>
            <a:endParaRPr lang="en-US" sz="1200" dirty="0"/>
          </a:p>
        </p:txBody>
      </p:sp>
      <p:sp>
        <p:nvSpPr>
          <p:cNvPr id="5" name="card-จอ OLED ใช้แอด"/>
          <p:cNvSpPr/>
          <p:nvPr/>
        </p:nvSpPr>
        <p:spPr>
          <a:xfrm>
            <a:off x="7406640" y="1371600"/>
            <a:ext cx="4206240" cy="1554480"/>
          </a:xfrm>
          <a:prstGeom prst="roundRect">
            <a:avLst>
              <a:gd name="adj" fmla="val 5882"/>
            </a:avLst>
          </a:prstGeom>
          <a:solidFill>
            <a:schemeClr val="bg2"/>
          </a:solidFill>
          <a:ln w="12700">
            <a:solidFill>
              <a:srgbClr val="D9E0E8"/>
            </a:solidFill>
            <a:prstDash val="solid"/>
          </a:ln>
        </p:spPr>
      </p:sp>
      <p:sp>
        <p:nvSpPr>
          <p:cNvPr id="6" name="Text 3"/>
          <p:cNvSpPr txBox="1"/>
          <p:nvPr/>
        </p:nvSpPr>
        <p:spPr>
          <a:xfrm>
            <a:off x="7662672" y="1554480"/>
            <a:ext cx="3694176" cy="365760"/>
          </a:xfrm>
          <a:prstGeom prst="rect">
            <a:avLst/>
          </a:prstGeom>
          <a:noFill/>
          <a:ln/>
        </p:spPr>
        <p:txBody>
          <a:bodyPr wrap="square" lIns="0" tIns="0" rIns="0" bIns="0" rtlCol="0" anchor="t"/>
          <a:lstStyle/>
          <a:p>
            <a:pPr algn="l" indent="0" marL="0">
              <a:buNone/>
            </a:pPr>
            <a:r>
              <a:rPr lang="en-US" sz="1600" b="1" dirty="0">
                <a:solidFill>
                  <a:srgbClr val="E8803A"/>
                </a:solidFill>
              </a:rPr>
              <a:t>จอ OLED ใช้แอดเดรส 0x3C</a:t>
            </a:r>
            <a:endParaRPr lang="en-US" sz="1600" dirty="0"/>
          </a:p>
        </p:txBody>
      </p:sp>
      <p:sp>
        <p:nvSpPr>
          <p:cNvPr id="7" name="Text 4"/>
          <p:cNvSpPr txBox="1"/>
          <p:nvPr/>
        </p:nvSpPr>
        <p:spPr>
          <a:xfrm>
            <a:off x="7662672" y="2029968"/>
            <a:ext cx="3694176" cy="685800"/>
          </a:xfrm>
          <a:prstGeom prst="rect">
            <a:avLst/>
          </a:prstGeom>
          <a:noFill/>
          <a:ln/>
        </p:spPr>
        <p:txBody>
          <a:bodyPr wrap="square" lIns="0" tIns="0" rIns="0" bIns="0" rtlCol="0" anchor="t"/>
          <a:lstStyle/>
          <a:p>
            <a:pPr algn="l" indent="0" marL="0">
              <a:lnSpc>
                <a:spcPct val="125000"/>
              </a:lnSpc>
              <a:buNone/>
            </a:pPr>
            <a:r>
              <a:rPr lang="en-US" sz="1300" dirty="0">
                <a:solidFill>
                  <a:srgbClr val="4A5568"/>
                </a:solidFill>
              </a:rPr>
              <a:t>เป็นจอ I2C ขนาด 128x64 ถ้าโมดูลของคุณใช้ 0x3D ให้แก้ค่า OLED_ADDR ในโค้ด</a:t>
            </a:r>
            <a:endParaRPr lang="en-US" sz="1300" dirty="0"/>
          </a:p>
        </p:txBody>
      </p:sp>
      <p:sp>
        <p:nvSpPr>
          <p:cNvPr id="8" name="card-จอหายไปก็ยังวิ"/>
          <p:cNvSpPr/>
          <p:nvPr/>
        </p:nvSpPr>
        <p:spPr>
          <a:xfrm>
            <a:off x="7406640" y="3154680"/>
            <a:ext cx="4206240" cy="1417320"/>
          </a:xfrm>
          <a:prstGeom prst="roundRect">
            <a:avLst>
              <a:gd name="adj" fmla="val 6452"/>
            </a:avLst>
          </a:prstGeom>
          <a:solidFill>
            <a:schemeClr val="bg2"/>
          </a:solidFill>
          <a:ln w="12700">
            <a:solidFill>
              <a:srgbClr val="D9E0E8"/>
            </a:solidFill>
            <a:prstDash val="solid"/>
          </a:ln>
        </p:spPr>
      </p:sp>
      <p:sp>
        <p:nvSpPr>
          <p:cNvPr id="9" name="Text 6"/>
          <p:cNvSpPr txBox="1"/>
          <p:nvPr/>
        </p:nvSpPr>
        <p:spPr>
          <a:xfrm>
            <a:off x="7662672" y="3337560"/>
            <a:ext cx="3694176" cy="365760"/>
          </a:xfrm>
          <a:prstGeom prst="rect">
            <a:avLst/>
          </a:prstGeom>
          <a:noFill/>
          <a:ln/>
        </p:spPr>
        <p:txBody>
          <a:bodyPr wrap="square" lIns="0" tIns="0" rIns="0" bIns="0" rtlCol="0" anchor="t"/>
          <a:lstStyle/>
          <a:p>
            <a:pPr algn="l" indent="0" marL="0">
              <a:buNone/>
            </a:pPr>
            <a:r>
              <a:rPr lang="en-US" sz="1600" b="1" dirty="0">
                <a:solidFill>
                  <a:srgbClr val="1C7293"/>
                </a:solidFill>
              </a:rPr>
              <a:t>จอหายไปก็ยังวิ่งได้</a:t>
            </a:r>
            <a:endParaRPr lang="en-US" sz="1600" dirty="0"/>
          </a:p>
        </p:txBody>
      </p:sp>
      <p:sp>
        <p:nvSpPr>
          <p:cNvPr id="10" name="Text 7"/>
          <p:cNvSpPr txBox="1"/>
          <p:nvPr/>
        </p:nvSpPr>
        <p:spPr>
          <a:xfrm>
            <a:off x="7662672" y="3813048"/>
            <a:ext cx="3694176" cy="548640"/>
          </a:xfrm>
          <a:prstGeom prst="rect">
            <a:avLst/>
          </a:prstGeom>
          <a:noFill/>
          <a:ln/>
        </p:spPr>
        <p:txBody>
          <a:bodyPr wrap="square" lIns="0" tIns="0" rIns="0" bIns="0" rtlCol="0" anchor="t"/>
          <a:lstStyle/>
          <a:p>
            <a:pPr algn="l" indent="0" marL="0">
              <a:lnSpc>
                <a:spcPct val="125000"/>
              </a:lnSpc>
              <a:buNone/>
            </a:pPr>
            <a:r>
              <a:rPr lang="en-US" sz="1300" dirty="0">
                <a:solidFill>
                  <a:srgbClr val="4A5568"/>
                </a:solidFill>
              </a:rPr>
              <a:t>ถ้าหาจอไม่เจอ โปรแกรมจะข้ามส่วนวาดจอไป ส่วนอื่นทั้งหมดยังทำงานปกติ</a:t>
            </a:r>
            <a:endParaRPr lang="en-US" sz="1300" dirty="0"/>
          </a:p>
        </p:txBody>
      </p:sp>
      <p:sp>
        <p:nvSpPr>
          <p:cNvPr id="11" name="callout"/>
          <p:cNvSpPr/>
          <p:nvPr/>
        </p:nvSpPr>
        <p:spPr>
          <a:xfrm>
            <a:off x="548640" y="5120640"/>
            <a:ext cx="11064240" cy="822960"/>
          </a:xfrm>
          <a:prstGeom prst="roundRect">
            <a:avLst>
              <a:gd name="adj" fmla="val 8889"/>
            </a:avLst>
          </a:prstGeom>
          <a:solidFill>
            <a:srgbClr val="FBEEEC"/>
          </a:solidFill>
          <a:ln w="12700">
            <a:solidFill>
              <a:srgbClr val="F0D3CE"/>
            </a:solidFill>
            <a:prstDash val="solid"/>
          </a:ln>
        </p:spPr>
      </p:sp>
      <p:sp>
        <p:nvSpPr>
          <p:cNvPr id="12" name="Text 9"/>
          <p:cNvSpPr txBox="1"/>
          <p:nvPr/>
        </p:nvSpPr>
        <p:spPr>
          <a:xfrm>
            <a:off x="777240" y="5248656"/>
            <a:ext cx="10607040" cy="274320"/>
          </a:xfrm>
          <a:prstGeom prst="rect">
            <a:avLst/>
          </a:prstGeom>
          <a:noFill/>
          <a:ln/>
        </p:spPr>
        <p:txBody>
          <a:bodyPr wrap="square" lIns="0" tIns="0" rIns="0" bIns="0" rtlCol="0" anchor="t"/>
          <a:lstStyle/>
          <a:p>
            <a:pPr algn="l" indent="0" marL="0">
              <a:buNone/>
            </a:pPr>
            <a:r>
              <a:rPr lang="en-US" sz="1400" b="1" dirty="0">
                <a:solidFill>
                  <a:srgbClr val="B3261E"/>
                </a:solidFill>
              </a:rPr>
              <a:t>แนะนำให้บัดกรีสี่จุดของจอ ไม่ใช่เสียบสายแพ</a:t>
            </a:r>
            <a:endParaRPr lang="en-US" sz="1400" dirty="0"/>
          </a:p>
        </p:txBody>
      </p:sp>
      <p:sp>
        <p:nvSpPr>
          <p:cNvPr id="13" name="Text 10"/>
          <p:cNvSpPr txBox="1"/>
          <p:nvPr/>
        </p:nvSpPr>
        <p:spPr>
          <a:xfrm>
            <a:off x="777240" y="5559552"/>
            <a:ext cx="10607040" cy="256032"/>
          </a:xfrm>
          <a:prstGeom prst="rect">
            <a:avLst/>
          </a:prstGeom>
          <a:noFill/>
          <a:ln/>
        </p:spPr>
        <p:txBody>
          <a:bodyPr wrap="square" lIns="0" tIns="0" rIns="0" bIns="0" rtlCol="0" anchor="t"/>
          <a:lstStyle/>
          <a:p>
            <a:pPr algn="l" indent="0" marL="0">
              <a:lnSpc>
                <a:spcPct val="120000"/>
              </a:lnSpc>
              <a:buNone/>
            </a:pPr>
            <a:r>
              <a:rPr lang="en-US" sz="1250" dirty="0">
                <a:solidFill>
                  <a:srgbClr val="4A5568"/>
                </a:solidFill>
              </a:rPr>
              <a:t>สายหลวมทำให้สัญญาณขาดกลางเฟรม จอจะค้างดำทั้งที่โค้ดทำงานถูกต้อง และเป็นอาการที่หาต้นตอยากที่สุด</a:t>
            </a:r>
            <a:endParaRPr lang="en-US" sz="1250" dirty="0"/>
          </a:p>
        </p:txBody>
      </p:sp>
      <p:sp>
        <p:nvSpPr>
          <p:cNvPr id="25" name="Slide Number Placeholder 0"/>
          <p:cNvSpPr>
            <a:spLocks noGrp="1"/>
          </p:cNvSpPr>
          <p:nvPr>
            <p:ph type="sldNum" sz="quarter" idx="4294967295"/>
          </p:nvPr>
        </p:nvSpPr>
        <p:spPr>
          <a:xfrm>
            <a:off x="11338560" y="62636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E9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685800"/>
          </a:xfrm>
          <a:prstGeom prst="rect">
            <a:avLst/>
          </a:prstGeom>
          <a:noFill/>
          <a:ln/>
        </p:spPr>
        <p:txBody>
          <a:bodyPr wrap="square" rtlCol="0"/>
          <a:lstStyle/>
          <a:p>
            <a:pPr algn="l" indent="0" marL="0">
              <a:buNone/>
            </a:pPr>
            <a:r>
              <a:rPr lang="en-US" sz="3200" b="1" dirty="0">
                <a:solidFill>
                  <a:schemeClr val="tx1"/>
                </a:solidFill>
              </a:rPr>
              <a:t>เตรียม ST-Link สำหรับอัป STM32</a:t>
            </a:r>
            <a:endParaRPr lang="en-US" sz="3200" dirty="0"/>
          </a:p>
        </p:txBody>
      </p:sp>
      <p:sp>
        <p:nvSpPr>
          <p:cNvPr id="3" name="dot-1"/>
          <p:cNvSpPr/>
          <p:nvPr/>
        </p:nvSpPr>
        <p:spPr>
          <a:xfrm>
            <a:off x="548640" y="1463040"/>
            <a:ext cx="475488" cy="475488"/>
          </a:xfrm>
          <a:prstGeom prst="ellipse">
            <a:avLst/>
          </a:prstGeom>
          <a:solidFill>
            <a:srgbClr val="E8803A"/>
          </a:solidFill>
          <a:ln w="12700">
            <a:solidFill>
              <a:srgbClr val="E8803A"/>
            </a:solidFill>
            <a:prstDash val="solid"/>
          </a:ln>
        </p:spPr>
      </p:sp>
      <p:sp>
        <p:nvSpPr>
          <p:cNvPr id="4" name="Text 2"/>
          <p:cNvSpPr txBox="1"/>
          <p:nvPr/>
        </p:nvSpPr>
        <p:spPr>
          <a:xfrm>
            <a:off x="548640" y="146304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5" name="Text 3"/>
          <p:cNvSpPr txBox="1"/>
          <p:nvPr/>
        </p:nvSpPr>
        <p:spPr>
          <a:xfrm>
            <a:off x="1207008" y="1444752"/>
            <a:ext cx="4553712" cy="301752"/>
          </a:xfrm>
          <a:prstGeom prst="rect">
            <a:avLst/>
          </a:prstGeom>
          <a:noFill/>
          <a:ln/>
        </p:spPr>
        <p:txBody>
          <a:bodyPr wrap="square" lIns="0" tIns="0" rIns="0" bIns="0" rtlCol="0" anchor="t"/>
          <a:lstStyle/>
          <a:p>
            <a:pPr algn="l" indent="0" marL="0">
              <a:buNone/>
            </a:pPr>
            <a:r>
              <a:rPr lang="en-US" sz="1600" b="1" dirty="0">
                <a:solidFill>
                  <a:schemeClr val="tx1"/>
                </a:solidFill>
              </a:rPr>
              <a:t>ลง STM32CubeProgrammer</a:t>
            </a:r>
            <a:endParaRPr lang="en-US" sz="1600" dirty="0"/>
          </a:p>
        </p:txBody>
      </p:sp>
      <p:sp>
        <p:nvSpPr>
          <p:cNvPr id="6" name="Text 4"/>
          <p:cNvSpPr txBox="1"/>
          <p:nvPr/>
        </p:nvSpPr>
        <p:spPr>
          <a:xfrm>
            <a:off x="1207008" y="1773936"/>
            <a:ext cx="4553712" cy="822960"/>
          </a:xfrm>
          <a:prstGeom prst="rect">
            <a:avLst/>
          </a:prstGeom>
          <a:noFill/>
          <a:ln/>
        </p:spPr>
        <p:txBody>
          <a:bodyPr wrap="square" lIns="0" tIns="0" rIns="0" bIns="0" rtlCol="0" anchor="t"/>
          <a:lstStyle/>
          <a:p>
            <a:pPr algn="l" indent="0" marL="0">
              <a:lnSpc>
                <a:spcPct val="125000"/>
              </a:lnSpc>
              <a:buNone/>
            </a:pPr>
            <a:r>
              <a:rPr lang="en-US" sz="1300" dirty="0">
                <a:solidFill>
                  <a:srgbClr val="4A5568"/>
                </a:solidFill>
              </a:rPr>
              <a:t>โหลดจากเว็บ ST ต้องสมัครบัญชีฟรีก่อน  ลงแบบ default ไม่ต้องเปลี่ยน path  ไดรเวอร์ของ ST-Link มากับตัวนี้ด้วย</a:t>
            </a:r>
            <a:endParaRPr lang="en-US" sz="1300" dirty="0"/>
          </a:p>
        </p:txBody>
      </p:sp>
      <p:sp>
        <p:nvSpPr>
          <p:cNvPr id="7" name="dot-2"/>
          <p:cNvSpPr/>
          <p:nvPr/>
        </p:nvSpPr>
        <p:spPr>
          <a:xfrm>
            <a:off x="548640" y="2697480"/>
            <a:ext cx="475488" cy="475488"/>
          </a:xfrm>
          <a:prstGeom prst="ellipse">
            <a:avLst/>
          </a:prstGeom>
          <a:solidFill>
            <a:srgbClr val="E8803A"/>
          </a:solidFill>
          <a:ln w="12700">
            <a:solidFill>
              <a:srgbClr val="E8803A"/>
            </a:solidFill>
            <a:prstDash val="solid"/>
          </a:ln>
        </p:spPr>
      </p:sp>
      <p:sp>
        <p:nvSpPr>
          <p:cNvPr id="8" name="Text 6"/>
          <p:cNvSpPr txBox="1"/>
          <p:nvPr/>
        </p:nvSpPr>
        <p:spPr>
          <a:xfrm>
            <a:off x="548640" y="269748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9" name="Text 7"/>
          <p:cNvSpPr txBox="1"/>
          <p:nvPr/>
        </p:nvSpPr>
        <p:spPr>
          <a:xfrm>
            <a:off x="1207008" y="2679192"/>
            <a:ext cx="4553712" cy="301752"/>
          </a:xfrm>
          <a:prstGeom prst="rect">
            <a:avLst/>
          </a:prstGeom>
          <a:noFill/>
          <a:ln/>
        </p:spPr>
        <p:txBody>
          <a:bodyPr wrap="square" lIns="0" tIns="0" rIns="0" bIns="0" rtlCol="0" anchor="t"/>
          <a:lstStyle/>
          <a:p>
            <a:pPr algn="l" indent="0" marL="0">
              <a:buNone/>
            </a:pPr>
            <a:r>
              <a:rPr lang="en-US" sz="1600" b="1" dirty="0">
                <a:solidFill>
                  <a:schemeClr val="tx1"/>
                </a:solidFill>
              </a:rPr>
              <a:t>ต่อสาย 4 เส้น</a:t>
            </a:r>
            <a:endParaRPr lang="en-US" sz="1600" dirty="0"/>
          </a:p>
        </p:txBody>
      </p:sp>
      <p:sp>
        <p:nvSpPr>
          <p:cNvPr id="10" name="Text 8"/>
          <p:cNvSpPr txBox="1"/>
          <p:nvPr/>
        </p:nvSpPr>
        <p:spPr>
          <a:xfrm>
            <a:off x="1207008" y="3008376"/>
            <a:ext cx="4553712" cy="822960"/>
          </a:xfrm>
          <a:prstGeom prst="rect">
            <a:avLst/>
          </a:prstGeom>
          <a:noFill/>
          <a:ln/>
        </p:spPr>
        <p:txBody>
          <a:bodyPr wrap="square" lIns="0" tIns="0" rIns="0" bIns="0" rtlCol="0" anchor="t"/>
          <a:lstStyle/>
          <a:p>
            <a:pPr algn="l" indent="0" marL="0">
              <a:lnSpc>
                <a:spcPct val="125000"/>
              </a:lnSpc>
              <a:buNone/>
            </a:pPr>
            <a:r>
              <a:rPr lang="en-US" sz="1300" dirty="0">
                <a:solidFill>
                  <a:srgbClr val="4A5568"/>
                </a:solidFill>
              </a:rPr>
              <a:t>ตามตารางด้านขวา  จับคู่ตามชื่อที่พิมพ์บนตัว ST-Link อย่าดูตามเลขพิน เพราะของแต่ละล็อตสลับตำแหน่งกัน</a:t>
            </a:r>
            <a:endParaRPr lang="en-US" sz="1300" dirty="0"/>
          </a:p>
        </p:txBody>
      </p:sp>
      <p:sp>
        <p:nvSpPr>
          <p:cNvPr id="11" name="dot-3"/>
          <p:cNvSpPr/>
          <p:nvPr/>
        </p:nvSpPr>
        <p:spPr>
          <a:xfrm>
            <a:off x="548640" y="3931920"/>
            <a:ext cx="475488" cy="475488"/>
          </a:xfrm>
          <a:prstGeom prst="ellipse">
            <a:avLst/>
          </a:prstGeom>
          <a:solidFill>
            <a:srgbClr val="E8803A"/>
          </a:solidFill>
          <a:ln w="12700">
            <a:solidFill>
              <a:srgbClr val="E8803A"/>
            </a:solidFill>
            <a:prstDash val="solid"/>
          </a:ln>
        </p:spPr>
      </p:sp>
      <p:sp>
        <p:nvSpPr>
          <p:cNvPr id="12" name="Text 10"/>
          <p:cNvSpPr txBox="1"/>
          <p:nvPr/>
        </p:nvSpPr>
        <p:spPr>
          <a:xfrm>
            <a:off x="548640" y="393192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3" name="Text 11"/>
          <p:cNvSpPr txBox="1"/>
          <p:nvPr/>
        </p:nvSpPr>
        <p:spPr>
          <a:xfrm>
            <a:off x="1207008" y="3913632"/>
            <a:ext cx="4553712" cy="301752"/>
          </a:xfrm>
          <a:prstGeom prst="rect">
            <a:avLst/>
          </a:prstGeom>
          <a:noFill/>
          <a:ln/>
        </p:spPr>
        <p:txBody>
          <a:bodyPr wrap="square" lIns="0" tIns="0" rIns="0" bIns="0" rtlCol="0" anchor="t"/>
          <a:lstStyle/>
          <a:p>
            <a:pPr algn="l" indent="0" marL="0">
              <a:buNone/>
            </a:pPr>
            <a:r>
              <a:rPr lang="en-US" sz="1600" b="1" dirty="0">
                <a:solidFill>
                  <a:schemeClr val="tx1"/>
                </a:solidFill>
              </a:rPr>
              <a:t>ตั้งค่าใน Arduino IDE</a:t>
            </a:r>
            <a:endParaRPr lang="en-US" sz="1600" dirty="0"/>
          </a:p>
        </p:txBody>
      </p:sp>
      <p:sp>
        <p:nvSpPr>
          <p:cNvPr id="14" name="Text 12"/>
          <p:cNvSpPr txBox="1"/>
          <p:nvPr/>
        </p:nvSpPr>
        <p:spPr>
          <a:xfrm>
            <a:off x="1207008" y="4242816"/>
            <a:ext cx="4553712" cy="822960"/>
          </a:xfrm>
          <a:prstGeom prst="rect">
            <a:avLst/>
          </a:prstGeom>
          <a:noFill/>
          <a:ln/>
        </p:spPr>
        <p:txBody>
          <a:bodyPr wrap="square" lIns="0" tIns="0" rIns="0" bIns="0" rtlCol="0" anchor="t"/>
          <a:lstStyle/>
          <a:p>
            <a:pPr algn="l" indent="0" marL="0">
              <a:lnSpc>
                <a:spcPct val="125000"/>
              </a:lnSpc>
              <a:buNone/>
            </a:pPr>
            <a:r>
              <a:rPr lang="en-US" sz="1300" dirty="0">
                <a:solidFill>
                  <a:srgbClr val="4A5568"/>
                </a:solidFill>
              </a:rPr>
              <a:t>Upload method เลือก STM32CubeProgrammer (SWD)  ส่วนเมนู Port ปล่อยว่างไว้  ช่องที่เหลือทั้งหมดอยู่ในหน้าถัดไป</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309360" y="1417320"/>
          <a:ext cx="5303520" cy="914400"/>
        </p:xfrm>
        <a:graphic>
          <a:graphicData uri="http://schemas.openxmlformats.org/drawingml/2006/table">
            <a:tbl>
              <a:tblPr/>
              <a:tblGrid>
                <a:gridCol w="1920240"/>
                <a:gridCol w="3383280"/>
              </a:tblGrid>
              <a:tr h="0">
                <a:tc>
                  <a:txBody>
                    <a:bodyPr/>
                    <a:lstStyle/>
                    <a:p>
                      <a:pPr indent="0" marL="0">
                        <a:buNone/>
                      </a:pPr>
                      <a:r>
                        <a:rPr lang="en-US" sz="1300" b="1" dirty="0">
                          <a:solidFill>
                            <a:srgbClr val="FFFFFF"/>
                          </a:solidFill>
                        </a:rPr>
                        <a:t>ST-Link</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16202E"/>
                    </a:solidFill>
                  </a:tcPr>
                </a:tc>
                <a:tc>
                  <a:txBody>
                    <a:bodyPr/>
                    <a:lstStyle/>
                    <a:p>
                      <a:pPr indent="0" marL="0">
                        <a:buNone/>
                      </a:pPr>
                      <a:r>
                        <a:rPr lang="en-US" sz="1300" b="1" dirty="0">
                          <a:solidFill>
                            <a:srgbClr val="FFFFFF"/>
                          </a:solidFill>
                        </a:rPr>
                        <a:t>Blue Pill</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16202E"/>
                    </a:solidFill>
                  </a:tcPr>
                </a:tc>
              </a:tr>
              <a:tr h="0">
                <a:tc>
                  <a:txBody>
                    <a:bodyPr/>
                    <a:lstStyle/>
                    <a:p>
                      <a:pPr indent="0" marL="0">
                        <a:buNone/>
                      </a:pPr>
                      <a:r>
                        <a:rPr lang="en-US" sz="1250" b="1" dirty="0">
                          <a:solidFill>
                            <a:srgbClr val="16202E"/>
                          </a:solidFill>
                        </a:rPr>
                        <a:t>SWDIO</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50" dirty="0">
                          <a:solidFill>
                            <a:srgbClr val="4A5568"/>
                          </a:solidFill>
                        </a:rPr>
                        <a:t>DIO   (PA13)</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16202E"/>
                          </a:solidFill>
                        </a:rPr>
                        <a:t>SWCLK</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50" dirty="0">
                          <a:solidFill>
                            <a:srgbClr val="4A5568"/>
                          </a:solidFill>
                        </a:rPr>
                        <a:t>DCLK  (PA14)</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16202E"/>
                          </a:solidFill>
                        </a:rPr>
                        <a:t>GND</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50" dirty="0">
                          <a:solidFill>
                            <a:srgbClr val="4A5568"/>
                          </a:solidFill>
                        </a:rPr>
                        <a:t>GND</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16202E"/>
                          </a:solidFill>
                        </a:rPr>
                        <a:t>3.3V</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50" dirty="0">
                          <a:solidFill>
                            <a:srgbClr val="4A5568"/>
                          </a:solidFill>
                        </a:rPr>
                        <a:t>3V3  ต่อเมื่อไม่มีไฟอื่น</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r>
            </a:tbl>
          </a:graphicData>
        </a:graphic>
      </p:graphicFrame>
      <p:sp>
        <p:nvSpPr>
          <p:cNvPr id="16" name="callout"/>
          <p:cNvSpPr/>
          <p:nvPr/>
        </p:nvSpPr>
        <p:spPr>
          <a:xfrm>
            <a:off x="6309360" y="3383280"/>
            <a:ext cx="5303520" cy="1280160"/>
          </a:xfrm>
          <a:prstGeom prst="roundRect">
            <a:avLst>
              <a:gd name="adj" fmla="val 5714"/>
            </a:avLst>
          </a:prstGeom>
          <a:solidFill>
            <a:srgbClr val="FBEEEC"/>
          </a:solidFill>
          <a:ln w="12700">
            <a:solidFill>
              <a:srgbClr val="F0D3CE"/>
            </a:solidFill>
            <a:prstDash val="solid"/>
          </a:ln>
        </p:spPr>
      </p:sp>
      <p:sp>
        <p:nvSpPr>
          <p:cNvPr id="17" name="Text 14"/>
          <p:cNvSpPr txBox="1"/>
          <p:nvPr/>
        </p:nvSpPr>
        <p:spPr>
          <a:xfrm>
            <a:off x="6537960" y="3511296"/>
            <a:ext cx="4846320" cy="274320"/>
          </a:xfrm>
          <a:prstGeom prst="rect">
            <a:avLst/>
          </a:prstGeom>
          <a:noFill/>
          <a:ln/>
        </p:spPr>
        <p:txBody>
          <a:bodyPr wrap="square" lIns="0" tIns="0" rIns="0" bIns="0" rtlCol="0" anchor="t"/>
          <a:lstStyle/>
          <a:p>
            <a:pPr algn="l" indent="0" marL="0">
              <a:buNone/>
            </a:pPr>
            <a:r>
              <a:rPr lang="en-US" sz="1400" b="1" dirty="0">
                <a:solidFill>
                  <a:srgbClr val="B3261E"/>
                </a:solidFill>
              </a:rPr>
              <a:t>หา PA13 PA14 บนแถวพินข้างบอร์ดไม่เจอแน่นอน</a:t>
            </a:r>
            <a:endParaRPr lang="en-US" sz="1400" dirty="0"/>
          </a:p>
        </p:txBody>
      </p:sp>
      <p:sp>
        <p:nvSpPr>
          <p:cNvPr id="18" name="Text 15"/>
          <p:cNvSpPr txBox="1"/>
          <p:nvPr/>
        </p:nvSpPr>
        <p:spPr>
          <a:xfrm>
            <a:off x="6537960" y="3822192"/>
            <a:ext cx="4846320" cy="713232"/>
          </a:xfrm>
          <a:prstGeom prst="rect">
            <a:avLst/>
          </a:prstGeom>
          <a:noFill/>
          <a:ln/>
        </p:spPr>
        <p:txBody>
          <a:bodyPr wrap="square" lIns="0" tIns="0" rIns="0" bIns="0" rtlCol="0" anchor="t"/>
          <a:lstStyle/>
          <a:p>
            <a:pPr algn="l" indent="0" marL="0">
              <a:lnSpc>
                <a:spcPct val="120000"/>
              </a:lnSpc>
              <a:buNone/>
            </a:pPr>
            <a:r>
              <a:rPr lang="en-US" sz="1250" dirty="0">
                <a:solidFill>
                  <a:srgbClr val="4A5568"/>
                </a:solidFill>
              </a:rPr>
              <a:t>ไล่ดูจะเห็นเลขกระโดดจาก A12 ไป A15 เลย  สองขานี้ถูกแยกไปไว้ที่หัวต่อ 4 พินตรงปลายบอร์ด ฝั่งตรงข้าม USB และพิมพ์ชื่อว่า DIO กับ DCLK</a:t>
            </a:r>
            <a:endParaRPr lang="en-US" sz="1250" dirty="0"/>
          </a:p>
        </p:txBody>
      </p:sp>
      <p:sp>
        <p:nvSpPr>
          <p:cNvPr id="19" name="callout"/>
          <p:cNvSpPr/>
          <p:nvPr/>
        </p:nvSpPr>
        <p:spPr>
          <a:xfrm>
            <a:off x="548640" y="5303520"/>
            <a:ext cx="11064240" cy="777240"/>
          </a:xfrm>
          <a:prstGeom prst="roundRect">
            <a:avLst>
              <a:gd name="adj" fmla="val 9412"/>
            </a:avLst>
          </a:prstGeom>
          <a:solidFill>
            <a:srgbClr val="E8F1F5"/>
          </a:solidFill>
          <a:ln w="12700">
            <a:solidFill>
              <a:srgbClr val="CBE0E9"/>
            </a:solidFill>
            <a:prstDash val="solid"/>
          </a:ln>
        </p:spPr>
      </p:sp>
      <p:sp>
        <p:nvSpPr>
          <p:cNvPr id="20" name="Text 17"/>
          <p:cNvSpPr txBox="1"/>
          <p:nvPr/>
        </p:nvSpPr>
        <p:spPr>
          <a:xfrm>
            <a:off x="777240" y="5431536"/>
            <a:ext cx="10607040" cy="274320"/>
          </a:xfrm>
          <a:prstGeom prst="rect">
            <a:avLst/>
          </a:prstGeom>
          <a:noFill/>
          <a:ln/>
        </p:spPr>
        <p:txBody>
          <a:bodyPr wrap="square" lIns="0" tIns="0" rIns="0" bIns="0" rtlCol="0" anchor="t"/>
          <a:lstStyle/>
          <a:p>
            <a:pPr algn="l" indent="0" marL="0">
              <a:buNone/>
            </a:pPr>
            <a:r>
              <a:rPr lang="en-US" sz="1400" b="1" dirty="0">
                <a:solidFill>
                  <a:srgbClr val="1C7293"/>
                </a:solidFill>
              </a:rPr>
              <a:t>สิ่งที่ได้มาจากการเปลี่ยนมาใช้ ST-Link</a:t>
            </a:r>
            <a:endParaRPr lang="en-US" sz="1400" dirty="0"/>
          </a:p>
        </p:txBody>
      </p:sp>
      <p:sp>
        <p:nvSpPr>
          <p:cNvPr id="21" name="Text 18"/>
          <p:cNvSpPr txBox="1"/>
          <p:nvPr/>
        </p:nvSpPr>
        <p:spPr>
          <a:xfrm>
            <a:off x="777240" y="5742432"/>
            <a:ext cx="10607040" cy="210312"/>
          </a:xfrm>
          <a:prstGeom prst="rect">
            <a:avLst/>
          </a:prstGeom>
          <a:noFill/>
          <a:ln/>
        </p:spPr>
        <p:txBody>
          <a:bodyPr wrap="square" lIns="0" tIns="0" rIns="0" bIns="0" rtlCol="0" anchor="t"/>
          <a:lstStyle/>
          <a:p>
            <a:pPr algn="l" indent="0" marL="0">
              <a:lnSpc>
                <a:spcPct val="120000"/>
              </a:lnSpc>
              <a:buNone/>
            </a:pPr>
            <a:r>
              <a:rPr lang="en-US" sz="1250" dirty="0">
                <a:solidFill>
                  <a:srgbClr val="4A5568"/>
                </a:solidFill>
              </a:rPr>
              <a:t>ไม่ต้องสลับ BOOT0 ไปมาอีกเลย  และไม่แย่ง COM port กับ Serial Monitor เพราะการอัปไม่ได้วิ่งผ่านพอร์ต COM</a:t>
            </a:r>
            <a:endParaRPr lang="en-US" sz="1250" dirty="0"/>
          </a:p>
        </p:txBody>
      </p:sp>
      <p:sp>
        <p:nvSpPr>
          <p:cNvPr id="25" name="Slide Number Placeholder 0"/>
          <p:cNvSpPr>
            <a:spLocks noGrp="1"/>
          </p:cNvSpPr>
          <p:nvPr>
            <p:ph type="sldNum" sz="quarter" idx="4294967295"/>
          </p:nvPr>
        </p:nvSpPr>
        <p:spPr>
          <a:xfrm>
            <a:off x="11338560" y="62636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E9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685800"/>
          </a:xfrm>
          <a:prstGeom prst="rect">
            <a:avLst/>
          </a:prstGeom>
          <a:noFill/>
          <a:ln/>
        </p:spPr>
        <p:txBody>
          <a:bodyPr wrap="square" rtlCol="0"/>
          <a:lstStyle/>
          <a:p>
            <a:pPr algn="l" indent="0" marL="0">
              <a:buNone/>
            </a:pPr>
            <a:r>
              <a:rPr lang="en-US" sz="3200" b="1" dirty="0">
                <a:solidFill>
                  <a:schemeClr val="tx1"/>
                </a:solidFill>
              </a:rPr>
              <a:t>ตั้งค่า Arduino IDE สำหรับ STM32</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926080"/>
                <a:gridCol w="3749040"/>
                <a:gridCol w="4389120"/>
              </a:tblGrid>
              <a:tr h="0">
                <a:tc>
                  <a:txBody>
                    <a:bodyPr/>
                    <a:lstStyle/>
                    <a:p>
                      <a:pPr indent="0" marL="0">
                        <a:buNone/>
                      </a:pPr>
                      <a:r>
                        <a:rPr lang="en-US" sz="1300" b="1" dirty="0">
                          <a:solidFill>
                            <a:srgbClr val="FFFFFF"/>
                          </a:solidFill>
                        </a:rPr>
                        <a:t>เมนูใน Tools</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16202E"/>
                    </a:solidFill>
                  </a:tcPr>
                </a:tc>
                <a:tc>
                  <a:txBody>
                    <a:bodyPr/>
                    <a:lstStyle/>
                    <a:p>
                      <a:pPr indent="0" marL="0">
                        <a:buNone/>
                      </a:pPr>
                      <a:r>
                        <a:rPr lang="en-US" sz="1300" b="1" dirty="0">
                          <a:solidFill>
                            <a:srgbClr val="FFFFFF"/>
                          </a:solidFill>
                        </a:rPr>
                        <a:t>ตั้งเป็น</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16202E"/>
                    </a:solidFill>
                  </a:tcPr>
                </a:tc>
                <a:tc>
                  <a:txBody>
                    <a:bodyPr/>
                    <a:lstStyle/>
                    <a:p>
                      <a:pPr indent="0" marL="0">
                        <a:buNone/>
                      </a:pPr>
                      <a:r>
                        <a:rPr lang="en-US" sz="1300" b="1" dirty="0">
                          <a:solidFill>
                            <a:srgbClr val="FFFFFF"/>
                          </a:solidFill>
                        </a:rPr>
                        <a:t>ถ้าตั้งผิดจะเจออะไร</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16202E"/>
                    </a:solidFill>
                  </a:tcPr>
                </a:tc>
              </a:tr>
              <a:tr h="0">
                <a:tc>
                  <a:txBody>
                    <a:bodyPr/>
                    <a:lstStyle/>
                    <a:p>
                      <a:pPr indent="0" marL="0">
                        <a:buNone/>
                      </a:pPr>
                      <a:r>
                        <a:rPr lang="en-US" sz="1250" b="1" dirty="0">
                          <a:solidFill>
                            <a:srgbClr val="16202E"/>
                          </a:solidFill>
                        </a:rPr>
                        <a:t>Board</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50" dirty="0">
                          <a:solidFill>
                            <a:srgbClr val="4A5568"/>
                          </a:solidFill>
                        </a:rPr>
                        <a:t>Generic STM32F1 series</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50" dirty="0">
                          <a:solidFill>
                            <a:srgbClr val="4A5568"/>
                          </a:solidFill>
                        </a:rPr>
                        <a:t>ไม่มีเมนู Upload method ให้เห็นเลยสักช่อง</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16202E"/>
                          </a:solidFill>
                        </a:rPr>
                        <a:t>Board part number</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50" dirty="0">
                          <a:solidFill>
                            <a:srgbClr val="4A5568"/>
                          </a:solidFill>
                        </a:rPr>
                        <a:t>BluePill F103C8</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16202E"/>
                          </a:solidFill>
                        </a:rPr>
                        <a:t>Upload method</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50" dirty="0">
                          <a:solidFill>
                            <a:srgbClr val="4A5568"/>
                          </a:solidFill>
                        </a:rPr>
                        <a:t>STM32CubeProgrammer (SWD)</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50" dirty="0">
                          <a:solidFill>
                            <a:srgbClr val="4A5568"/>
                          </a:solidFill>
                        </a:rPr>
                        <a:t>อัปไม่ติด เพราะไปเรียกวิธีอื่น</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16202E"/>
                          </a:solidFill>
                        </a:rPr>
                        <a:t>U(S)ART support</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50" dirty="0">
                          <a:solidFill>
                            <a:srgbClr val="4A5568"/>
                          </a:solidFill>
                        </a:rPr>
                        <a:t>Enabled (generic 'Serial')</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50" dirty="0">
                          <a:solidFill>
                            <a:srgbClr val="4A5568"/>
                          </a:solidFill>
                        </a:rPr>
                        <a:t>ไม่มี Serial เลยสักตัว ล็อกหายหมด</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16202E"/>
                          </a:solidFill>
                        </a:rPr>
                        <a:t>USB support</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50" dirty="0">
                          <a:solidFill>
                            <a:srgbClr val="4A5568"/>
                          </a:solidFill>
                        </a:rPr>
                        <a:t>None</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50" dirty="0">
                          <a:solidFill>
                            <a:srgbClr val="4A5568"/>
                          </a:solidFill>
                        </a:rPr>
                        <a:t>Serial ย้ายไปออกช่อง USB  ล็อกที่ PA9 เงียบไปเฉยๆ ไม่มี error บอก</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16202E"/>
                          </a:solidFill>
                        </a:rPr>
                        <a:t>Optimize, Debug, C Runtime</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50" dirty="0">
                          <a:solidFill>
                            <a:srgbClr val="4A5568"/>
                          </a:solidFill>
                        </a:rPr>
                        <a:t>ปล่อยค่าเริ่มต้นไว้ทั้งหมด</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16202E"/>
                          </a:solidFill>
                        </a:rPr>
                        <a:t>Port</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50" dirty="0">
                          <a:solidFill>
                            <a:srgbClr val="4A5568"/>
                          </a:solidFill>
                        </a:rPr>
                        <a:t>ปล่อยว่าง ไม่ต้องเลือก</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r>
            </a:tbl>
          </a:graphicData>
        </a:graphic>
      </p:graphicFrame>
      <p:sp>
        <p:nvSpPr>
          <p:cNvPr id="4" name="callout"/>
          <p:cNvSpPr/>
          <p:nvPr/>
        </p:nvSpPr>
        <p:spPr>
          <a:xfrm>
            <a:off x="548640" y="4983480"/>
            <a:ext cx="11064240" cy="960120"/>
          </a:xfrm>
          <a:prstGeom prst="roundRect">
            <a:avLst>
              <a:gd name="adj" fmla="val 7619"/>
            </a:avLst>
          </a:prstGeom>
          <a:solidFill>
            <a:srgbClr val="E8F1F5"/>
          </a:solidFill>
          <a:ln w="12700">
            <a:solidFill>
              <a:srgbClr val="CBE0E9"/>
            </a:solidFill>
            <a:prstDash val="solid"/>
          </a:ln>
        </p:spPr>
      </p:sp>
      <p:sp>
        <p:nvSpPr>
          <p:cNvPr id="5" name="Text 2"/>
          <p:cNvSpPr txBox="1"/>
          <p:nvPr/>
        </p:nvSpPr>
        <p:spPr>
          <a:xfrm>
            <a:off x="777240" y="5111496"/>
            <a:ext cx="10607040" cy="274320"/>
          </a:xfrm>
          <a:prstGeom prst="rect">
            <a:avLst/>
          </a:prstGeom>
          <a:noFill/>
          <a:ln/>
        </p:spPr>
        <p:txBody>
          <a:bodyPr wrap="square" lIns="0" tIns="0" rIns="0" bIns="0" rtlCol="0" anchor="t"/>
          <a:lstStyle/>
          <a:p>
            <a:pPr algn="l" indent="0" marL="0">
              <a:buNone/>
            </a:pPr>
            <a:r>
              <a:rPr lang="en-US" sz="1400" b="1" dirty="0">
                <a:solidFill>
                  <a:srgbClr val="1C7293"/>
                </a:solidFill>
              </a:rPr>
              <a:t>สามแถวที่มีคำอธิบายช่องขวา คือสามช่องที่พลาดแล้วหาสาเหตุยากที่สุด</a:t>
            </a:r>
            <a:endParaRPr lang="en-US" sz="1400" dirty="0"/>
          </a:p>
        </p:txBody>
      </p:sp>
      <p:sp>
        <p:nvSpPr>
          <p:cNvPr id="6" name="Text 3"/>
          <p:cNvSpPr txBox="1"/>
          <p:nvPr/>
        </p:nvSpPr>
        <p:spPr>
          <a:xfrm>
            <a:off x="777240" y="5422392"/>
            <a:ext cx="10607040" cy="393192"/>
          </a:xfrm>
          <a:prstGeom prst="rect">
            <a:avLst/>
          </a:prstGeom>
          <a:noFill/>
          <a:ln/>
        </p:spPr>
        <p:txBody>
          <a:bodyPr wrap="square" lIns="0" tIns="0" rIns="0" bIns="0" rtlCol="0" anchor="t"/>
          <a:lstStyle/>
          <a:p>
            <a:pPr algn="l" indent="0" marL="0">
              <a:lnSpc>
                <a:spcPct val="120000"/>
              </a:lnSpc>
              <a:buNone/>
            </a:pPr>
            <a:r>
              <a:rPr lang="en-US" sz="1250" dirty="0">
                <a:solidFill>
                  <a:srgbClr val="4A5568"/>
                </a:solidFill>
              </a:rPr>
              <a:t>ที่เหลือตั้งผิดก็ยังคอมไพล์ผ่านและใช้งานได้ ไม่ต้องกังวล</a:t>
            </a:r>
            <a:endParaRPr lang="en-US" sz="1250" dirty="0"/>
          </a:p>
          <a:p>
            <a:pPr algn="l" indent="0" marL="0">
              <a:lnSpc>
                <a:spcPct val="120000"/>
              </a:lnSpc>
              <a:buNone/>
            </a:pPr>
            <a:r>
              <a:rPr lang="en-US" sz="1250" dirty="0">
                <a:solidFill>
                  <a:srgbClr val="4A5568"/>
                </a:solidFill>
              </a:rPr>
              <a:t>ส่วนช่อง Port ที่ว่างอยู่คือถูกต้องแล้ว เพราะ ST-Link ไม่เคยโผล่มาเป็น COM port ตั้งแต่แรก</a:t>
            </a:r>
            <a:endParaRPr lang="en-US" sz="1250" dirty="0"/>
          </a:p>
        </p:txBody>
      </p:sp>
      <p:sp>
        <p:nvSpPr>
          <p:cNvPr id="25" name="Slide Number Placeholder 0"/>
          <p:cNvSpPr>
            <a:spLocks noGrp="1"/>
          </p:cNvSpPr>
          <p:nvPr>
            <p:ph type="sldNum" sz="quarter" idx="4294967295"/>
          </p:nvPr>
        </p:nvSpPr>
        <p:spPr>
          <a:xfrm>
            <a:off x="11338560" y="62636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E9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685800"/>
          </a:xfrm>
          <a:prstGeom prst="rect">
            <a:avLst/>
          </a:prstGeom>
          <a:noFill/>
          <a:ln/>
        </p:spPr>
        <p:txBody>
          <a:bodyPr wrap="square" rtlCol="0"/>
          <a:lstStyle/>
          <a:p>
            <a:pPr algn="l" indent="0" marL="0">
              <a:buNone/>
            </a:pPr>
            <a:r>
              <a:rPr lang="en-US" sz="3200" b="1" dirty="0">
                <a:solidFill>
                  <a:schemeClr val="tx1"/>
                </a:solidFill>
              </a:rPr>
              <a:t>อัปเฟิร์มแวร์ทีละบอร์ด</a:t>
            </a:r>
            <a:endParaRPr lang="en-US" sz="3200" dirty="0"/>
          </a:p>
        </p:txBody>
      </p:sp>
      <p:sp>
        <p:nvSpPr>
          <p:cNvPr id="3" name="dot-1"/>
          <p:cNvSpPr/>
          <p:nvPr/>
        </p:nvSpPr>
        <p:spPr>
          <a:xfrm>
            <a:off x="548640" y="1463040"/>
            <a:ext cx="475488" cy="475488"/>
          </a:xfrm>
          <a:prstGeom prst="ellipse">
            <a:avLst/>
          </a:prstGeom>
          <a:solidFill>
            <a:srgbClr val="E8803A"/>
          </a:solidFill>
          <a:ln w="12700">
            <a:solidFill>
              <a:srgbClr val="E8803A"/>
            </a:solidFill>
            <a:prstDash val="solid"/>
          </a:ln>
        </p:spPr>
      </p:sp>
      <p:sp>
        <p:nvSpPr>
          <p:cNvPr id="4" name="Text 2"/>
          <p:cNvSpPr txBox="1"/>
          <p:nvPr/>
        </p:nvSpPr>
        <p:spPr>
          <a:xfrm>
            <a:off x="548640" y="146304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5" name="Text 3"/>
          <p:cNvSpPr txBox="1"/>
          <p:nvPr/>
        </p:nvSpPr>
        <p:spPr>
          <a:xfrm>
            <a:off x="1207008" y="1444752"/>
            <a:ext cx="4553712" cy="301752"/>
          </a:xfrm>
          <a:prstGeom prst="rect">
            <a:avLst/>
          </a:prstGeom>
          <a:noFill/>
          <a:ln/>
        </p:spPr>
        <p:txBody>
          <a:bodyPr wrap="square" lIns="0" tIns="0" rIns="0" bIns="0" rtlCol="0" anchor="t"/>
          <a:lstStyle/>
          <a:p>
            <a:pPr algn="l" indent="0" marL="0">
              <a:buNone/>
            </a:pPr>
            <a:r>
              <a:rPr lang="en-US" sz="1600" b="1" dirty="0">
                <a:solidFill>
                  <a:schemeClr val="tx1"/>
                </a:solidFill>
              </a:rPr>
              <a:t>STM32  ผ่าน ST-Link</a:t>
            </a:r>
            <a:endParaRPr lang="en-US" sz="1600" dirty="0"/>
          </a:p>
        </p:txBody>
      </p:sp>
      <p:sp>
        <p:nvSpPr>
          <p:cNvPr id="6" name="Text 4"/>
          <p:cNvSpPr txBox="1"/>
          <p:nvPr/>
        </p:nvSpPr>
        <p:spPr>
          <a:xfrm>
            <a:off x="1207008" y="1773936"/>
            <a:ext cx="4553712" cy="822960"/>
          </a:xfrm>
          <a:prstGeom prst="rect">
            <a:avLst/>
          </a:prstGeom>
          <a:noFill/>
          <a:ln/>
        </p:spPr>
        <p:txBody>
          <a:bodyPr wrap="square" lIns="0" tIns="0" rIns="0" bIns="0" rtlCol="0" anchor="t"/>
          <a:lstStyle/>
          <a:p>
            <a:pPr algn="l" indent="0" marL="0">
              <a:lnSpc>
                <a:spcPct val="125000"/>
              </a:lnSpc>
              <a:buNone/>
            </a:pPr>
            <a:r>
              <a:rPr lang="en-US" sz="1300" dirty="0">
                <a:solidFill>
                  <a:srgbClr val="4A5568"/>
                </a:solidFill>
              </a:rPr>
              <a:t>เปิดโฟลเดอร์ stm32_robot_controller  เลือกบอร์ด Generic STM32F1 series แล้วกด Upload ได้เลย ไม่ต้องแตะ BOOT0 และไม่ต้องเลือก Port</a:t>
            </a:r>
            <a:endParaRPr lang="en-US" sz="1300" dirty="0"/>
          </a:p>
        </p:txBody>
      </p:sp>
      <p:sp>
        <p:nvSpPr>
          <p:cNvPr id="7" name="dot-2"/>
          <p:cNvSpPr/>
          <p:nvPr/>
        </p:nvSpPr>
        <p:spPr>
          <a:xfrm>
            <a:off x="548640" y="2834640"/>
            <a:ext cx="475488" cy="475488"/>
          </a:xfrm>
          <a:prstGeom prst="ellipse">
            <a:avLst/>
          </a:prstGeom>
          <a:solidFill>
            <a:srgbClr val="E8803A"/>
          </a:solidFill>
          <a:ln w="12700">
            <a:solidFill>
              <a:srgbClr val="E8803A"/>
            </a:solidFill>
            <a:prstDash val="solid"/>
          </a:ln>
        </p:spPr>
      </p:sp>
      <p:sp>
        <p:nvSpPr>
          <p:cNvPr id="8" name="Text 6"/>
          <p:cNvSpPr txBox="1"/>
          <p:nvPr/>
        </p:nvSpPr>
        <p:spPr>
          <a:xfrm>
            <a:off x="548640" y="283464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9" name="Text 7"/>
          <p:cNvSpPr txBox="1"/>
          <p:nvPr/>
        </p:nvSpPr>
        <p:spPr>
          <a:xfrm>
            <a:off x="1207008" y="2816352"/>
            <a:ext cx="4553712" cy="301752"/>
          </a:xfrm>
          <a:prstGeom prst="rect">
            <a:avLst/>
          </a:prstGeom>
          <a:noFill/>
          <a:ln/>
        </p:spPr>
        <p:txBody>
          <a:bodyPr wrap="square" lIns="0" tIns="0" rIns="0" bIns="0" rtlCol="0" anchor="t"/>
          <a:lstStyle/>
          <a:p>
            <a:pPr algn="l" indent="0" marL="0">
              <a:buNone/>
            </a:pPr>
            <a:r>
              <a:rPr lang="en-US" sz="1600" b="1" dirty="0">
                <a:solidFill>
                  <a:schemeClr val="tx1"/>
                </a:solidFill>
              </a:rPr>
              <a:t>ESP32 รีโมท  ผ่านสาย USB</a:t>
            </a:r>
            <a:endParaRPr lang="en-US" sz="1600" dirty="0"/>
          </a:p>
        </p:txBody>
      </p:sp>
      <p:sp>
        <p:nvSpPr>
          <p:cNvPr id="10" name="Text 8"/>
          <p:cNvSpPr txBox="1"/>
          <p:nvPr/>
        </p:nvSpPr>
        <p:spPr>
          <a:xfrm>
            <a:off x="1207008" y="3145536"/>
            <a:ext cx="4553712" cy="822960"/>
          </a:xfrm>
          <a:prstGeom prst="rect">
            <a:avLst/>
          </a:prstGeom>
          <a:noFill/>
          <a:ln/>
        </p:spPr>
        <p:txBody>
          <a:bodyPr wrap="square" lIns="0" tIns="0" rIns="0" bIns="0" rtlCol="0" anchor="t"/>
          <a:lstStyle/>
          <a:p>
            <a:pPr algn="l" indent="0" marL="0">
              <a:lnSpc>
                <a:spcPct val="125000"/>
              </a:lnSpc>
              <a:buNone/>
            </a:pPr>
            <a:r>
              <a:rPr lang="en-US" sz="1300" dirty="0">
                <a:solidFill>
                  <a:srgbClr val="4A5568"/>
                </a:solidFill>
              </a:rPr>
              <a:t>เปิดโฟลเดอร์ esp32_remote_controller  เลือกบอร์ด ESP32 Dev Module  ต้องลงไลบรารี Adafruit GFX และ Adafruit SH110X ก่อน ไม่งั้นคอมไพล์ไม่ผ่าน</a:t>
            </a:r>
            <a:endParaRPr lang="en-US" sz="1300" dirty="0"/>
          </a:p>
        </p:txBody>
      </p:sp>
      <p:sp>
        <p:nvSpPr>
          <p:cNvPr id="11" name="dot-3"/>
          <p:cNvSpPr/>
          <p:nvPr/>
        </p:nvSpPr>
        <p:spPr>
          <a:xfrm>
            <a:off x="548640" y="4206240"/>
            <a:ext cx="475488" cy="475488"/>
          </a:xfrm>
          <a:prstGeom prst="ellipse">
            <a:avLst/>
          </a:prstGeom>
          <a:solidFill>
            <a:srgbClr val="E8803A"/>
          </a:solidFill>
          <a:ln w="12700">
            <a:solidFill>
              <a:srgbClr val="E8803A"/>
            </a:solidFill>
            <a:prstDash val="solid"/>
          </a:ln>
        </p:spPr>
      </p:sp>
      <p:sp>
        <p:nvSpPr>
          <p:cNvPr id="12" name="Text 10"/>
          <p:cNvSpPr txBox="1"/>
          <p:nvPr/>
        </p:nvSpPr>
        <p:spPr>
          <a:xfrm>
            <a:off x="548640" y="420624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3" name="Text 11"/>
          <p:cNvSpPr txBox="1"/>
          <p:nvPr/>
        </p:nvSpPr>
        <p:spPr>
          <a:xfrm>
            <a:off x="1207008" y="4187952"/>
            <a:ext cx="4553712" cy="301752"/>
          </a:xfrm>
          <a:prstGeom prst="rect">
            <a:avLst/>
          </a:prstGeom>
          <a:noFill/>
          <a:ln/>
        </p:spPr>
        <p:txBody>
          <a:bodyPr wrap="square" lIns="0" tIns="0" rIns="0" bIns="0" rtlCol="0" anchor="t"/>
          <a:lstStyle/>
          <a:p>
            <a:pPr algn="l" indent="0" marL="0">
              <a:buNone/>
            </a:pPr>
            <a:r>
              <a:rPr lang="en-US" sz="1600" b="1" dirty="0">
                <a:solidFill>
                  <a:schemeClr val="tx1"/>
                </a:solidFill>
              </a:rPr>
              <a:t>ESP32-CAM  ผ่าน USB-TTL</a:t>
            </a:r>
            <a:endParaRPr lang="en-US" sz="1600" dirty="0"/>
          </a:p>
        </p:txBody>
      </p:sp>
      <p:sp>
        <p:nvSpPr>
          <p:cNvPr id="14" name="Text 12"/>
          <p:cNvSpPr txBox="1"/>
          <p:nvPr/>
        </p:nvSpPr>
        <p:spPr>
          <a:xfrm>
            <a:off x="1207008" y="4517136"/>
            <a:ext cx="4553712" cy="822960"/>
          </a:xfrm>
          <a:prstGeom prst="rect">
            <a:avLst/>
          </a:prstGeom>
          <a:noFill/>
          <a:ln/>
        </p:spPr>
        <p:txBody>
          <a:bodyPr wrap="square" lIns="0" tIns="0" rIns="0" bIns="0" rtlCol="0" anchor="t"/>
          <a:lstStyle/>
          <a:p>
            <a:pPr algn="l" indent="0" marL="0">
              <a:lnSpc>
                <a:spcPct val="125000"/>
              </a:lnSpc>
              <a:buNone/>
            </a:pPr>
            <a:r>
              <a:rPr lang="en-US" sz="1300" dirty="0">
                <a:solidFill>
                  <a:srgbClr val="4A5568"/>
                </a:solidFill>
              </a:rPr>
              <a:t>บอร์ดนี้ไม่มีช่อง USB  ต้องต่อ IO0 ลง GND ก่อนกดอัป แล้วถอดออกเมื่ออัปเสร็จ  เลือกบอร์ด AI Thinker ESP32-CAM</a:t>
            </a:r>
            <a:endParaRPr lang="en-US" sz="1300" dirty="0"/>
          </a:p>
        </p:txBody>
      </p:sp>
      <p:sp>
        <p:nvSpPr>
          <p:cNvPr id="15" name="callout"/>
          <p:cNvSpPr/>
          <p:nvPr/>
        </p:nvSpPr>
        <p:spPr>
          <a:xfrm>
            <a:off x="6309360" y="1463040"/>
            <a:ext cx="5303520" cy="1371600"/>
          </a:xfrm>
          <a:prstGeom prst="roundRect">
            <a:avLst>
              <a:gd name="adj" fmla="val 5333"/>
            </a:avLst>
          </a:prstGeom>
          <a:solidFill>
            <a:srgbClr val="FBEEEC"/>
          </a:solidFill>
          <a:ln w="12700">
            <a:solidFill>
              <a:srgbClr val="F0D3CE"/>
            </a:solidFill>
            <a:prstDash val="solid"/>
          </a:ln>
        </p:spPr>
      </p:sp>
      <p:sp>
        <p:nvSpPr>
          <p:cNvPr id="16" name="Text 14"/>
          <p:cNvSpPr txBox="1"/>
          <p:nvPr/>
        </p:nvSpPr>
        <p:spPr>
          <a:xfrm>
            <a:off x="6537960" y="1591056"/>
            <a:ext cx="4846320" cy="274320"/>
          </a:xfrm>
          <a:prstGeom prst="rect">
            <a:avLst/>
          </a:prstGeom>
          <a:noFill/>
          <a:ln/>
        </p:spPr>
        <p:txBody>
          <a:bodyPr wrap="square" lIns="0" tIns="0" rIns="0" bIns="0" rtlCol="0" anchor="t"/>
          <a:lstStyle/>
          <a:p>
            <a:pPr algn="l" indent="0" marL="0">
              <a:buNone/>
            </a:pPr>
            <a:r>
              <a:rPr lang="en-US" sz="1400" b="1" dirty="0">
                <a:solidFill>
                  <a:srgbClr val="B3261E"/>
                </a:solidFill>
              </a:rPr>
              <a:t>ขึ้นว่า undefined reference to 'Serial2'</a:t>
            </a:r>
            <a:endParaRPr lang="en-US" sz="1400" dirty="0"/>
          </a:p>
        </p:txBody>
      </p:sp>
      <p:sp>
        <p:nvSpPr>
          <p:cNvPr id="17" name="Text 15"/>
          <p:cNvSpPr txBox="1"/>
          <p:nvPr/>
        </p:nvSpPr>
        <p:spPr>
          <a:xfrm>
            <a:off x="6537960" y="1901952"/>
            <a:ext cx="4846320" cy="804672"/>
          </a:xfrm>
          <a:prstGeom prst="rect">
            <a:avLst/>
          </a:prstGeom>
          <a:noFill/>
          <a:ln/>
        </p:spPr>
        <p:txBody>
          <a:bodyPr wrap="square" lIns="0" tIns="0" rIns="0" bIns="0" rtlCol="0" anchor="t"/>
          <a:lstStyle/>
          <a:p>
            <a:pPr algn="l" indent="0" marL="0">
              <a:lnSpc>
                <a:spcPct val="120000"/>
              </a:lnSpc>
              <a:buNone/>
            </a:pPr>
            <a:r>
              <a:rPr lang="en-US" sz="1250" dirty="0">
                <a:solidFill>
                  <a:srgbClr val="4A5568"/>
                </a:solidFill>
              </a:rPr>
              <a:t>ไม่ใช่โค้ดผิด  คอร์ STM32 ตัวทางการไม่ได้สร้าง Serial2 กับ Serial3 ให้เอง สเก็ตช์จึงสร้างไว้ให้แล้วสองบรรทัดตรงหัวไฟล์  ห้ามลบทิ้ง</a:t>
            </a:r>
            <a:endParaRPr lang="en-US" sz="1250" dirty="0"/>
          </a:p>
        </p:txBody>
      </p:sp>
      <p:sp>
        <p:nvSpPr>
          <p:cNvPr id="18" name="callout"/>
          <p:cNvSpPr/>
          <p:nvPr/>
        </p:nvSpPr>
        <p:spPr>
          <a:xfrm>
            <a:off x="6309360" y="3017520"/>
            <a:ext cx="5303520" cy="1828800"/>
          </a:xfrm>
          <a:prstGeom prst="roundRect">
            <a:avLst>
              <a:gd name="adj" fmla="val 4000"/>
            </a:avLst>
          </a:prstGeom>
          <a:solidFill>
            <a:srgbClr val="E8F1F5"/>
          </a:solidFill>
          <a:ln w="12700">
            <a:solidFill>
              <a:srgbClr val="CBE0E9"/>
            </a:solidFill>
            <a:prstDash val="solid"/>
          </a:ln>
        </p:spPr>
      </p:sp>
      <p:sp>
        <p:nvSpPr>
          <p:cNvPr id="19" name="Text 17"/>
          <p:cNvSpPr txBox="1"/>
          <p:nvPr/>
        </p:nvSpPr>
        <p:spPr>
          <a:xfrm>
            <a:off x="6537960" y="3145536"/>
            <a:ext cx="4846320" cy="274320"/>
          </a:xfrm>
          <a:prstGeom prst="rect">
            <a:avLst/>
          </a:prstGeom>
          <a:noFill/>
          <a:ln/>
        </p:spPr>
        <p:txBody>
          <a:bodyPr wrap="square" lIns="0" tIns="0" rIns="0" bIns="0" rtlCol="0" anchor="t"/>
          <a:lstStyle/>
          <a:p>
            <a:pPr algn="l" indent="0" marL="0">
              <a:buNone/>
            </a:pPr>
            <a:r>
              <a:rPr lang="en-US" sz="1400" b="1" dirty="0">
                <a:solidFill>
                  <a:srgbClr val="1C7293"/>
                </a:solidFill>
              </a:rPr>
              <a:t>เช็กว่าอัปติดจริงไหม</a:t>
            </a:r>
            <a:endParaRPr lang="en-US" sz="1400" dirty="0"/>
          </a:p>
        </p:txBody>
      </p:sp>
      <p:sp>
        <p:nvSpPr>
          <p:cNvPr id="20" name="Text 18"/>
          <p:cNvSpPr txBox="1"/>
          <p:nvPr/>
        </p:nvSpPr>
        <p:spPr>
          <a:xfrm>
            <a:off x="6537960" y="3456432"/>
            <a:ext cx="4846320" cy="1261872"/>
          </a:xfrm>
          <a:prstGeom prst="rect">
            <a:avLst/>
          </a:prstGeom>
          <a:noFill/>
          <a:ln/>
        </p:spPr>
        <p:txBody>
          <a:bodyPr wrap="square" lIns="0" tIns="0" rIns="0" bIns="0" rtlCol="0" anchor="t"/>
          <a:lstStyle/>
          <a:p>
            <a:pPr algn="l" indent="0" marL="0">
              <a:lnSpc>
                <a:spcPct val="120000"/>
              </a:lnSpc>
              <a:buNone/>
            </a:pPr>
            <a:r>
              <a:rPr lang="en-US" sz="1250" dirty="0">
                <a:solidFill>
                  <a:srgbClr val="4A5568"/>
                </a:solidFill>
              </a:rPr>
              <a:t>ฝั่ง ST-Link จะขึ้นคำว่า Download verified successfully ซึ่งแปลว่าอ่านกลับมาเทียบแล้วตรงทุกไบต์</a:t>
            </a:r>
            <a:endParaRPr lang="en-US" sz="1250" dirty="0"/>
          </a:p>
          <a:p>
            <a:pPr algn="l" indent="0" marL="0">
              <a:lnSpc>
                <a:spcPct val="120000"/>
              </a:lnSpc>
              <a:buNone/>
            </a:pPr>
            <a:endParaRPr lang="en-US" sz="1250" dirty="0"/>
          </a:p>
          <a:p>
            <a:pPr algn="l" indent="0" marL="0">
              <a:lnSpc>
                <a:spcPct val="120000"/>
              </a:lnSpc>
              <a:buNone/>
            </a:pPr>
            <a:r>
              <a:rPr lang="en-US" sz="1250" dirty="0">
                <a:solidFill>
                  <a:srgbClr val="4A5568"/>
                </a:solidFill>
              </a:rPr>
              <a:t>อีกทางคือเปิด Serial Monitor ที่ 115200 แล้วกดรีเซ็ต ดูว่าวันเวลาคอมไพล์ตรงกับที่เพิ่งอัปไหม</a:t>
            </a:r>
            <a:endParaRPr lang="en-US" sz="1250" dirty="0"/>
          </a:p>
        </p:txBody>
      </p:sp>
      <p:sp>
        <p:nvSpPr>
          <p:cNvPr id="25" name="Slide Number Placeholder 0"/>
          <p:cNvSpPr>
            <a:spLocks noGrp="1"/>
          </p:cNvSpPr>
          <p:nvPr>
            <p:ph type="sldNum" sz="quarter" idx="4294967295"/>
          </p:nvPr>
        </p:nvSpPr>
        <p:spPr>
          <a:xfrm>
            <a:off x="11338560" y="62636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E9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685800"/>
          </a:xfrm>
          <a:prstGeom prst="rect">
            <a:avLst/>
          </a:prstGeom>
          <a:noFill/>
          <a:ln/>
        </p:spPr>
        <p:txBody>
          <a:bodyPr wrap="square" rtlCol="0"/>
          <a:lstStyle/>
          <a:p>
            <a:pPr algn="l" indent="0" marL="0">
              <a:buNone/>
            </a:pPr>
            <a:r>
              <a:rPr lang="en-US" sz="3200" b="1" dirty="0">
                <a:solidFill>
                  <a:schemeClr val="tx1"/>
                </a:solidFill>
              </a:rPr>
              <a:t>อัปด้วย CubeProgrammer โดยไม่ผ่าน IDE</a:t>
            </a:r>
            <a:endParaRPr lang="en-US" sz="3200" dirty="0"/>
          </a:p>
        </p:txBody>
      </p:sp>
      <p:sp>
        <p:nvSpPr>
          <p:cNvPr id="3" name="dot-1"/>
          <p:cNvSpPr/>
          <p:nvPr/>
        </p:nvSpPr>
        <p:spPr>
          <a:xfrm>
            <a:off x="548640" y="1417320"/>
            <a:ext cx="475488" cy="475488"/>
          </a:xfrm>
          <a:prstGeom prst="ellipse">
            <a:avLst/>
          </a:prstGeom>
          <a:solidFill>
            <a:srgbClr val="E8803A"/>
          </a:solidFill>
          <a:ln w="12700">
            <a:solidFill>
              <a:srgbClr val="E8803A"/>
            </a:solidFill>
            <a:prstDash val="solid"/>
          </a:ln>
        </p:spPr>
      </p:sp>
      <p:sp>
        <p:nvSpPr>
          <p:cNvPr id="4" name="Text 2"/>
          <p:cNvSpPr txBox="1"/>
          <p:nvPr/>
        </p:nvSpPr>
        <p:spPr>
          <a:xfrm>
            <a:off x="548640" y="141732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5" name="Text 3"/>
          <p:cNvSpPr txBox="1"/>
          <p:nvPr/>
        </p:nvSpPr>
        <p:spPr>
          <a:xfrm>
            <a:off x="1207008" y="1399032"/>
            <a:ext cx="4553712" cy="301752"/>
          </a:xfrm>
          <a:prstGeom prst="rect">
            <a:avLst/>
          </a:prstGeom>
          <a:noFill/>
          <a:ln/>
        </p:spPr>
        <p:txBody>
          <a:bodyPr wrap="square" lIns="0" tIns="0" rIns="0" bIns="0" rtlCol="0" anchor="t"/>
          <a:lstStyle/>
          <a:p>
            <a:pPr algn="l" indent="0" marL="0">
              <a:buNone/>
            </a:pPr>
            <a:r>
              <a:rPr lang="en-US" sz="1600" b="1" dirty="0">
                <a:solidFill>
                  <a:schemeClr val="tx1"/>
                </a:solidFill>
              </a:rPr>
              <a:t>เอาไฟล์ออกมาจาก IDE ก่อน</a:t>
            </a:r>
            <a:endParaRPr lang="en-US" sz="1600" dirty="0"/>
          </a:p>
        </p:txBody>
      </p:sp>
      <p:sp>
        <p:nvSpPr>
          <p:cNvPr id="6" name="Text 4"/>
          <p:cNvSpPr txBox="1"/>
          <p:nvPr/>
        </p:nvSpPr>
        <p:spPr>
          <a:xfrm>
            <a:off x="1207008" y="1728216"/>
            <a:ext cx="4553712" cy="822960"/>
          </a:xfrm>
          <a:prstGeom prst="rect">
            <a:avLst/>
          </a:prstGeom>
          <a:noFill/>
          <a:ln/>
        </p:spPr>
        <p:txBody>
          <a:bodyPr wrap="square" lIns="0" tIns="0" rIns="0" bIns="0" rtlCol="0" anchor="t"/>
          <a:lstStyle/>
          <a:p>
            <a:pPr algn="l" indent="0" marL="0">
              <a:lnSpc>
                <a:spcPct val="125000"/>
              </a:lnSpc>
              <a:buNone/>
            </a:pPr>
            <a:r>
              <a:rPr lang="en-US" sz="1300" dirty="0">
                <a:solidFill>
                  <a:srgbClr val="4A5568"/>
                </a:solidFill>
              </a:rPr>
              <a:t>กด Sketch &gt; Export Compiled Binary  เพราะ CubeProgrammer คอมไพล์ไม่เป็น ทำได้แค่เอาไฟล์ที่เสร็จแล้วยัดลงชิป</a:t>
            </a:r>
            <a:endParaRPr lang="en-US" sz="1300" dirty="0"/>
          </a:p>
        </p:txBody>
      </p:sp>
      <p:sp>
        <p:nvSpPr>
          <p:cNvPr id="7" name="Text 5"/>
          <p:cNvSpPr txBox="1"/>
          <p:nvPr/>
        </p:nvSpPr>
        <p:spPr>
          <a:xfrm>
            <a:off x="1207008" y="2606040"/>
            <a:ext cx="4572000" cy="548640"/>
          </a:xfrm>
          <a:prstGeom prst="rect">
            <a:avLst/>
          </a:prstGeom>
          <a:noFill/>
          <a:ln/>
        </p:spPr>
        <p:txBody>
          <a:bodyPr wrap="square" lIns="0" tIns="0" rIns="0" bIns="0" rtlCol="0" anchor="t"/>
          <a:lstStyle/>
          <a:p>
            <a:pPr algn="l" indent="0" marL="0">
              <a:lnSpc>
                <a:spcPct val="120000"/>
              </a:lnSpc>
              <a:buNone/>
            </a:pPr>
            <a:r>
              <a:rPr lang="en-US" sz="1050" dirty="0">
                <a:solidFill>
                  <a:srgbClr val="1C7293"/>
                </a:solidFill>
                <a:latin typeface="Courier New" pitchFamily="34" charset="0"/>
                <a:ea typeface="Courier New" pitchFamily="34" charset="-122"/>
                <a:cs typeface="Courier New" pitchFamily="34" charset="-120"/>
              </a:rPr>
              <a:t>stm32_robot_controller\build\</a:t>
            </a:r>
            <a:endParaRPr lang="en-US" sz="1050" dirty="0"/>
          </a:p>
          <a:p>
            <a:pPr algn="l" indent="0" marL="0">
              <a:lnSpc>
                <a:spcPct val="120000"/>
              </a:lnSpc>
              <a:buNone/>
            </a:pPr>
            <a:r>
              <a:rPr lang="en-US" sz="1050" dirty="0">
                <a:solidFill>
                  <a:srgbClr val="1C7293"/>
                </a:solidFill>
                <a:latin typeface="Courier New" pitchFamily="34" charset="0"/>
                <a:ea typeface="Courier New" pitchFamily="34" charset="-122"/>
                <a:cs typeface="Courier New" pitchFamily="34" charset="-120"/>
              </a:rPr>
              <a:t>STMicroelectronics.stm32.GenF1\</a:t>
            </a:r>
            <a:endParaRPr lang="en-US" sz="1050" dirty="0"/>
          </a:p>
        </p:txBody>
      </p:sp>
      <p:sp>
        <p:nvSpPr>
          <p:cNvPr id="8" name="dot-2"/>
          <p:cNvSpPr/>
          <p:nvPr/>
        </p:nvSpPr>
        <p:spPr>
          <a:xfrm>
            <a:off x="548640" y="3291840"/>
            <a:ext cx="475488" cy="475488"/>
          </a:xfrm>
          <a:prstGeom prst="ellipse">
            <a:avLst/>
          </a:prstGeom>
          <a:solidFill>
            <a:srgbClr val="E8803A"/>
          </a:solidFill>
          <a:ln w="12700">
            <a:solidFill>
              <a:srgbClr val="E8803A"/>
            </a:solidFill>
            <a:prstDash val="solid"/>
          </a:ln>
        </p:spPr>
      </p:sp>
      <p:sp>
        <p:nvSpPr>
          <p:cNvPr id="9" name="Text 7"/>
          <p:cNvSpPr txBox="1"/>
          <p:nvPr/>
        </p:nvSpPr>
        <p:spPr>
          <a:xfrm>
            <a:off x="548640" y="329184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0" name="Text 8"/>
          <p:cNvSpPr txBox="1"/>
          <p:nvPr/>
        </p:nvSpPr>
        <p:spPr>
          <a:xfrm>
            <a:off x="1207008" y="3273552"/>
            <a:ext cx="4553712" cy="301752"/>
          </a:xfrm>
          <a:prstGeom prst="rect">
            <a:avLst/>
          </a:prstGeom>
          <a:noFill/>
          <a:ln/>
        </p:spPr>
        <p:txBody>
          <a:bodyPr wrap="square" lIns="0" tIns="0" rIns="0" bIns="0" rtlCol="0" anchor="t"/>
          <a:lstStyle/>
          <a:p>
            <a:pPr algn="l" indent="0" marL="0">
              <a:buNone/>
            </a:pPr>
            <a:r>
              <a:rPr lang="en-US" sz="1600" b="1" dirty="0">
                <a:solidFill>
                  <a:schemeClr val="tx1"/>
                </a:solidFill>
              </a:rPr>
              <a:t>แล้วสั่งเขียนลงชิป</a:t>
            </a:r>
            <a:endParaRPr lang="en-US" sz="1600" dirty="0"/>
          </a:p>
        </p:txBody>
      </p:sp>
      <p:sp>
        <p:nvSpPr>
          <p:cNvPr id="11" name="Text 9"/>
          <p:cNvSpPr txBox="1"/>
          <p:nvPr/>
        </p:nvSpPr>
        <p:spPr>
          <a:xfrm>
            <a:off x="1207008" y="3602736"/>
            <a:ext cx="4553712" cy="822960"/>
          </a:xfrm>
          <a:prstGeom prst="rect">
            <a:avLst/>
          </a:prstGeom>
          <a:noFill/>
          <a:ln/>
        </p:spPr>
        <p:txBody>
          <a:bodyPr wrap="square" lIns="0" tIns="0" rIns="0" bIns="0" rtlCol="0" anchor="t"/>
          <a:lstStyle/>
          <a:p>
            <a:pPr algn="l" indent="0" marL="0">
              <a:lnSpc>
                <a:spcPct val="125000"/>
              </a:lnSpc>
              <a:buNone/>
            </a:pPr>
            <a:r>
              <a:rPr lang="en-US" sz="1300" dirty="0">
                <a:solidFill>
                  <a:srgbClr val="4A5568"/>
                </a:solidFill>
              </a:rPr>
              <a:t>ต่อ ST-Link ไว้เหมือนเดิม แล้วพิมพ์คำสั่งข้างล่างนี้</a:t>
            </a:r>
            <a:endParaRPr lang="en-US" sz="1300" dirty="0"/>
          </a:p>
        </p:txBody>
      </p:sp>
      <p:sp>
        <p:nvSpPr>
          <p:cNvPr id="12" name="cmd-box"/>
          <p:cNvSpPr/>
          <p:nvPr/>
        </p:nvSpPr>
        <p:spPr>
          <a:xfrm>
            <a:off x="548640" y="4069080"/>
            <a:ext cx="5212080" cy="1051560"/>
          </a:xfrm>
          <a:prstGeom prst="roundRect">
            <a:avLst>
              <a:gd name="adj" fmla="val 8696"/>
            </a:avLst>
          </a:prstGeom>
          <a:solidFill>
            <a:schemeClr val="tx1"/>
          </a:solidFill>
          <a:ln w="12700">
            <a:solidFill>
              <a:schemeClr val="tx1"/>
            </a:solidFill>
            <a:prstDash val="solid"/>
          </a:ln>
        </p:spPr>
      </p:sp>
      <p:sp>
        <p:nvSpPr>
          <p:cNvPr id="13" name="Text 11"/>
          <p:cNvSpPr txBox="1"/>
          <p:nvPr/>
        </p:nvSpPr>
        <p:spPr>
          <a:xfrm>
            <a:off x="804672" y="4224528"/>
            <a:ext cx="4700016" cy="822960"/>
          </a:xfrm>
          <a:prstGeom prst="rect">
            <a:avLst/>
          </a:prstGeom>
          <a:noFill/>
          <a:ln/>
        </p:spPr>
        <p:txBody>
          <a:bodyPr wrap="square" lIns="0" tIns="0" rIns="0" bIns="0" rtlCol="0" anchor="t"/>
          <a:lstStyle/>
          <a:p>
            <a:pPr algn="l" indent="0" marL="0">
              <a:lnSpc>
                <a:spcPct val="120000"/>
              </a:lnSpc>
              <a:buNone/>
            </a:pPr>
            <a:r>
              <a:rPr lang="en-US" sz="1100" dirty="0">
                <a:solidFill>
                  <a:srgbClr val="E8803A"/>
                </a:solidFill>
                <a:latin typeface="Courier New" pitchFamily="34" charset="0"/>
                <a:ea typeface="Courier New" pitchFamily="34" charset="-122"/>
                <a:cs typeface="Courier New" pitchFamily="34" charset="-120"/>
              </a:rPr>
              <a:t>STM32_Programmer_CLI.exe -c port=SWD</a:t>
            </a:r>
            <a:endParaRPr lang="en-US" sz="1100" dirty="0"/>
          </a:p>
          <a:p>
            <a:pPr algn="l" indent="0" marL="0">
              <a:lnSpc>
                <a:spcPct val="120000"/>
              </a:lnSpc>
              <a:buNone/>
            </a:pPr>
            <a:r>
              <a:rPr lang="en-US" sz="1100" dirty="0">
                <a:solidFill>
                  <a:srgbClr val="E8803A"/>
                </a:solidFill>
                <a:latin typeface="Courier New" pitchFamily="34" charset="0"/>
                <a:ea typeface="Courier New" pitchFamily="34" charset="-122"/>
                <a:cs typeface="Courier New" pitchFamily="34" charset="-120"/>
              </a:rPr>
              <a:t>   mode=UR -w firmware.bin 0x08000000</a:t>
            </a:r>
            <a:endParaRPr lang="en-US" sz="1100" dirty="0"/>
          </a:p>
          <a:p>
            <a:pPr algn="l" indent="0" marL="0">
              <a:lnSpc>
                <a:spcPct val="120000"/>
              </a:lnSpc>
              <a:buNone/>
            </a:pPr>
            <a:r>
              <a:rPr lang="en-US" sz="1100" dirty="0">
                <a:solidFill>
                  <a:srgbClr val="E8803A"/>
                </a:solidFill>
                <a:latin typeface="Courier New" pitchFamily="34" charset="0"/>
                <a:ea typeface="Courier New" pitchFamily="34" charset="-122"/>
                <a:cs typeface="Courier New" pitchFamily="34" charset="-120"/>
              </a:rPr>
              <a:t>   -v -rst</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309360" y="1371600"/>
          <a:ext cx="5303520" cy="914400"/>
        </p:xfrm>
        <a:graphic>
          <a:graphicData uri="http://schemas.openxmlformats.org/drawingml/2006/table">
            <a:tbl>
              <a:tblPr/>
              <a:tblGrid>
                <a:gridCol w="2377440"/>
                <a:gridCol w="2926080"/>
              </a:tblGrid>
              <a:tr h="0">
                <a:tc>
                  <a:txBody>
                    <a:bodyPr/>
                    <a:lstStyle/>
                    <a:p>
                      <a:pPr indent="0" marL="0">
                        <a:buNone/>
                      </a:pPr>
                      <a:r>
                        <a:rPr lang="en-US" sz="1300" b="1" dirty="0">
                          <a:solidFill>
                            <a:srgbClr val="FFFFFF"/>
                          </a:solidFill>
                        </a:rPr>
                        <a:t>ส่วนของคำสั่ง</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16202E"/>
                    </a:solidFill>
                  </a:tcPr>
                </a:tc>
                <a:tc>
                  <a:txBody>
                    <a:bodyPr/>
                    <a:lstStyle/>
                    <a:p>
                      <a:pPr indent="0" marL="0">
                        <a:buNone/>
                      </a:pPr>
                      <a:r>
                        <a:rPr lang="en-US" sz="1300" b="1" dirty="0">
                          <a:solidFill>
                            <a:srgbClr val="FFFFFF"/>
                          </a:solidFill>
                        </a:rPr>
                        <a:t>หมายถึง</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16202E"/>
                    </a:solidFill>
                  </a:tcPr>
                </a:tc>
              </a:tr>
              <a:tr h="0">
                <a:tc>
                  <a:txBody>
                    <a:bodyPr/>
                    <a:lstStyle/>
                    <a:p>
                      <a:pPr indent="0" marL="0">
                        <a:buNone/>
                      </a:pPr>
                      <a:r>
                        <a:rPr lang="en-US" sz="1200" b="1" dirty="0">
                          <a:solidFill>
                            <a:srgbClr val="16202E"/>
                          </a:solidFill>
                        </a:rPr>
                        <a:t>-c port=SWD mode=UR</a:t>
                      </a:r>
                      <a:endParaRPr lang="en-US" sz="12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00" dirty="0">
                          <a:solidFill>
                            <a:srgbClr val="4A5568"/>
                          </a:solidFill>
                        </a:rPr>
                        <a:t>ต่อผ่าน ST-Link</a:t>
                      </a:r>
                      <a:endParaRPr lang="en-US" sz="12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6202E"/>
                          </a:solidFill>
                        </a:rPr>
                        <a:t>-w ไฟล์ 0x08000000</a:t>
                      </a:r>
                      <a:endParaRPr lang="en-US" sz="12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00" dirty="0">
                          <a:solidFill>
                            <a:srgbClr val="4A5568"/>
                          </a:solidFill>
                        </a:rPr>
                        <a:t>เขียนลงที่อยู่เริ่มต้นของแฟลช</a:t>
                      </a:r>
                      <a:endParaRPr lang="en-US" sz="12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6202E"/>
                          </a:solidFill>
                        </a:rPr>
                        <a:t>-v</a:t>
                      </a:r>
                      <a:endParaRPr lang="en-US" sz="12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00" dirty="0">
                          <a:solidFill>
                            <a:srgbClr val="4A5568"/>
                          </a:solidFill>
                        </a:rPr>
                        <a:t>อ่านกลับมาเทียบว่าตรงไหม</a:t>
                      </a:r>
                      <a:endParaRPr lang="en-US" sz="12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6202E"/>
                          </a:solidFill>
                        </a:rPr>
                        <a:t>-rst</a:t>
                      </a:r>
                      <a:endParaRPr lang="en-US" sz="12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00" dirty="0">
                          <a:solidFill>
                            <a:srgbClr val="4A5568"/>
                          </a:solidFill>
                        </a:rPr>
                        <a:t>รีเซ็ตให้รันทันที</a:t>
                      </a:r>
                      <a:endParaRPr lang="en-US" sz="12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r>
            </a:tbl>
          </a:graphicData>
        </a:graphic>
      </p:graphicFrame>
      <p:sp>
        <p:nvSpPr>
          <p:cNvPr id="15" name="callout"/>
          <p:cNvSpPr/>
          <p:nvPr/>
        </p:nvSpPr>
        <p:spPr>
          <a:xfrm>
            <a:off x="6309360" y="3291840"/>
            <a:ext cx="5303520" cy="1325880"/>
          </a:xfrm>
          <a:prstGeom prst="roundRect">
            <a:avLst>
              <a:gd name="adj" fmla="val 5517"/>
            </a:avLst>
          </a:prstGeom>
          <a:solidFill>
            <a:srgbClr val="FBEEEC"/>
          </a:solidFill>
          <a:ln w="12700">
            <a:solidFill>
              <a:srgbClr val="F0D3CE"/>
            </a:solidFill>
            <a:prstDash val="solid"/>
          </a:ln>
        </p:spPr>
      </p:sp>
      <p:sp>
        <p:nvSpPr>
          <p:cNvPr id="16" name="Text 13"/>
          <p:cNvSpPr txBox="1"/>
          <p:nvPr/>
        </p:nvSpPr>
        <p:spPr>
          <a:xfrm>
            <a:off x="6537960" y="3419856"/>
            <a:ext cx="4846320" cy="274320"/>
          </a:xfrm>
          <a:prstGeom prst="rect">
            <a:avLst/>
          </a:prstGeom>
          <a:noFill/>
          <a:ln/>
        </p:spPr>
        <p:txBody>
          <a:bodyPr wrap="square" lIns="0" tIns="0" rIns="0" bIns="0" rtlCol="0" anchor="t"/>
          <a:lstStyle/>
          <a:p>
            <a:pPr algn="l" indent="0" marL="0">
              <a:buNone/>
            </a:pPr>
            <a:r>
              <a:rPr lang="en-US" sz="1400" b="1" dirty="0">
                <a:solidFill>
                  <a:srgbClr val="B3261E"/>
                </a:solidFill>
              </a:rPr>
              <a:t>เลข 0x08000000 ใส่เฉพาะไฟล์ .bin</a:t>
            </a:r>
            <a:endParaRPr lang="en-US" sz="1400" dirty="0"/>
          </a:p>
        </p:txBody>
      </p:sp>
      <p:sp>
        <p:nvSpPr>
          <p:cNvPr id="17" name="Text 14"/>
          <p:cNvSpPr txBox="1"/>
          <p:nvPr/>
        </p:nvSpPr>
        <p:spPr>
          <a:xfrm>
            <a:off x="6537960" y="3730752"/>
            <a:ext cx="4846320" cy="758952"/>
          </a:xfrm>
          <a:prstGeom prst="rect">
            <a:avLst/>
          </a:prstGeom>
          <a:noFill/>
          <a:ln/>
        </p:spPr>
        <p:txBody>
          <a:bodyPr wrap="square" lIns="0" tIns="0" rIns="0" bIns="0" rtlCol="0" anchor="t"/>
          <a:lstStyle/>
          <a:p>
            <a:pPr algn="l" indent="0" marL="0">
              <a:lnSpc>
                <a:spcPct val="120000"/>
              </a:lnSpc>
              <a:buNone/>
            </a:pPr>
            <a:r>
              <a:rPr lang="en-US" sz="1250" dirty="0">
                <a:solidFill>
                  <a:srgbClr val="4A5568"/>
                </a:solidFill>
              </a:rPr>
              <a:t>ถ้าใช้ไฟล์ .hex ไม่ต้องใส่ เพราะในไฟล์ระบุที่อยู่มาเองแล้ว เขียนแค่ -w ไฟล์.hex พอ</a:t>
            </a:r>
            <a:endParaRPr lang="en-US" sz="1250" dirty="0"/>
          </a:p>
        </p:txBody>
      </p:sp>
      <p:sp>
        <p:nvSpPr>
          <p:cNvPr id="18" name="callout"/>
          <p:cNvSpPr/>
          <p:nvPr/>
        </p:nvSpPr>
        <p:spPr>
          <a:xfrm>
            <a:off x="548640" y="5303520"/>
            <a:ext cx="11064240" cy="777240"/>
          </a:xfrm>
          <a:prstGeom prst="roundRect">
            <a:avLst>
              <a:gd name="adj" fmla="val 9412"/>
            </a:avLst>
          </a:prstGeom>
          <a:solidFill>
            <a:srgbClr val="E8F1F5"/>
          </a:solidFill>
          <a:ln w="12700">
            <a:solidFill>
              <a:srgbClr val="CBE0E9"/>
            </a:solidFill>
            <a:prstDash val="solid"/>
          </a:ln>
        </p:spPr>
      </p:sp>
      <p:sp>
        <p:nvSpPr>
          <p:cNvPr id="19" name="Text 16"/>
          <p:cNvSpPr txBox="1"/>
          <p:nvPr/>
        </p:nvSpPr>
        <p:spPr>
          <a:xfrm>
            <a:off x="777240" y="5431536"/>
            <a:ext cx="10607040" cy="274320"/>
          </a:xfrm>
          <a:prstGeom prst="rect">
            <a:avLst/>
          </a:prstGeom>
          <a:noFill/>
          <a:ln/>
        </p:spPr>
        <p:txBody>
          <a:bodyPr wrap="square" lIns="0" tIns="0" rIns="0" bIns="0" rtlCol="0" anchor="t"/>
          <a:lstStyle/>
          <a:p>
            <a:pPr algn="l" indent="0" marL="0">
              <a:buNone/>
            </a:pPr>
            <a:r>
              <a:rPr lang="en-US" sz="1400" b="1" dirty="0">
                <a:solidFill>
                  <a:srgbClr val="1C7293"/>
                </a:solidFill>
              </a:rPr>
              <a:t>ใช้ตอนไหนถึงจะคุ้ม</a:t>
            </a:r>
            <a:endParaRPr lang="en-US" sz="1400" dirty="0"/>
          </a:p>
        </p:txBody>
      </p:sp>
      <p:sp>
        <p:nvSpPr>
          <p:cNvPr id="20" name="Text 17"/>
          <p:cNvSpPr txBox="1"/>
          <p:nvPr/>
        </p:nvSpPr>
        <p:spPr>
          <a:xfrm>
            <a:off x="777240" y="5742432"/>
            <a:ext cx="10607040" cy="210312"/>
          </a:xfrm>
          <a:prstGeom prst="rect">
            <a:avLst/>
          </a:prstGeom>
          <a:noFill/>
          <a:ln/>
        </p:spPr>
        <p:txBody>
          <a:bodyPr wrap="square" lIns="0" tIns="0" rIns="0" bIns="0" rtlCol="0" anchor="t"/>
          <a:lstStyle/>
          <a:p>
            <a:pPr algn="l" indent="0" marL="0">
              <a:lnSpc>
                <a:spcPct val="120000"/>
              </a:lnSpc>
              <a:buNone/>
            </a:pPr>
            <a:r>
              <a:rPr lang="en-US" sz="1250" dirty="0">
                <a:solidFill>
                  <a:srgbClr val="4A5568"/>
                </a:solidFill>
              </a:rPr>
              <a:t>ตอนอัปหลายบอร์ดด้วยไฟล์เดียวกัน หรือส่งไฟล์ให้คนอื่นแฟลชโดยไม่ต้องให้เขาลง Arduino IDE ทั้งชุด  ถ้าแก้โค้ดแล้วอัปรอบเดียว กดปุ่ม Upload ใน IDE เร็วกว่า</a:t>
            </a:r>
            <a:endParaRPr lang="en-US" sz="1250" dirty="0"/>
          </a:p>
        </p:txBody>
      </p:sp>
      <p:sp>
        <p:nvSpPr>
          <p:cNvPr id="25" name="Slide Number Placeholder 0"/>
          <p:cNvSpPr>
            <a:spLocks noGrp="1"/>
          </p:cNvSpPr>
          <p:nvPr>
            <p:ph type="sldNum" sz="quarter" idx="4294967295"/>
          </p:nvPr>
        </p:nvSpPr>
        <p:spPr>
          <a:xfrm>
            <a:off x="11338560" y="62636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E9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377440"/>
            <a:ext cx="11064240" cy="457200"/>
          </a:xfrm>
          <a:prstGeom prst="rect">
            <a:avLst/>
          </a:prstGeom>
          <a:noFill/>
          <a:ln/>
        </p:spPr>
        <p:txBody>
          <a:bodyPr wrap="square" rtlCol="0"/>
          <a:lstStyle/>
          <a:p>
            <a:pPr algn="l" indent="0" marL="0">
              <a:buNone/>
            </a:pPr>
            <a:r>
              <a:rPr lang="en-US" sz="6000" b="1" dirty="0">
                <a:solidFill>
                  <a:srgbClr val="E8803A"/>
                </a:solidFill>
              </a:rPr>
              <a:t>02</a:t>
            </a:r>
            <a:endParaRPr lang="en-US" sz="6000" dirty="0"/>
          </a:p>
        </p:txBody>
      </p:sp>
      <p:sp>
        <p:nvSpPr>
          <p:cNvPr id="3" name="Text 0"/>
          <p:cNvSpPr/>
          <p:nvPr>
            <p:ph idx="101" type="title" hasCustomPrompt="1"/>
          </p:nvPr>
        </p:nvSpPr>
        <p:spPr>
          <a:xfrm>
            <a:off x="548640" y="3200400"/>
            <a:ext cx="11064240" cy="914400"/>
          </a:xfrm>
          <a:prstGeom prst="rect">
            <a:avLst/>
          </a:prstGeom>
          <a:noFill/>
          <a:ln/>
        </p:spPr>
        <p:txBody>
          <a:bodyPr wrap="square" rtlCol="0"/>
          <a:lstStyle/>
          <a:p>
            <a:pPr algn="l" indent="0" marL="0">
              <a:buNone/>
            </a:pPr>
            <a:r>
              <a:rPr lang="en-US" sz="4000" b="1" dirty="0">
                <a:solidFill>
                  <a:schemeClr val="bg1"/>
                </a:solidFill>
              </a:rPr>
              <a:t>เปิดใช้งานจริง</a:t>
            </a:r>
            <a:endParaRPr lang="en-US" sz="4000" dirty="0"/>
          </a:p>
        </p:txBody>
      </p:sp>
      <p:sp>
        <p:nvSpPr>
          <p:cNvPr id="4" name="Text 0"/>
          <p:cNvSpPr/>
          <p:nvPr>
            <p:ph idx="102" type="body" hasCustomPrompt="1"/>
          </p:nvPr>
        </p:nvSpPr>
        <p:spPr>
          <a:xfrm>
            <a:off x="548640" y="4206240"/>
            <a:ext cx="8686800" cy="914400"/>
          </a:xfrm>
          <a:prstGeom prst="rect">
            <a:avLst/>
          </a:prstGeom>
          <a:noFill/>
          <a:ln/>
        </p:spPr>
        <p:txBody>
          <a:bodyPr wrap="square" rtlCol="0"/>
          <a:lstStyle/>
          <a:p>
            <a:pPr algn="l" indent="0" marL="0">
              <a:buNone/>
            </a:pPr>
            <a:r>
              <a:rPr lang="en-US" sz="1600" dirty="0">
                <a:solidFill>
                  <a:srgbClr val="B9C6D4"/>
                </a:solidFill>
              </a:rPr>
              <a:t>ลำดับการเปิด สิ่งที่เห็นบนจอ หน้าเว็บควบคุม และข้อมูลที่เก็บได้</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685800"/>
          </a:xfrm>
          <a:prstGeom prst="rect">
            <a:avLst/>
          </a:prstGeom>
          <a:noFill/>
          <a:ln/>
        </p:spPr>
        <p:txBody>
          <a:bodyPr wrap="square" rtlCol="0"/>
          <a:lstStyle/>
          <a:p>
            <a:pPr algn="l" indent="0" marL="0">
              <a:buNone/>
            </a:pPr>
            <a:r>
              <a:rPr lang="en-US" sz="3200" b="1" dirty="0">
                <a:solidFill>
                  <a:schemeClr val="tx1"/>
                </a:solidFill>
              </a:rPr>
              <a:t>เปิดใช้งาน 6 ขั้นตอน</a:t>
            </a:r>
            <a:endParaRPr lang="en-US" sz="3200" dirty="0"/>
          </a:p>
        </p:txBody>
      </p:sp>
      <p:sp>
        <p:nvSpPr>
          <p:cNvPr id="3" name="dot-1"/>
          <p:cNvSpPr/>
          <p:nvPr/>
        </p:nvSpPr>
        <p:spPr>
          <a:xfrm>
            <a:off x="548640" y="1463040"/>
            <a:ext cx="475488" cy="475488"/>
          </a:xfrm>
          <a:prstGeom prst="ellipse">
            <a:avLst/>
          </a:prstGeom>
          <a:solidFill>
            <a:srgbClr val="E8803A"/>
          </a:solidFill>
          <a:ln w="12700">
            <a:solidFill>
              <a:srgbClr val="E8803A"/>
            </a:solidFill>
            <a:prstDash val="solid"/>
          </a:ln>
        </p:spPr>
      </p:sp>
      <p:sp>
        <p:nvSpPr>
          <p:cNvPr id="4" name="Text 2"/>
          <p:cNvSpPr txBox="1"/>
          <p:nvPr/>
        </p:nvSpPr>
        <p:spPr>
          <a:xfrm>
            <a:off x="548640" y="146304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5" name="Text 3"/>
          <p:cNvSpPr txBox="1"/>
          <p:nvPr/>
        </p:nvSpPr>
        <p:spPr>
          <a:xfrm>
            <a:off x="1207008" y="1444752"/>
            <a:ext cx="4553712" cy="301752"/>
          </a:xfrm>
          <a:prstGeom prst="rect">
            <a:avLst/>
          </a:prstGeom>
          <a:noFill/>
          <a:ln/>
        </p:spPr>
        <p:txBody>
          <a:bodyPr wrap="square" lIns="0" tIns="0" rIns="0" bIns="0" rtlCol="0" anchor="t"/>
          <a:lstStyle/>
          <a:p>
            <a:pPr algn="l" indent="0" marL="0">
              <a:buNone/>
            </a:pPr>
            <a:r>
              <a:rPr lang="en-US" sz="1600" b="1" dirty="0">
                <a:solidFill>
                  <a:schemeClr val="tx1"/>
                </a:solidFill>
              </a:rPr>
              <a:t>เปิดไฟหุ่น</a:t>
            </a:r>
            <a:endParaRPr lang="en-US" sz="1600" dirty="0"/>
          </a:p>
        </p:txBody>
      </p:sp>
      <p:sp>
        <p:nvSpPr>
          <p:cNvPr id="6" name="Text 4"/>
          <p:cNvSpPr txBox="1"/>
          <p:nvPr/>
        </p:nvSpPr>
        <p:spPr>
          <a:xfrm>
            <a:off x="1207008" y="1773936"/>
            <a:ext cx="4553712" cy="822960"/>
          </a:xfrm>
          <a:prstGeom prst="rect">
            <a:avLst/>
          </a:prstGeom>
          <a:noFill/>
          <a:ln/>
        </p:spPr>
        <p:txBody>
          <a:bodyPr wrap="square" lIns="0" tIns="0" rIns="0" bIns="0" rtlCol="0" anchor="t"/>
          <a:lstStyle/>
          <a:p>
            <a:pPr algn="l" indent="0" marL="0">
              <a:lnSpc>
                <a:spcPct val="125000"/>
              </a:lnSpc>
              <a:buNone/>
            </a:pPr>
            <a:r>
              <a:rPr lang="en-US" sz="1300" dirty="0">
                <a:solidFill>
                  <a:srgbClr val="4A5568"/>
                </a:solidFill>
              </a:rPr>
              <a:t>จอจะขึ้นหน้าต้อนรับ 2.5 วินาที แล้วเปลี่ยนเป็นหน้าสถานะเอง</a:t>
            </a:r>
            <a:endParaRPr lang="en-US" sz="1300" dirty="0"/>
          </a:p>
        </p:txBody>
      </p:sp>
      <p:sp>
        <p:nvSpPr>
          <p:cNvPr id="7" name="dot-2"/>
          <p:cNvSpPr/>
          <p:nvPr/>
        </p:nvSpPr>
        <p:spPr>
          <a:xfrm>
            <a:off x="6400800" y="1463040"/>
            <a:ext cx="475488" cy="475488"/>
          </a:xfrm>
          <a:prstGeom prst="ellipse">
            <a:avLst/>
          </a:prstGeom>
          <a:solidFill>
            <a:srgbClr val="E8803A"/>
          </a:solidFill>
          <a:ln w="12700">
            <a:solidFill>
              <a:srgbClr val="E8803A"/>
            </a:solidFill>
            <a:prstDash val="solid"/>
          </a:ln>
        </p:spPr>
      </p:sp>
      <p:sp>
        <p:nvSpPr>
          <p:cNvPr id="8" name="Text 6"/>
          <p:cNvSpPr txBox="1"/>
          <p:nvPr/>
        </p:nvSpPr>
        <p:spPr>
          <a:xfrm>
            <a:off x="6400800" y="146304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9" name="Text 7"/>
          <p:cNvSpPr txBox="1"/>
          <p:nvPr/>
        </p:nvSpPr>
        <p:spPr>
          <a:xfrm>
            <a:off x="7059168" y="1444752"/>
            <a:ext cx="4553712" cy="301752"/>
          </a:xfrm>
          <a:prstGeom prst="rect">
            <a:avLst/>
          </a:prstGeom>
          <a:noFill/>
          <a:ln/>
        </p:spPr>
        <p:txBody>
          <a:bodyPr wrap="square" lIns="0" tIns="0" rIns="0" bIns="0" rtlCol="0" anchor="t"/>
          <a:lstStyle/>
          <a:p>
            <a:pPr algn="l" indent="0" marL="0">
              <a:buNone/>
            </a:pPr>
            <a:r>
              <a:rPr lang="en-US" sz="1600" b="1" dirty="0">
                <a:solidFill>
                  <a:schemeClr val="tx1"/>
                </a:solidFill>
              </a:rPr>
              <a:t>ต่อ Wi-Fi ของหุ่น</a:t>
            </a:r>
            <a:endParaRPr lang="en-US" sz="1600" dirty="0"/>
          </a:p>
        </p:txBody>
      </p:sp>
      <p:sp>
        <p:nvSpPr>
          <p:cNvPr id="10" name="Text 8"/>
          <p:cNvSpPr txBox="1"/>
          <p:nvPr/>
        </p:nvSpPr>
        <p:spPr>
          <a:xfrm>
            <a:off x="7059168" y="1773936"/>
            <a:ext cx="4553712" cy="822960"/>
          </a:xfrm>
          <a:prstGeom prst="rect">
            <a:avLst/>
          </a:prstGeom>
          <a:noFill/>
          <a:ln/>
        </p:spPr>
        <p:txBody>
          <a:bodyPr wrap="square" lIns="0" tIns="0" rIns="0" bIns="0" rtlCol="0" anchor="t"/>
          <a:lstStyle/>
          <a:p>
            <a:pPr algn="l" indent="0" marL="0">
              <a:lnSpc>
                <a:spcPct val="125000"/>
              </a:lnSpc>
              <a:buNone/>
            </a:pPr>
            <a:r>
              <a:rPr lang="en-US" sz="1300" dirty="0">
                <a:solidFill>
                  <a:srgbClr val="4A5568"/>
                </a:solidFill>
              </a:rPr>
              <a:t>ชื่อ My_Robot2 รหัส password1234  ต่อทั้งมือถือและเครื่อง PC</a:t>
            </a:r>
            <a:endParaRPr lang="en-US" sz="1300" dirty="0"/>
          </a:p>
        </p:txBody>
      </p:sp>
      <p:sp>
        <p:nvSpPr>
          <p:cNvPr id="11" name="dot-3"/>
          <p:cNvSpPr/>
          <p:nvPr/>
        </p:nvSpPr>
        <p:spPr>
          <a:xfrm>
            <a:off x="548640" y="2761488"/>
            <a:ext cx="475488" cy="475488"/>
          </a:xfrm>
          <a:prstGeom prst="ellipse">
            <a:avLst/>
          </a:prstGeom>
          <a:solidFill>
            <a:srgbClr val="E8803A"/>
          </a:solidFill>
          <a:ln w="12700">
            <a:solidFill>
              <a:srgbClr val="E8803A"/>
            </a:solidFill>
            <a:prstDash val="solid"/>
          </a:ln>
        </p:spPr>
      </p:sp>
      <p:sp>
        <p:nvSpPr>
          <p:cNvPr id="12" name="Text 10"/>
          <p:cNvSpPr txBox="1"/>
          <p:nvPr/>
        </p:nvSpPr>
        <p:spPr>
          <a:xfrm>
            <a:off x="548640" y="2761488"/>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3" name="Text 11"/>
          <p:cNvSpPr txBox="1"/>
          <p:nvPr/>
        </p:nvSpPr>
        <p:spPr>
          <a:xfrm>
            <a:off x="1207008" y="2743200"/>
            <a:ext cx="4553712" cy="301752"/>
          </a:xfrm>
          <a:prstGeom prst="rect">
            <a:avLst/>
          </a:prstGeom>
          <a:noFill/>
          <a:ln/>
        </p:spPr>
        <p:txBody>
          <a:bodyPr wrap="square" lIns="0" tIns="0" rIns="0" bIns="0" rtlCol="0" anchor="t"/>
          <a:lstStyle/>
          <a:p>
            <a:pPr algn="l" indent="0" marL="0">
              <a:buNone/>
            </a:pPr>
            <a:r>
              <a:rPr lang="en-US" sz="1600" b="1" dirty="0">
                <a:solidFill>
                  <a:schemeClr val="tx1"/>
                </a:solidFill>
              </a:rPr>
              <a:t>เปิดหน้าเว็บ</a:t>
            </a:r>
            <a:endParaRPr lang="en-US" sz="1600" dirty="0"/>
          </a:p>
        </p:txBody>
      </p:sp>
      <p:sp>
        <p:nvSpPr>
          <p:cNvPr id="14" name="Text 12"/>
          <p:cNvSpPr txBox="1"/>
          <p:nvPr/>
        </p:nvSpPr>
        <p:spPr>
          <a:xfrm>
            <a:off x="1207008" y="3072384"/>
            <a:ext cx="4553712" cy="822960"/>
          </a:xfrm>
          <a:prstGeom prst="rect">
            <a:avLst/>
          </a:prstGeom>
          <a:noFill/>
          <a:ln/>
        </p:spPr>
        <p:txBody>
          <a:bodyPr wrap="square" lIns="0" tIns="0" rIns="0" bIns="0" rtlCol="0" anchor="t"/>
          <a:lstStyle/>
          <a:p>
            <a:pPr algn="l" indent="0" marL="0">
              <a:lnSpc>
                <a:spcPct val="125000"/>
              </a:lnSpc>
              <a:buNone/>
            </a:pPr>
            <a:r>
              <a:rPr lang="en-US" sz="1300" dirty="0">
                <a:solidFill>
                  <a:srgbClr val="4A5568"/>
                </a:solidFill>
              </a:rPr>
              <a:t>พิมพ์ 192.168.4.1 ในเบราว์เซอร์  ภาพกล้องจะขึ้นเองเมื่อกล้องเกาะ Wi-Fi ได้</a:t>
            </a:r>
            <a:endParaRPr lang="en-US" sz="1300" dirty="0"/>
          </a:p>
        </p:txBody>
      </p:sp>
      <p:sp>
        <p:nvSpPr>
          <p:cNvPr id="15" name="dot-4"/>
          <p:cNvSpPr/>
          <p:nvPr/>
        </p:nvSpPr>
        <p:spPr>
          <a:xfrm>
            <a:off x="6400800" y="2761488"/>
            <a:ext cx="475488" cy="475488"/>
          </a:xfrm>
          <a:prstGeom prst="ellipse">
            <a:avLst/>
          </a:prstGeom>
          <a:solidFill>
            <a:srgbClr val="E8803A"/>
          </a:solidFill>
          <a:ln w="12700">
            <a:solidFill>
              <a:srgbClr val="E8803A"/>
            </a:solidFill>
            <a:prstDash val="solid"/>
          </a:ln>
        </p:spPr>
      </p:sp>
      <p:sp>
        <p:nvSpPr>
          <p:cNvPr id="16" name="Text 14"/>
          <p:cNvSpPr txBox="1"/>
          <p:nvPr/>
        </p:nvSpPr>
        <p:spPr>
          <a:xfrm>
            <a:off x="6400800" y="2761488"/>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7" name="Text 15"/>
          <p:cNvSpPr txBox="1"/>
          <p:nvPr/>
        </p:nvSpPr>
        <p:spPr>
          <a:xfrm>
            <a:off x="7059168" y="2743200"/>
            <a:ext cx="4553712" cy="301752"/>
          </a:xfrm>
          <a:prstGeom prst="rect">
            <a:avLst/>
          </a:prstGeom>
          <a:noFill/>
          <a:ln/>
        </p:spPr>
        <p:txBody>
          <a:bodyPr wrap="square" lIns="0" tIns="0" rIns="0" bIns="0" rtlCol="0" anchor="t"/>
          <a:lstStyle/>
          <a:p>
            <a:pPr algn="l" indent="0" marL="0">
              <a:buNone/>
            </a:pPr>
            <a:r>
              <a:rPr lang="en-US" sz="1600" b="1" dirty="0">
                <a:solidFill>
                  <a:schemeClr val="tx1"/>
                </a:solidFill>
              </a:rPr>
              <a:t>เลื่อนความเร็ว</a:t>
            </a:r>
            <a:endParaRPr lang="en-US" sz="1600" dirty="0"/>
          </a:p>
        </p:txBody>
      </p:sp>
      <p:sp>
        <p:nvSpPr>
          <p:cNvPr id="18" name="Text 16"/>
          <p:cNvSpPr txBox="1"/>
          <p:nvPr/>
        </p:nvSpPr>
        <p:spPr>
          <a:xfrm>
            <a:off x="7059168" y="3072384"/>
            <a:ext cx="4553712" cy="822960"/>
          </a:xfrm>
          <a:prstGeom prst="rect">
            <a:avLst/>
          </a:prstGeom>
          <a:noFill/>
          <a:ln/>
        </p:spPr>
        <p:txBody>
          <a:bodyPr wrap="square" lIns="0" tIns="0" rIns="0" bIns="0" rtlCol="0" anchor="t"/>
          <a:lstStyle/>
          <a:p>
            <a:pPr algn="l" indent="0" marL="0">
              <a:lnSpc>
                <a:spcPct val="125000"/>
              </a:lnSpc>
              <a:buNone/>
            </a:pPr>
            <a:r>
              <a:rPr lang="en-US" sz="1300" dirty="0">
                <a:solidFill>
                  <a:srgbClr val="4A5568"/>
                </a:solidFill>
              </a:rPr>
              <a:t>แถบเลื่อนเริ่มที่ 0 เสมอ ถ้าไม่เลื่อนขึ้นหุ่นจะไม่ขยับแม้อยู่ในโหมด Auto</a:t>
            </a:r>
            <a:endParaRPr lang="en-US" sz="1300" dirty="0"/>
          </a:p>
        </p:txBody>
      </p:sp>
      <p:sp>
        <p:nvSpPr>
          <p:cNvPr id="19" name="dot-5"/>
          <p:cNvSpPr/>
          <p:nvPr/>
        </p:nvSpPr>
        <p:spPr>
          <a:xfrm>
            <a:off x="548640" y="4059936"/>
            <a:ext cx="475488" cy="475488"/>
          </a:xfrm>
          <a:prstGeom prst="ellipse">
            <a:avLst/>
          </a:prstGeom>
          <a:solidFill>
            <a:srgbClr val="E8803A"/>
          </a:solidFill>
          <a:ln w="12700">
            <a:solidFill>
              <a:srgbClr val="E8803A"/>
            </a:solidFill>
            <a:prstDash val="solid"/>
          </a:ln>
        </p:spPr>
      </p:sp>
      <p:sp>
        <p:nvSpPr>
          <p:cNvPr id="20" name="Text 18"/>
          <p:cNvSpPr txBox="1"/>
          <p:nvPr/>
        </p:nvSpPr>
        <p:spPr>
          <a:xfrm>
            <a:off x="548640" y="4059936"/>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21" name="Text 19"/>
          <p:cNvSpPr txBox="1"/>
          <p:nvPr/>
        </p:nvSpPr>
        <p:spPr>
          <a:xfrm>
            <a:off x="1207008" y="4041648"/>
            <a:ext cx="4553712" cy="301752"/>
          </a:xfrm>
          <a:prstGeom prst="rect">
            <a:avLst/>
          </a:prstGeom>
          <a:noFill/>
          <a:ln/>
        </p:spPr>
        <p:txBody>
          <a:bodyPr wrap="square" lIns="0" tIns="0" rIns="0" bIns="0" rtlCol="0" anchor="t"/>
          <a:lstStyle/>
          <a:p>
            <a:pPr algn="l" indent="0" marL="0">
              <a:buNone/>
            </a:pPr>
            <a:r>
              <a:rPr lang="en-US" sz="1600" b="1" dirty="0">
                <a:solidFill>
                  <a:schemeClr val="tx1"/>
                </a:solidFill>
              </a:rPr>
              <a:t>รันสคริปต์บน PC</a:t>
            </a:r>
            <a:endParaRPr lang="en-US" sz="1600" dirty="0"/>
          </a:p>
        </p:txBody>
      </p:sp>
      <p:sp>
        <p:nvSpPr>
          <p:cNvPr id="22" name="Text 20"/>
          <p:cNvSpPr txBox="1"/>
          <p:nvPr/>
        </p:nvSpPr>
        <p:spPr>
          <a:xfrm>
            <a:off x="1207008" y="4370832"/>
            <a:ext cx="4553712" cy="822960"/>
          </a:xfrm>
          <a:prstGeom prst="rect">
            <a:avLst/>
          </a:prstGeom>
          <a:noFill/>
          <a:ln/>
        </p:spPr>
        <p:txBody>
          <a:bodyPr wrap="square" lIns="0" tIns="0" rIns="0" bIns="0" rtlCol="0" anchor="t"/>
          <a:lstStyle/>
          <a:p>
            <a:pPr algn="l" indent="0" marL="0">
              <a:lnSpc>
                <a:spcPct val="125000"/>
              </a:lnSpc>
              <a:buNone/>
            </a:pPr>
            <a:r>
              <a:rPr lang="en-US" sz="1300" dirty="0">
                <a:solidFill>
                  <a:srgbClr val="4A5568"/>
                </a:solidFill>
              </a:rPr>
              <a:t>สั่ง py pc_qr_scanner/qr_scanner.py  สคริปต์จะไล่หากล้องเองในวง</a:t>
            </a:r>
            <a:endParaRPr lang="en-US" sz="1300" dirty="0"/>
          </a:p>
        </p:txBody>
      </p:sp>
      <p:sp>
        <p:nvSpPr>
          <p:cNvPr id="23" name="dot-6"/>
          <p:cNvSpPr/>
          <p:nvPr/>
        </p:nvSpPr>
        <p:spPr>
          <a:xfrm>
            <a:off x="6400800" y="4059936"/>
            <a:ext cx="475488" cy="475488"/>
          </a:xfrm>
          <a:prstGeom prst="ellipse">
            <a:avLst/>
          </a:prstGeom>
          <a:solidFill>
            <a:srgbClr val="E8803A"/>
          </a:solidFill>
          <a:ln w="12700">
            <a:solidFill>
              <a:srgbClr val="E8803A"/>
            </a:solidFill>
            <a:prstDash val="solid"/>
          </a:ln>
        </p:spPr>
      </p:sp>
      <p:sp>
        <p:nvSpPr>
          <p:cNvPr id="24" name="Text 22"/>
          <p:cNvSpPr txBox="1"/>
          <p:nvPr/>
        </p:nvSpPr>
        <p:spPr>
          <a:xfrm>
            <a:off x="6400800" y="4059936"/>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rPr>
              <a:t>6</a:t>
            </a:r>
            <a:endParaRPr lang="en-US" sz="1500" dirty="0"/>
          </a:p>
        </p:txBody>
      </p:sp>
      <p:sp>
        <p:nvSpPr>
          <p:cNvPr id="25" name="Text 23"/>
          <p:cNvSpPr txBox="1"/>
          <p:nvPr/>
        </p:nvSpPr>
        <p:spPr>
          <a:xfrm>
            <a:off x="7059168" y="4041648"/>
            <a:ext cx="4553712" cy="301752"/>
          </a:xfrm>
          <a:prstGeom prst="rect">
            <a:avLst/>
          </a:prstGeom>
          <a:noFill/>
          <a:ln/>
        </p:spPr>
        <p:txBody>
          <a:bodyPr wrap="square" lIns="0" tIns="0" rIns="0" bIns="0" rtlCol="0" anchor="t"/>
          <a:lstStyle/>
          <a:p>
            <a:pPr algn="l" indent="0" marL="0">
              <a:buNone/>
            </a:pPr>
            <a:r>
              <a:rPr lang="en-US" sz="1600" b="1" dirty="0">
                <a:solidFill>
                  <a:schemeClr val="tx1"/>
                </a:solidFill>
              </a:rPr>
              <a:t>วางหุ่นบนเส้น</a:t>
            </a:r>
            <a:endParaRPr lang="en-US" sz="1600" dirty="0"/>
          </a:p>
        </p:txBody>
      </p:sp>
      <p:sp>
        <p:nvSpPr>
          <p:cNvPr id="26" name="Text 24"/>
          <p:cNvSpPr txBox="1"/>
          <p:nvPr/>
        </p:nvSpPr>
        <p:spPr>
          <a:xfrm>
            <a:off x="7059168" y="4370832"/>
            <a:ext cx="4553712" cy="822960"/>
          </a:xfrm>
          <a:prstGeom prst="rect">
            <a:avLst/>
          </a:prstGeom>
          <a:noFill/>
          <a:ln/>
        </p:spPr>
        <p:txBody>
          <a:bodyPr wrap="square" lIns="0" tIns="0" rIns="0" bIns="0" rtlCol="0" anchor="t"/>
          <a:lstStyle/>
          <a:p>
            <a:pPr algn="l" indent="0" marL="0">
              <a:lnSpc>
                <a:spcPct val="125000"/>
              </a:lnSpc>
              <a:buNone/>
            </a:pPr>
            <a:r>
              <a:rPr lang="en-US" sz="1300" dirty="0">
                <a:solidFill>
                  <a:srgbClr val="4A5568"/>
                </a:solidFill>
              </a:rPr>
              <a:t>ให้เซนเซอร์ตัวกลางทับเส้นดำ แล้วสลับไปโหมด Auto</a:t>
            </a:r>
            <a:endParaRPr lang="en-US" sz="1300" dirty="0"/>
          </a:p>
        </p:txBody>
      </p:sp>
      <p:sp>
        <p:nvSpPr>
          <p:cNvPr id="27" name="callout"/>
          <p:cNvSpPr/>
          <p:nvPr/>
        </p:nvSpPr>
        <p:spPr>
          <a:xfrm>
            <a:off x="548640" y="5257800"/>
            <a:ext cx="11064240" cy="822960"/>
          </a:xfrm>
          <a:prstGeom prst="roundRect">
            <a:avLst>
              <a:gd name="adj" fmla="val 8889"/>
            </a:avLst>
          </a:prstGeom>
          <a:solidFill>
            <a:srgbClr val="E8F1F5"/>
          </a:solidFill>
          <a:ln w="12700">
            <a:solidFill>
              <a:srgbClr val="CBE0E9"/>
            </a:solidFill>
            <a:prstDash val="solid"/>
          </a:ln>
        </p:spPr>
      </p:sp>
      <p:sp>
        <p:nvSpPr>
          <p:cNvPr id="28" name="Text 26"/>
          <p:cNvSpPr txBox="1"/>
          <p:nvPr/>
        </p:nvSpPr>
        <p:spPr>
          <a:xfrm>
            <a:off x="777240" y="5385816"/>
            <a:ext cx="10607040" cy="274320"/>
          </a:xfrm>
          <a:prstGeom prst="rect">
            <a:avLst/>
          </a:prstGeom>
          <a:noFill/>
          <a:ln/>
        </p:spPr>
        <p:txBody>
          <a:bodyPr wrap="square" lIns="0" tIns="0" rIns="0" bIns="0" rtlCol="0" anchor="t"/>
          <a:lstStyle/>
          <a:p>
            <a:pPr algn="l" indent="0" marL="0">
              <a:buNone/>
            </a:pPr>
            <a:r>
              <a:rPr lang="en-US" sz="1400" b="1" dirty="0">
                <a:solidFill>
                  <a:srgbClr val="1C7293"/>
                </a:solidFill>
              </a:rPr>
              <a:t>ไม่มีกล้องก็รันสคริปต์ได้</a:t>
            </a:r>
            <a:endParaRPr lang="en-US" sz="1400" dirty="0"/>
          </a:p>
        </p:txBody>
      </p:sp>
      <p:sp>
        <p:nvSpPr>
          <p:cNvPr id="29" name="Text 27"/>
          <p:cNvSpPr txBox="1"/>
          <p:nvPr/>
        </p:nvSpPr>
        <p:spPr>
          <a:xfrm>
            <a:off x="777240" y="5696712"/>
            <a:ext cx="10607040" cy="256032"/>
          </a:xfrm>
          <a:prstGeom prst="rect">
            <a:avLst/>
          </a:prstGeom>
          <a:noFill/>
          <a:ln/>
        </p:spPr>
        <p:txBody>
          <a:bodyPr wrap="square" lIns="0" tIns="0" rIns="0" bIns="0" rtlCol="0" anchor="t"/>
          <a:lstStyle/>
          <a:p>
            <a:pPr algn="l" indent="0" marL="0">
              <a:lnSpc>
                <a:spcPct val="120000"/>
              </a:lnSpc>
              <a:buNone/>
            </a:pPr>
            <a:r>
              <a:rPr lang="en-US" sz="1250" dirty="0">
                <a:solidFill>
                  <a:srgbClr val="4A5568"/>
                </a:solidFill>
              </a:rPr>
              <a:t>ถ้าหากล้องไม่เจอ สคริปต์จะทำงานต่อโดยไม่อ่าน QR แต่ยังเก็บข้อมูลการวิ่งลง CSV ครบเหมือนเดิม</a:t>
            </a:r>
            <a:endParaRPr lang="en-US" sz="1250" dirty="0"/>
          </a:p>
        </p:txBody>
      </p:sp>
      <p:sp>
        <p:nvSpPr>
          <p:cNvPr id="25" name="Slide Number Placeholder 0"/>
          <p:cNvSpPr>
            <a:spLocks noGrp="1"/>
          </p:cNvSpPr>
          <p:nvPr>
            <p:ph type="sldNum" sz="quarter" idx="4294967295"/>
          </p:nvPr>
        </p:nvSpPr>
        <p:spPr>
          <a:xfrm>
            <a:off x="11338560" y="62636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E9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685800"/>
          </a:xfrm>
          <a:prstGeom prst="rect">
            <a:avLst/>
          </a:prstGeom>
          <a:noFill/>
          <a:ln/>
        </p:spPr>
        <p:txBody>
          <a:bodyPr wrap="square" rtlCol="0"/>
          <a:lstStyle/>
          <a:p>
            <a:pPr algn="l" indent="0" marL="0">
              <a:buNone/>
            </a:pPr>
            <a:r>
              <a:rPr lang="en-US" sz="3200" b="1" dirty="0">
                <a:solidFill>
                  <a:schemeClr val="tx1"/>
                </a:solidFill>
              </a:rPr>
              <a:t>จอบอกอะไรเราบ้าง</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377440"/>
                <a:gridCol w="4114800"/>
                <a:gridCol w="4572000"/>
              </a:tblGrid>
              <a:tr h="0">
                <a:tc>
                  <a:txBody>
                    <a:bodyPr/>
                    <a:lstStyle/>
                    <a:p>
                      <a:pPr indent="0" marL="0">
                        <a:buNone/>
                      </a:pPr>
                      <a:r>
                        <a:rPr lang="en-US" sz="1300" b="1" dirty="0">
                          <a:solidFill>
                            <a:srgbClr val="FFFFFF"/>
                          </a:solidFill>
                        </a:rPr>
                        <a:t>หน้าจอ</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16202E"/>
                    </a:solidFill>
                  </a:tcPr>
                </a:tc>
                <a:tc>
                  <a:txBody>
                    <a:bodyPr/>
                    <a:lstStyle/>
                    <a:p>
                      <a:pPr indent="0" marL="0">
                        <a:buNone/>
                      </a:pPr>
                      <a:r>
                        <a:rPr lang="en-US" sz="1300" b="1" dirty="0">
                          <a:solidFill>
                            <a:srgbClr val="FFFFFF"/>
                          </a:solidFill>
                        </a:rPr>
                        <a:t>ขึ้นตอนไหน</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16202E"/>
                    </a:solidFill>
                  </a:tcPr>
                </a:tc>
                <a:tc>
                  <a:txBody>
                    <a:bodyPr/>
                    <a:lstStyle/>
                    <a:p>
                      <a:pPr indent="0" marL="0">
                        <a:buNone/>
                      </a:pPr>
                      <a:r>
                        <a:rPr lang="en-US" sz="1300" b="1" dirty="0">
                          <a:solidFill>
                            <a:srgbClr val="FFFFFF"/>
                          </a:solidFill>
                        </a:rPr>
                        <a:t>ความหมาย</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16202E"/>
                    </a:solidFill>
                  </a:tcPr>
                </a:tc>
              </a:tr>
              <a:tr h="0">
                <a:tc>
                  <a:txBody>
                    <a:bodyPr/>
                    <a:lstStyle/>
                    <a:p>
                      <a:pPr indent="0" marL="0">
                        <a:buNone/>
                      </a:pPr>
                      <a:r>
                        <a:rPr lang="en-US" sz="1250" b="1" dirty="0">
                          <a:solidFill>
                            <a:srgbClr val="16202E"/>
                          </a:solidFill>
                        </a:rPr>
                        <a:t>หน้าต้อนรับ</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50" dirty="0">
                          <a:solidFill>
                            <a:srgbClr val="4A5568"/>
                          </a:solidFill>
                        </a:rPr>
                        <a:t>2.5 วินาทีแรกหลังเปิดไฟ</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50" dirty="0">
                          <a:solidFill>
                            <a:srgbClr val="4A5568"/>
                          </a:solidFill>
                        </a:rPr>
                        <a:t>บอร์ดบูตเสร็จแล้ว จอกับสายทำงานปกติ</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16202E"/>
                          </a:solidFill>
                        </a:rPr>
                        <a:t>หน้าสถานะ</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50" dirty="0">
                          <a:solidFill>
                            <a:srgbClr val="4A5568"/>
                          </a:solidFill>
                        </a:rPr>
                        <a:t>ตอนหุ่นหยุดอยู่กับที่</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50" dirty="0">
                          <a:solidFill>
                            <a:srgbClr val="4A5568"/>
                          </a:solidFill>
                        </a:rPr>
                        <a:t>บอกโหมด ความเร็ว และ IP ของกล้อง</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16202E"/>
                          </a:solidFill>
                        </a:rPr>
                        <a:t>ตากวาดซ้ายขวา</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50" dirty="0">
                          <a:solidFill>
                            <a:srgbClr val="4A5568"/>
                          </a:solidFill>
                        </a:rPr>
                        <a:t>ตลอดเวลาที่หุ่นวิ่ง</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50" dirty="0">
                          <a:solidFill>
                            <a:srgbClr val="4A5568"/>
                          </a:solidFill>
                        </a:rPr>
                        <a:t>หุ่นกำลังมองหา QR ตรงหน้า 600 ms แล้วมองซ้ายขวาข้างละ 450 ms</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16202E"/>
                          </a:solidFill>
                        </a:rPr>
                        <a:t>หน้าเจอแล้ว</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50" dirty="0">
                          <a:solidFill>
                            <a:srgbClr val="4A5568"/>
                          </a:solidFill>
                        </a:rPr>
                        <a:t>1 วินาทีแรกหลังอ่าน QR ได้</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50" dirty="0">
                          <a:solidFill>
                            <a:srgbClr val="4A5568"/>
                          </a:solidFill>
                        </a:rPr>
                        <a:t>รหัสผ่านเข้ามาแล้ว กำลังจะหยุด</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16202E"/>
                          </a:solidFill>
                        </a:rPr>
                        <a:t>รูปสัตว์</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50" dirty="0">
                          <a:solidFill>
                            <a:srgbClr val="4A5568"/>
                          </a:solidFill>
                        </a:rPr>
                        <a:t>ช่วงที่เหลือของการหยุด 5 วินาที</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50" dirty="0">
                          <a:solidFill>
                            <a:srgbClr val="4A5568"/>
                          </a:solidFill>
                        </a:rPr>
                        <a:t>เฉลยว่าที่อ่านได้คือสัตว์อะไร</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r>
            </a:tbl>
          </a:graphicData>
        </a:graphic>
      </p:graphicFrame>
      <p:sp>
        <p:nvSpPr>
          <p:cNvPr id="4" name="callout"/>
          <p:cNvSpPr/>
          <p:nvPr/>
        </p:nvSpPr>
        <p:spPr>
          <a:xfrm>
            <a:off x="548640" y="5029200"/>
            <a:ext cx="11064240" cy="914400"/>
          </a:xfrm>
          <a:prstGeom prst="roundRect">
            <a:avLst>
              <a:gd name="adj" fmla="val 8000"/>
            </a:avLst>
          </a:prstGeom>
          <a:solidFill>
            <a:srgbClr val="E8F1F5"/>
          </a:solidFill>
          <a:ln w="12700">
            <a:solidFill>
              <a:srgbClr val="CBE0E9"/>
            </a:solidFill>
            <a:prstDash val="solid"/>
          </a:ln>
        </p:spPr>
      </p:sp>
      <p:sp>
        <p:nvSpPr>
          <p:cNvPr id="5" name="Text 2"/>
          <p:cNvSpPr txBox="1"/>
          <p:nvPr/>
        </p:nvSpPr>
        <p:spPr>
          <a:xfrm>
            <a:off x="777240" y="5157216"/>
            <a:ext cx="10607040" cy="274320"/>
          </a:xfrm>
          <a:prstGeom prst="rect">
            <a:avLst/>
          </a:prstGeom>
          <a:noFill/>
          <a:ln/>
        </p:spPr>
        <p:txBody>
          <a:bodyPr wrap="square" lIns="0" tIns="0" rIns="0" bIns="0" rtlCol="0" anchor="t"/>
          <a:lstStyle/>
          <a:p>
            <a:pPr algn="l" indent="0" marL="0">
              <a:buNone/>
            </a:pPr>
            <a:r>
              <a:rPr lang="en-US" sz="1400" b="1" dirty="0">
                <a:solidFill>
                  <a:srgbClr val="1C7293"/>
                </a:solidFill>
              </a:rPr>
              <a:t>จอคือเครื่องมือไล่ปัญหาที่ดีที่สุดที่มี</a:t>
            </a:r>
            <a:endParaRPr lang="en-US" sz="1400" dirty="0"/>
          </a:p>
        </p:txBody>
      </p:sp>
      <p:sp>
        <p:nvSpPr>
          <p:cNvPr id="6" name="Text 3"/>
          <p:cNvSpPr txBox="1"/>
          <p:nvPr/>
        </p:nvSpPr>
        <p:spPr>
          <a:xfrm>
            <a:off x="777240" y="5468112"/>
            <a:ext cx="10607040" cy="347472"/>
          </a:xfrm>
          <a:prstGeom prst="rect">
            <a:avLst/>
          </a:prstGeom>
          <a:noFill/>
          <a:ln/>
        </p:spPr>
        <p:txBody>
          <a:bodyPr wrap="square" lIns="0" tIns="0" rIns="0" bIns="0" rtlCol="0" anchor="t"/>
          <a:lstStyle/>
          <a:p>
            <a:pPr algn="l" indent="0" marL="0">
              <a:lnSpc>
                <a:spcPct val="120000"/>
              </a:lnSpc>
              <a:buNone/>
            </a:pPr>
            <a:r>
              <a:rPr lang="en-US" sz="1250" dirty="0">
                <a:solidFill>
                  <a:srgbClr val="4A5568"/>
                </a:solidFill>
              </a:rPr>
              <a:t>ไม่ต้องต่อสายคอมก็รู้ว่าบอร์ดถึงไหนแล้ว  ถ้าจอยังขึ้นหน้าต้อนรับค้างอยู่ แปลว่าโปรแกรมค้างตั้งแต่ตอนบูต ไม่ใช่เรื่อง Wi-Fi</a:t>
            </a:r>
            <a:endParaRPr lang="en-US" sz="1250" dirty="0"/>
          </a:p>
        </p:txBody>
      </p:sp>
      <p:sp>
        <p:nvSpPr>
          <p:cNvPr id="25" name="Slide Number Placeholder 0"/>
          <p:cNvSpPr>
            <a:spLocks noGrp="1"/>
          </p:cNvSpPr>
          <p:nvPr>
            <p:ph type="sldNum" sz="quarter" idx="4294967295"/>
          </p:nvPr>
        </p:nvSpPr>
        <p:spPr>
          <a:xfrm>
            <a:off x="11338560" y="62636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E9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685800"/>
          </a:xfrm>
          <a:prstGeom prst="rect">
            <a:avLst/>
          </a:prstGeom>
          <a:noFill/>
          <a:ln/>
        </p:spPr>
        <p:txBody>
          <a:bodyPr wrap="square" rtlCol="0"/>
          <a:lstStyle/>
          <a:p>
            <a:pPr algn="l" indent="0" marL="0">
              <a:buNone/>
            </a:pPr>
            <a:r>
              <a:rPr lang="en-US" sz="3200" b="1" dirty="0">
                <a:solidFill>
                  <a:schemeClr val="tx1"/>
                </a:solidFill>
              </a:rPr>
              <a:t>หน้าเว็บควบคุม</a:t>
            </a:r>
            <a:endParaRPr lang="en-US" sz="3200" dirty="0"/>
          </a:p>
        </p:txBody>
      </p:sp>
      <p:sp>
        <p:nvSpPr>
          <p:cNvPr id="3" name="card-ปุ่มทิศทาง"/>
          <p:cNvSpPr/>
          <p:nvPr/>
        </p:nvSpPr>
        <p:spPr>
          <a:xfrm>
            <a:off x="548640" y="1417320"/>
            <a:ext cx="3444240" cy="1572768"/>
          </a:xfrm>
          <a:prstGeom prst="roundRect">
            <a:avLst>
              <a:gd name="adj" fmla="val 5814"/>
            </a:avLst>
          </a:prstGeom>
          <a:solidFill>
            <a:schemeClr val="bg2"/>
          </a:solidFill>
          <a:ln w="12700">
            <a:solidFill>
              <a:srgbClr val="D9E0E8"/>
            </a:solidFill>
            <a:prstDash val="solid"/>
          </a:ln>
        </p:spPr>
      </p:sp>
      <p:sp>
        <p:nvSpPr>
          <p:cNvPr id="4" name="Text 2"/>
          <p:cNvSpPr txBox="1"/>
          <p:nvPr/>
        </p:nvSpPr>
        <p:spPr>
          <a:xfrm>
            <a:off x="804672" y="1600200"/>
            <a:ext cx="2932176" cy="365760"/>
          </a:xfrm>
          <a:prstGeom prst="rect">
            <a:avLst/>
          </a:prstGeom>
          <a:noFill/>
          <a:ln/>
        </p:spPr>
        <p:txBody>
          <a:bodyPr wrap="square" lIns="0" tIns="0" rIns="0" bIns="0" rtlCol="0" anchor="t"/>
          <a:lstStyle/>
          <a:p>
            <a:pPr algn="l" indent="0" marL="0">
              <a:buNone/>
            </a:pPr>
            <a:r>
              <a:rPr lang="en-US" sz="1600" b="1" dirty="0">
                <a:solidFill>
                  <a:srgbClr val="E8803A"/>
                </a:solidFill>
              </a:rPr>
              <a:t>ปุ่มทิศทาง</a:t>
            </a:r>
            <a:endParaRPr lang="en-US" sz="1600" dirty="0"/>
          </a:p>
        </p:txBody>
      </p:sp>
      <p:sp>
        <p:nvSpPr>
          <p:cNvPr id="5" name="Text 3"/>
          <p:cNvSpPr txBox="1"/>
          <p:nvPr/>
        </p:nvSpPr>
        <p:spPr>
          <a:xfrm>
            <a:off x="804672" y="2075688"/>
            <a:ext cx="2932176" cy="704088"/>
          </a:xfrm>
          <a:prstGeom prst="rect">
            <a:avLst/>
          </a:prstGeom>
          <a:noFill/>
          <a:ln/>
        </p:spPr>
        <p:txBody>
          <a:bodyPr wrap="square" lIns="0" tIns="0" rIns="0" bIns="0" rtlCol="0" anchor="t"/>
          <a:lstStyle/>
          <a:p>
            <a:pPr algn="l" indent="0" marL="0">
              <a:lnSpc>
                <a:spcPct val="125000"/>
              </a:lnSpc>
              <a:buNone/>
            </a:pPr>
            <a:r>
              <a:rPr lang="en-US" sz="1300" dirty="0">
                <a:solidFill>
                  <a:srgbClr val="4A5568"/>
                </a:solidFill>
              </a:rPr>
              <a:t>เดินหน้า ถอยหลัง เลี้ยวซ้าย เลี้ยวขวา และหยุด ใช้ได้เฉพาะในโหมด Manual</a:t>
            </a:r>
            <a:endParaRPr lang="en-US" sz="1300" dirty="0"/>
          </a:p>
        </p:txBody>
      </p:sp>
      <p:sp>
        <p:nvSpPr>
          <p:cNvPr id="6" name="card-แถบความเร็ว"/>
          <p:cNvSpPr/>
          <p:nvPr/>
        </p:nvSpPr>
        <p:spPr>
          <a:xfrm>
            <a:off x="4358640" y="1417320"/>
            <a:ext cx="3444240" cy="1572768"/>
          </a:xfrm>
          <a:prstGeom prst="roundRect">
            <a:avLst>
              <a:gd name="adj" fmla="val 5814"/>
            </a:avLst>
          </a:prstGeom>
          <a:solidFill>
            <a:schemeClr val="bg2"/>
          </a:solidFill>
          <a:ln w="12700">
            <a:solidFill>
              <a:srgbClr val="D9E0E8"/>
            </a:solidFill>
            <a:prstDash val="solid"/>
          </a:ln>
        </p:spPr>
      </p:sp>
      <p:sp>
        <p:nvSpPr>
          <p:cNvPr id="7" name="Text 5"/>
          <p:cNvSpPr txBox="1"/>
          <p:nvPr/>
        </p:nvSpPr>
        <p:spPr>
          <a:xfrm>
            <a:off x="4614672" y="1600200"/>
            <a:ext cx="2932176" cy="365760"/>
          </a:xfrm>
          <a:prstGeom prst="rect">
            <a:avLst/>
          </a:prstGeom>
          <a:noFill/>
          <a:ln/>
        </p:spPr>
        <p:txBody>
          <a:bodyPr wrap="square" lIns="0" tIns="0" rIns="0" bIns="0" rtlCol="0" anchor="t"/>
          <a:lstStyle/>
          <a:p>
            <a:pPr algn="l" indent="0" marL="0">
              <a:buNone/>
            </a:pPr>
            <a:r>
              <a:rPr lang="en-US" sz="1600" b="1" dirty="0">
                <a:solidFill>
                  <a:srgbClr val="E8803A"/>
                </a:solidFill>
              </a:rPr>
              <a:t>แถบความเร็ว</a:t>
            </a:r>
            <a:endParaRPr lang="en-US" sz="1600" dirty="0"/>
          </a:p>
        </p:txBody>
      </p:sp>
      <p:sp>
        <p:nvSpPr>
          <p:cNvPr id="8" name="Text 6"/>
          <p:cNvSpPr txBox="1"/>
          <p:nvPr/>
        </p:nvSpPr>
        <p:spPr>
          <a:xfrm>
            <a:off x="4614672" y="2075688"/>
            <a:ext cx="2932176" cy="704088"/>
          </a:xfrm>
          <a:prstGeom prst="rect">
            <a:avLst/>
          </a:prstGeom>
          <a:noFill/>
          <a:ln/>
        </p:spPr>
        <p:txBody>
          <a:bodyPr wrap="square" lIns="0" tIns="0" rIns="0" bIns="0" rtlCol="0" anchor="t"/>
          <a:lstStyle/>
          <a:p>
            <a:pPr algn="l" indent="0" marL="0">
              <a:lnSpc>
                <a:spcPct val="125000"/>
              </a:lnSpc>
              <a:buNone/>
            </a:pPr>
            <a:r>
              <a:rPr lang="en-US" sz="1300" dirty="0">
                <a:solidFill>
                  <a:srgbClr val="4A5568"/>
                </a:solidFill>
              </a:rPr>
              <a:t>เริ่มที่ 0 เสมอ ค่าที่ตั้งคือค่าที่มอเตอร์ได้รับจริง ไม่มีการปัดขึ้นให้</a:t>
            </a:r>
            <a:endParaRPr lang="en-US" sz="1300" dirty="0"/>
          </a:p>
        </p:txBody>
      </p:sp>
      <p:sp>
        <p:nvSpPr>
          <p:cNvPr id="9" name="card-แถบ Trim"/>
          <p:cNvSpPr/>
          <p:nvPr/>
        </p:nvSpPr>
        <p:spPr>
          <a:xfrm>
            <a:off x="8168640" y="1417320"/>
            <a:ext cx="3444240" cy="1572768"/>
          </a:xfrm>
          <a:prstGeom prst="roundRect">
            <a:avLst>
              <a:gd name="adj" fmla="val 5814"/>
            </a:avLst>
          </a:prstGeom>
          <a:solidFill>
            <a:schemeClr val="bg2"/>
          </a:solidFill>
          <a:ln w="12700">
            <a:solidFill>
              <a:srgbClr val="D9E0E8"/>
            </a:solidFill>
            <a:prstDash val="solid"/>
          </a:ln>
        </p:spPr>
      </p:sp>
      <p:sp>
        <p:nvSpPr>
          <p:cNvPr id="10" name="Text 8"/>
          <p:cNvSpPr txBox="1"/>
          <p:nvPr/>
        </p:nvSpPr>
        <p:spPr>
          <a:xfrm>
            <a:off x="8424672" y="1600200"/>
            <a:ext cx="2932176" cy="365760"/>
          </a:xfrm>
          <a:prstGeom prst="rect">
            <a:avLst/>
          </a:prstGeom>
          <a:noFill/>
          <a:ln/>
        </p:spPr>
        <p:txBody>
          <a:bodyPr wrap="square" lIns="0" tIns="0" rIns="0" bIns="0" rtlCol="0" anchor="t"/>
          <a:lstStyle/>
          <a:p>
            <a:pPr algn="l" indent="0" marL="0">
              <a:buNone/>
            </a:pPr>
            <a:r>
              <a:rPr lang="en-US" sz="1600" b="1" dirty="0">
                <a:solidFill>
                  <a:srgbClr val="E8803A"/>
                </a:solidFill>
              </a:rPr>
              <a:t>แถบ Trim</a:t>
            </a:r>
            <a:endParaRPr lang="en-US" sz="1600" dirty="0"/>
          </a:p>
        </p:txBody>
      </p:sp>
      <p:sp>
        <p:nvSpPr>
          <p:cNvPr id="11" name="Text 9"/>
          <p:cNvSpPr txBox="1"/>
          <p:nvPr/>
        </p:nvSpPr>
        <p:spPr>
          <a:xfrm>
            <a:off x="8424672" y="2075688"/>
            <a:ext cx="2932176" cy="704088"/>
          </a:xfrm>
          <a:prstGeom prst="rect">
            <a:avLst/>
          </a:prstGeom>
          <a:noFill/>
          <a:ln/>
        </p:spPr>
        <p:txBody>
          <a:bodyPr wrap="square" lIns="0" tIns="0" rIns="0" bIns="0" rtlCol="0" anchor="t"/>
          <a:lstStyle/>
          <a:p>
            <a:pPr algn="l" indent="0" marL="0">
              <a:lnSpc>
                <a:spcPct val="125000"/>
              </a:lnSpc>
              <a:buNone/>
            </a:pPr>
            <a:r>
              <a:rPr lang="en-US" sz="1300" dirty="0">
                <a:solidFill>
                  <a:srgbClr val="4A5568"/>
                </a:solidFill>
              </a:rPr>
              <a:t>แก้อาการหุ่นเบี่ยงข้างเดียว ปรับได้ขณะหุ่นกำลังวิ่ง ไม่ต้องอัปโค้ดใหม่</a:t>
            </a:r>
            <a:endParaRPr lang="en-US" sz="1300" dirty="0"/>
          </a:p>
        </p:txBody>
      </p:sp>
      <p:sp>
        <p:nvSpPr>
          <p:cNvPr id="12" name="card-สวิตช์ Auto / "/>
          <p:cNvSpPr/>
          <p:nvPr/>
        </p:nvSpPr>
        <p:spPr>
          <a:xfrm>
            <a:off x="548640" y="3282696"/>
            <a:ext cx="3444240" cy="1572768"/>
          </a:xfrm>
          <a:prstGeom prst="roundRect">
            <a:avLst>
              <a:gd name="adj" fmla="val 5814"/>
            </a:avLst>
          </a:prstGeom>
          <a:solidFill>
            <a:schemeClr val="bg2"/>
          </a:solidFill>
          <a:ln w="12700">
            <a:solidFill>
              <a:srgbClr val="D9E0E8"/>
            </a:solidFill>
            <a:prstDash val="solid"/>
          </a:ln>
        </p:spPr>
      </p:sp>
      <p:sp>
        <p:nvSpPr>
          <p:cNvPr id="13" name="Text 11"/>
          <p:cNvSpPr txBox="1"/>
          <p:nvPr/>
        </p:nvSpPr>
        <p:spPr>
          <a:xfrm>
            <a:off x="804672" y="3465576"/>
            <a:ext cx="2932176" cy="365760"/>
          </a:xfrm>
          <a:prstGeom prst="rect">
            <a:avLst/>
          </a:prstGeom>
          <a:noFill/>
          <a:ln/>
        </p:spPr>
        <p:txBody>
          <a:bodyPr wrap="square" lIns="0" tIns="0" rIns="0" bIns="0" rtlCol="0" anchor="t"/>
          <a:lstStyle/>
          <a:p>
            <a:pPr algn="l" indent="0" marL="0">
              <a:buNone/>
            </a:pPr>
            <a:r>
              <a:rPr lang="en-US" sz="1600" b="1" dirty="0">
                <a:solidFill>
                  <a:srgbClr val="1C7293"/>
                </a:solidFill>
              </a:rPr>
              <a:t>สวิตช์ Auto / Manual</a:t>
            </a:r>
            <a:endParaRPr lang="en-US" sz="1600" dirty="0"/>
          </a:p>
        </p:txBody>
      </p:sp>
      <p:sp>
        <p:nvSpPr>
          <p:cNvPr id="14" name="Text 12"/>
          <p:cNvSpPr txBox="1"/>
          <p:nvPr/>
        </p:nvSpPr>
        <p:spPr>
          <a:xfrm>
            <a:off x="804672" y="3941064"/>
            <a:ext cx="2932176" cy="704088"/>
          </a:xfrm>
          <a:prstGeom prst="rect">
            <a:avLst/>
          </a:prstGeom>
          <a:noFill/>
          <a:ln/>
        </p:spPr>
        <p:txBody>
          <a:bodyPr wrap="square" lIns="0" tIns="0" rIns="0" bIns="0" rtlCol="0" anchor="t"/>
          <a:lstStyle/>
          <a:p>
            <a:pPr algn="l" indent="0" marL="0">
              <a:lnSpc>
                <a:spcPct val="125000"/>
              </a:lnSpc>
              <a:buNone/>
            </a:pPr>
            <a:r>
              <a:rPr lang="en-US" sz="1300" dirty="0">
                <a:solidFill>
                  <a:srgbClr val="4A5568"/>
                </a:solidFill>
              </a:rPr>
              <a:t>Auto คือเดินตามเส้นเอง  Manual คือสั่งด้วยปุ่ม  สลับได้ตลอดเวลา</a:t>
            </a:r>
            <a:endParaRPr lang="en-US" sz="1300" dirty="0"/>
          </a:p>
        </p:txBody>
      </p:sp>
      <p:sp>
        <p:nvSpPr>
          <p:cNvPr id="15" name="card-ภาพจากกล้อง"/>
          <p:cNvSpPr/>
          <p:nvPr/>
        </p:nvSpPr>
        <p:spPr>
          <a:xfrm>
            <a:off x="4358640" y="3282696"/>
            <a:ext cx="3444240" cy="1572768"/>
          </a:xfrm>
          <a:prstGeom prst="roundRect">
            <a:avLst>
              <a:gd name="adj" fmla="val 5814"/>
            </a:avLst>
          </a:prstGeom>
          <a:solidFill>
            <a:schemeClr val="bg2"/>
          </a:solidFill>
          <a:ln w="12700">
            <a:solidFill>
              <a:srgbClr val="D9E0E8"/>
            </a:solidFill>
            <a:prstDash val="solid"/>
          </a:ln>
        </p:spPr>
      </p:sp>
      <p:sp>
        <p:nvSpPr>
          <p:cNvPr id="16" name="Text 14"/>
          <p:cNvSpPr txBox="1"/>
          <p:nvPr/>
        </p:nvSpPr>
        <p:spPr>
          <a:xfrm>
            <a:off x="4614672" y="3465576"/>
            <a:ext cx="2932176" cy="365760"/>
          </a:xfrm>
          <a:prstGeom prst="rect">
            <a:avLst/>
          </a:prstGeom>
          <a:noFill/>
          <a:ln/>
        </p:spPr>
        <p:txBody>
          <a:bodyPr wrap="square" lIns="0" tIns="0" rIns="0" bIns="0" rtlCol="0" anchor="t"/>
          <a:lstStyle/>
          <a:p>
            <a:pPr algn="l" indent="0" marL="0">
              <a:buNone/>
            </a:pPr>
            <a:r>
              <a:rPr lang="en-US" sz="1600" b="1" dirty="0">
                <a:solidFill>
                  <a:srgbClr val="1C7293"/>
                </a:solidFill>
              </a:rPr>
              <a:t>ภาพจากกล้อง</a:t>
            </a:r>
            <a:endParaRPr lang="en-US" sz="1600" dirty="0"/>
          </a:p>
        </p:txBody>
      </p:sp>
      <p:sp>
        <p:nvSpPr>
          <p:cNvPr id="17" name="Text 15"/>
          <p:cNvSpPr txBox="1"/>
          <p:nvPr/>
        </p:nvSpPr>
        <p:spPr>
          <a:xfrm>
            <a:off x="4614672" y="3941064"/>
            <a:ext cx="2932176" cy="704088"/>
          </a:xfrm>
          <a:prstGeom prst="rect">
            <a:avLst/>
          </a:prstGeom>
          <a:noFill/>
          <a:ln/>
        </p:spPr>
        <p:txBody>
          <a:bodyPr wrap="square" lIns="0" tIns="0" rIns="0" bIns="0" rtlCol="0" anchor="t"/>
          <a:lstStyle/>
          <a:p>
            <a:pPr algn="l" indent="0" marL="0">
              <a:lnSpc>
                <a:spcPct val="125000"/>
              </a:lnSpc>
              <a:buNone/>
            </a:pPr>
            <a:r>
              <a:rPr lang="en-US" sz="1300" dirty="0">
                <a:solidFill>
                  <a:srgbClr val="4A5568"/>
                </a:solidFill>
              </a:rPr>
              <a:t>ขึ้นเองเมื่อกล้องเกาะ Wi-Fi ได้แล้ว ถ้ากล้องเงียบไปนานภาพจะหายไปเอง</a:t>
            </a:r>
            <a:endParaRPr lang="en-US" sz="1300" dirty="0"/>
          </a:p>
        </p:txBody>
      </p:sp>
      <p:sp>
        <p:nvSpPr>
          <p:cNvPr id="18" name="card-ไม่มีตัวเลขสถา"/>
          <p:cNvSpPr/>
          <p:nvPr/>
        </p:nvSpPr>
        <p:spPr>
          <a:xfrm>
            <a:off x="8168640" y="3282696"/>
            <a:ext cx="3444240" cy="1572768"/>
          </a:xfrm>
          <a:prstGeom prst="roundRect">
            <a:avLst>
              <a:gd name="adj" fmla="val 5814"/>
            </a:avLst>
          </a:prstGeom>
          <a:solidFill>
            <a:schemeClr val="tx1"/>
          </a:solidFill>
          <a:ln w="12700">
            <a:solidFill>
              <a:schemeClr val="tx1"/>
            </a:solidFill>
            <a:prstDash val="solid"/>
          </a:ln>
        </p:spPr>
      </p:sp>
      <p:sp>
        <p:nvSpPr>
          <p:cNvPr id="19" name="Text 17"/>
          <p:cNvSpPr txBox="1"/>
          <p:nvPr/>
        </p:nvSpPr>
        <p:spPr>
          <a:xfrm>
            <a:off x="8424672" y="3465576"/>
            <a:ext cx="2932176" cy="365760"/>
          </a:xfrm>
          <a:prstGeom prst="rect">
            <a:avLst/>
          </a:prstGeom>
          <a:noFill/>
          <a:ln/>
        </p:spPr>
        <p:txBody>
          <a:bodyPr wrap="square" lIns="0" tIns="0" rIns="0" bIns="0" rtlCol="0" anchor="t"/>
          <a:lstStyle/>
          <a:p>
            <a:pPr algn="l" indent="0" marL="0">
              <a:buNone/>
            </a:pPr>
            <a:r>
              <a:rPr lang="en-US" sz="1600" b="1" dirty="0">
                <a:solidFill>
                  <a:srgbClr val="E8803A"/>
                </a:solidFill>
              </a:rPr>
              <a:t>ไม่มีตัวเลขสถานะ</a:t>
            </a:r>
            <a:endParaRPr lang="en-US" sz="1600" dirty="0"/>
          </a:p>
        </p:txBody>
      </p:sp>
      <p:sp>
        <p:nvSpPr>
          <p:cNvPr id="20" name="Text 18"/>
          <p:cNvSpPr txBox="1"/>
          <p:nvPr/>
        </p:nvSpPr>
        <p:spPr>
          <a:xfrm>
            <a:off x="8424672" y="3941064"/>
            <a:ext cx="2932176" cy="704088"/>
          </a:xfrm>
          <a:prstGeom prst="rect">
            <a:avLst/>
          </a:prstGeom>
          <a:noFill/>
          <a:ln/>
        </p:spPr>
        <p:txBody>
          <a:bodyPr wrap="square" lIns="0" tIns="0" rIns="0" bIns="0" rtlCol="0" anchor="t"/>
          <a:lstStyle/>
          <a:p>
            <a:pPr algn="l" indent="0" marL="0">
              <a:lnSpc>
                <a:spcPct val="125000"/>
              </a:lnSpc>
              <a:buNone/>
            </a:pPr>
            <a:r>
              <a:rPr lang="en-US" sz="1300" dirty="0">
                <a:solidFill>
                  <a:srgbClr val="B9C6D4"/>
                </a:solidFill>
              </a:rPr>
              <a:t>ตั้งใจไม่ใส่ เพราะหน้านี้มีไว้ขับ ส่วนตัวเลขทั้งหมดไปอยู่ในไฟล์ Excel แทน</a:t>
            </a:r>
            <a:endParaRPr lang="en-US" sz="1300" dirty="0"/>
          </a:p>
        </p:txBody>
      </p:sp>
      <p:sp>
        <p:nvSpPr>
          <p:cNvPr id="21" name="callout"/>
          <p:cNvSpPr/>
          <p:nvPr/>
        </p:nvSpPr>
        <p:spPr>
          <a:xfrm>
            <a:off x="548640" y="5257800"/>
            <a:ext cx="11064240" cy="822960"/>
          </a:xfrm>
          <a:prstGeom prst="roundRect">
            <a:avLst>
              <a:gd name="adj" fmla="val 8889"/>
            </a:avLst>
          </a:prstGeom>
          <a:solidFill>
            <a:srgbClr val="FBEEEC"/>
          </a:solidFill>
          <a:ln w="12700">
            <a:solidFill>
              <a:srgbClr val="F0D3CE"/>
            </a:solidFill>
            <a:prstDash val="solid"/>
          </a:ln>
        </p:spPr>
      </p:sp>
      <p:sp>
        <p:nvSpPr>
          <p:cNvPr id="22" name="Text 20"/>
          <p:cNvSpPr txBox="1"/>
          <p:nvPr/>
        </p:nvSpPr>
        <p:spPr>
          <a:xfrm>
            <a:off x="777240" y="5385816"/>
            <a:ext cx="10607040" cy="274320"/>
          </a:xfrm>
          <a:prstGeom prst="rect">
            <a:avLst/>
          </a:prstGeom>
          <a:noFill/>
          <a:ln/>
        </p:spPr>
        <p:txBody>
          <a:bodyPr wrap="square" lIns="0" tIns="0" rIns="0" bIns="0" rtlCol="0" anchor="t"/>
          <a:lstStyle/>
          <a:p>
            <a:pPr algn="l" indent="0" marL="0">
              <a:buNone/>
            </a:pPr>
            <a:r>
              <a:rPr lang="en-US" sz="1400" b="1" dirty="0">
                <a:solidFill>
                  <a:srgbClr val="B3261E"/>
                </a:solidFill>
              </a:rPr>
              <a:t>เปิดหน้าเว็บแล้วหมุนค้าง ทั้งที่ต่อ Wi-Fi ถูกแล้ว</a:t>
            </a:r>
            <a:endParaRPr lang="en-US" sz="1400" dirty="0"/>
          </a:p>
        </p:txBody>
      </p:sp>
      <p:sp>
        <p:nvSpPr>
          <p:cNvPr id="23" name="Text 21"/>
          <p:cNvSpPr txBox="1"/>
          <p:nvPr/>
        </p:nvSpPr>
        <p:spPr>
          <a:xfrm>
            <a:off x="777240" y="5696712"/>
            <a:ext cx="10607040" cy="256032"/>
          </a:xfrm>
          <a:prstGeom prst="rect">
            <a:avLst/>
          </a:prstGeom>
          <a:noFill/>
          <a:ln/>
        </p:spPr>
        <p:txBody>
          <a:bodyPr wrap="square" lIns="0" tIns="0" rIns="0" bIns="0" rtlCol="0" anchor="t"/>
          <a:lstStyle/>
          <a:p>
            <a:pPr algn="l" indent="0" marL="0">
              <a:lnSpc>
                <a:spcPct val="120000"/>
              </a:lnSpc>
              <a:buNone/>
            </a:pPr>
            <a:r>
              <a:rPr lang="en-US" sz="1250" dirty="0">
                <a:solidFill>
                  <a:srgbClr val="4A5568"/>
                </a:solidFill>
              </a:rPr>
              <a:t>มือถือบางรุ่นเห็นว่าวงนี้ไม่มีอินเทอร์เน็ตแล้วแอบสลับกลับไปใช้เน็ตมือถือเอง ต้องเข้าไปปิดการสลับอัตโนมัติก่อน</a:t>
            </a:r>
            <a:endParaRPr lang="en-US" sz="1250" dirty="0"/>
          </a:p>
        </p:txBody>
      </p:sp>
      <p:sp>
        <p:nvSpPr>
          <p:cNvPr id="25" name="Slide Number Placeholder 0"/>
          <p:cNvSpPr>
            <a:spLocks noGrp="1"/>
          </p:cNvSpPr>
          <p:nvPr>
            <p:ph type="sldNum" sz="quarter" idx="4294967295"/>
          </p:nvPr>
        </p:nvSpPr>
        <p:spPr>
          <a:xfrm>
            <a:off x="11338560" y="62636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E9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685800"/>
          </a:xfrm>
          <a:prstGeom prst="rect">
            <a:avLst/>
          </a:prstGeom>
          <a:noFill/>
          <a:ln/>
        </p:spPr>
        <p:txBody>
          <a:bodyPr wrap="square" rtlCol="0"/>
          <a:lstStyle/>
          <a:p>
            <a:pPr algn="l" indent="0" marL="0">
              <a:buNone/>
            </a:pPr>
            <a:r>
              <a:rPr lang="en-US" sz="3200" b="1" dirty="0">
                <a:solidFill>
                  <a:schemeClr val="tx1"/>
                </a:solidFill>
              </a:rPr>
              <a:t>ข้อมูลที่เก็บลง Excel</a:t>
            </a:r>
            <a:endParaRPr lang="en-US" sz="3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858000" cy="914400"/>
        </p:xfrm>
        <a:graphic>
          <a:graphicData uri="http://schemas.openxmlformats.org/drawingml/2006/table">
            <a:tbl>
              <a:tblPr/>
              <a:tblGrid>
                <a:gridCol w="2377440"/>
                <a:gridCol w="4480560"/>
              </a:tblGrid>
              <a:tr h="0">
                <a:tc>
                  <a:txBody>
                    <a:bodyPr/>
                    <a:lstStyle/>
                    <a:p>
                      <a:pPr indent="0" marL="0">
                        <a:buNone/>
                      </a:pPr>
                      <a:r>
                        <a:rPr lang="en-US" sz="1300" b="1" dirty="0">
                          <a:solidFill>
                            <a:srgbClr val="FFFFFF"/>
                          </a:solidFill>
                        </a:rPr>
                        <a:t>คอลัมน์</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16202E"/>
                    </a:solidFill>
                  </a:tcPr>
                </a:tc>
                <a:tc>
                  <a:txBody>
                    <a:bodyPr/>
                    <a:lstStyle/>
                    <a:p>
                      <a:pPr indent="0" marL="0">
                        <a:buNone/>
                      </a:pPr>
                      <a:r>
                        <a:rPr lang="en-US" sz="1300" b="1" dirty="0">
                          <a:solidFill>
                            <a:srgbClr val="FFFFFF"/>
                          </a:solidFill>
                        </a:rPr>
                        <a:t>เก็บอะไร</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16202E"/>
                    </a:solidFill>
                  </a:tcPr>
                </a:tc>
              </a:tr>
              <a:tr h="0">
                <a:tc>
                  <a:txBody>
                    <a:bodyPr/>
                    <a:lstStyle/>
                    <a:p>
                      <a:pPr indent="0" marL="0">
                        <a:buNone/>
                      </a:pPr>
                      <a:r>
                        <a:rPr lang="en-US" sz="1200" b="1" dirty="0">
                          <a:solidFill>
                            <a:srgbClr val="16202E"/>
                          </a:solidFill>
                        </a:rPr>
                        <a:t>Timestamp  Event</a:t>
                      </a:r>
                      <a:endParaRPr lang="en-US" sz="12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00" dirty="0">
                          <a:solidFill>
                            <a:srgbClr val="4A5568"/>
                          </a:solidFill>
                        </a:rPr>
                        <a:t>เวลา และชนิดของแถว คือ START, RUN ทุกวินาที หรือ QR</a:t>
                      </a:r>
                      <a:endParaRPr lang="en-US" sz="12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6202E"/>
                          </a:solidFill>
                        </a:rPr>
                        <a:t>Mode  Action</a:t>
                      </a:r>
                      <a:endParaRPr lang="en-US" sz="12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00" dirty="0">
                          <a:solidFill>
                            <a:srgbClr val="4A5568"/>
                          </a:solidFill>
                        </a:rPr>
                        <a:t>โหมด และหุ่นกำลังทำอะไร เช่น STRAIGHT, BEND, SEARCH, FINISH</a:t>
                      </a:r>
                      <a:endParaRPr lang="en-US" sz="12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6202E"/>
                          </a:solidFill>
                        </a:rPr>
                        <a:t>Base_Speed</a:t>
                      </a:r>
                      <a:endParaRPr lang="en-US" sz="12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00" dirty="0">
                          <a:solidFill>
                            <a:srgbClr val="4A5568"/>
                          </a:solidFill>
                        </a:rPr>
                        <a:t>ความเร็วที่แถบเลื่อนสั่ง</a:t>
                      </a:r>
                      <a:endParaRPr lang="en-US" sz="12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6202E"/>
                          </a:solidFill>
                        </a:rPr>
                        <a:t>Left_PWM  Right_PWM</a:t>
                      </a:r>
                      <a:endParaRPr lang="en-US" sz="12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00" dirty="0">
                          <a:solidFill>
                            <a:srgbClr val="4A5568"/>
                          </a:solidFill>
                        </a:rPr>
                        <a:t>ค่าที่มอเตอร์ได้รับจริง หลังหัก Trim แล้ว</a:t>
                      </a:r>
                      <a:endParaRPr lang="en-US" sz="12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6202E"/>
                          </a:solidFill>
                        </a:rPr>
                        <a:t>Turn  Error</a:t>
                      </a:r>
                      <a:endParaRPr lang="en-US" sz="12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00" dirty="0">
                          <a:solidFill>
                            <a:srgbClr val="4A5568"/>
                          </a:solidFill>
                        </a:rPr>
                        <a:t>แรงเลี้ยวที่คำนวณได้ และระยะห่างจากเส้น</a:t>
                      </a:r>
                      <a:endParaRPr lang="en-US" sz="12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6202E"/>
                          </a:solidFill>
                        </a:rPr>
                        <a:t>Kp  Kd  Trim</a:t>
                      </a:r>
                      <a:endParaRPr lang="en-US" sz="12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00" dirty="0">
                          <a:solidFill>
                            <a:srgbClr val="4A5568"/>
                          </a:solidFill>
                        </a:rPr>
                        <a:t>ค่าที่ใช้อยู่ตอนนั้น เปิดไฟล์เก่าแล้วรู้ทันทีว่าจูนด้วยค่าอะไร</a:t>
                      </a:r>
                      <a:endParaRPr lang="en-US" sz="12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6202E"/>
                          </a:solidFill>
                        </a:rPr>
                        <a:t>S_L2 ถึง S_R2</a:t>
                      </a:r>
                      <a:endParaRPr lang="en-US" sz="12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00" dirty="0">
                          <a:solidFill>
                            <a:srgbClr val="4A5568"/>
                          </a:solidFill>
                        </a:rPr>
                        <a:t>เซนเซอร์ทีละดวง เลข 1 คือดวงนั้นทับเส้นดำอยู่</a:t>
                      </a:r>
                      <a:endParaRPr lang="en-US" sz="12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4663440"/>
            <a:ext cx="6858000" cy="731520"/>
          </a:xfrm>
          <a:prstGeom prst="rect">
            <a:avLst/>
          </a:prstGeom>
          <a:noFill/>
          <a:ln/>
        </p:spPr>
        <p:txBody>
          <a:bodyPr wrap="square" lIns="0" tIns="0" rIns="0" bIns="0" rtlCol="0" anchor="t"/>
          <a:lstStyle/>
          <a:p>
            <a:pPr algn="l" indent="0" marL="0">
              <a:lnSpc>
                <a:spcPct val="125000"/>
              </a:lnSpc>
              <a:buNone/>
            </a:pPr>
            <a:r>
              <a:rPr lang="en-US" sz="1200" dirty="0">
                <a:solidFill>
                  <a:srgbClr val="6B7E93"/>
                </a:solidFill>
              </a:rPr>
              <a:t>เขียนหนึ่งแถวทุกวินาที บวกอีกหนึ่งแถวทุกครั้งที่อ่าน QR ได้  ลากคอลัมน์ Turn ไปพล็อตกราฟใน Excel จะเห็นทันทีว่าหุ่นออกแรงสู้ตรงไหนของสนามมากที่สุด</a:t>
            </a:r>
            <a:endParaRPr lang="en-US" sz="1200" dirty="0"/>
          </a:p>
        </p:txBody>
      </p:sp>
      <p:sp>
        <p:nvSpPr>
          <p:cNvPr id="5" name="card-ไฟล์อยู่ที่ไหน"/>
          <p:cNvSpPr/>
          <p:nvPr/>
        </p:nvSpPr>
        <p:spPr>
          <a:xfrm>
            <a:off x="7680960" y="1371600"/>
            <a:ext cx="3931920" cy="1737360"/>
          </a:xfrm>
          <a:prstGeom prst="roundRect">
            <a:avLst>
              <a:gd name="adj" fmla="val 5263"/>
            </a:avLst>
          </a:prstGeom>
          <a:solidFill>
            <a:schemeClr val="bg2"/>
          </a:solidFill>
          <a:ln w="12700">
            <a:solidFill>
              <a:srgbClr val="D9E0E8"/>
            </a:solidFill>
            <a:prstDash val="solid"/>
          </a:ln>
        </p:spPr>
      </p:sp>
      <p:sp>
        <p:nvSpPr>
          <p:cNvPr id="6" name="Text 3"/>
          <p:cNvSpPr txBox="1"/>
          <p:nvPr/>
        </p:nvSpPr>
        <p:spPr>
          <a:xfrm>
            <a:off x="7936992" y="1554480"/>
            <a:ext cx="3419856" cy="365760"/>
          </a:xfrm>
          <a:prstGeom prst="rect">
            <a:avLst/>
          </a:prstGeom>
          <a:noFill/>
          <a:ln/>
        </p:spPr>
        <p:txBody>
          <a:bodyPr wrap="square" lIns="0" tIns="0" rIns="0" bIns="0" rtlCol="0" anchor="t"/>
          <a:lstStyle/>
          <a:p>
            <a:pPr algn="l" indent="0" marL="0">
              <a:buNone/>
            </a:pPr>
            <a:r>
              <a:rPr lang="en-US" sz="1600" b="1" dirty="0">
                <a:solidFill>
                  <a:srgbClr val="E8803A"/>
                </a:solidFill>
              </a:rPr>
              <a:t>ไฟล์อยู่ที่ไหน</a:t>
            </a:r>
            <a:endParaRPr lang="en-US" sz="1600" dirty="0"/>
          </a:p>
        </p:txBody>
      </p:sp>
      <p:sp>
        <p:nvSpPr>
          <p:cNvPr id="7" name="Text 4"/>
          <p:cNvSpPr txBox="1"/>
          <p:nvPr/>
        </p:nvSpPr>
        <p:spPr>
          <a:xfrm>
            <a:off x="7936992" y="2029968"/>
            <a:ext cx="3419856" cy="868680"/>
          </a:xfrm>
          <a:prstGeom prst="rect">
            <a:avLst/>
          </a:prstGeom>
          <a:noFill/>
          <a:ln/>
        </p:spPr>
        <p:txBody>
          <a:bodyPr wrap="square" lIns="0" tIns="0" rIns="0" bIns="0" rtlCol="0" anchor="t"/>
          <a:lstStyle/>
          <a:p>
            <a:pPr algn="l" indent="0" marL="0">
              <a:lnSpc>
                <a:spcPct val="125000"/>
              </a:lnSpc>
              <a:buNone/>
            </a:pPr>
            <a:r>
              <a:rPr lang="en-US" sz="1300" dirty="0">
                <a:solidFill>
                  <a:srgbClr val="4A5568"/>
                </a:solidFill>
              </a:rPr>
              <a:t>สร้างไว้บนเดสก์ท็อป ชื่อ robot_mission_log.csv  สคริปต์หาเดสก์ท็อปจริงให้เอง แม้จะย้ายไปอยู่ใน OneDrive</a:t>
            </a:r>
            <a:endParaRPr lang="en-US" sz="1300" dirty="0"/>
          </a:p>
        </p:txBody>
      </p:sp>
      <p:sp>
        <p:nvSpPr>
          <p:cNvPr id="8" name="card-ปิด Excel ก่อน"/>
          <p:cNvSpPr/>
          <p:nvPr/>
        </p:nvSpPr>
        <p:spPr>
          <a:xfrm>
            <a:off x="7680960" y="3291840"/>
            <a:ext cx="3931920" cy="1737360"/>
          </a:xfrm>
          <a:prstGeom prst="roundRect">
            <a:avLst>
              <a:gd name="adj" fmla="val 5263"/>
            </a:avLst>
          </a:prstGeom>
          <a:solidFill>
            <a:schemeClr val="tx1"/>
          </a:solidFill>
          <a:ln w="12700">
            <a:solidFill>
              <a:schemeClr val="tx1"/>
            </a:solidFill>
            <a:prstDash val="solid"/>
          </a:ln>
        </p:spPr>
      </p:sp>
      <p:sp>
        <p:nvSpPr>
          <p:cNvPr id="9" name="Text 6"/>
          <p:cNvSpPr txBox="1"/>
          <p:nvPr/>
        </p:nvSpPr>
        <p:spPr>
          <a:xfrm>
            <a:off x="7936992" y="3474720"/>
            <a:ext cx="3419856" cy="365760"/>
          </a:xfrm>
          <a:prstGeom prst="rect">
            <a:avLst/>
          </a:prstGeom>
          <a:noFill/>
          <a:ln/>
        </p:spPr>
        <p:txBody>
          <a:bodyPr wrap="square" lIns="0" tIns="0" rIns="0" bIns="0" rtlCol="0" anchor="t"/>
          <a:lstStyle/>
          <a:p>
            <a:pPr algn="l" indent="0" marL="0">
              <a:buNone/>
            </a:pPr>
            <a:r>
              <a:rPr lang="en-US" sz="1600" b="1" dirty="0">
                <a:solidFill>
                  <a:srgbClr val="E8803A"/>
                </a:solidFill>
              </a:rPr>
              <a:t>ปิด Excel ก่อนรันใหม่</a:t>
            </a:r>
            <a:endParaRPr lang="en-US" sz="1600" dirty="0"/>
          </a:p>
        </p:txBody>
      </p:sp>
      <p:sp>
        <p:nvSpPr>
          <p:cNvPr id="10" name="Text 7"/>
          <p:cNvSpPr txBox="1"/>
          <p:nvPr/>
        </p:nvSpPr>
        <p:spPr>
          <a:xfrm>
            <a:off x="7936992" y="3950208"/>
            <a:ext cx="3419856" cy="868680"/>
          </a:xfrm>
          <a:prstGeom prst="rect">
            <a:avLst/>
          </a:prstGeom>
          <a:noFill/>
          <a:ln/>
        </p:spPr>
        <p:txBody>
          <a:bodyPr wrap="square" lIns="0" tIns="0" rIns="0" bIns="0" rtlCol="0" anchor="t"/>
          <a:lstStyle/>
          <a:p>
            <a:pPr algn="l" indent="0" marL="0">
              <a:lnSpc>
                <a:spcPct val="125000"/>
              </a:lnSpc>
              <a:buNone/>
            </a:pPr>
            <a:r>
              <a:rPr lang="en-US" sz="1300" dirty="0">
                <a:solidFill>
                  <a:srgbClr val="B9C6D4"/>
                </a:solidFill>
              </a:rPr>
              <a:t>Windows ล็อกไฟล์ที่เปิดค้างอยู่  ถ้าเขียนทับไม่ได้ สคริปต์จะสร้างไฟล์ชื่อใหม่ที่มีเวลาต่อท้ายให้แทน</a:t>
            </a:r>
            <a:endParaRPr lang="en-US" sz="1300" dirty="0"/>
          </a:p>
        </p:txBody>
      </p:sp>
      <p:sp>
        <p:nvSpPr>
          <p:cNvPr id="25" name="Slide Number Placeholder 0"/>
          <p:cNvSpPr>
            <a:spLocks noGrp="1"/>
          </p:cNvSpPr>
          <p:nvPr>
            <p:ph type="sldNum" sz="quarter" idx="4294967295"/>
          </p:nvPr>
        </p:nvSpPr>
        <p:spPr>
          <a:xfrm>
            <a:off x="11338560" y="62636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E9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2377440"/>
            <a:ext cx="11064240" cy="457200"/>
          </a:xfrm>
          <a:prstGeom prst="rect">
            <a:avLst/>
          </a:prstGeom>
          <a:noFill/>
          <a:ln/>
        </p:spPr>
        <p:txBody>
          <a:bodyPr wrap="square" rtlCol="0"/>
          <a:lstStyle/>
          <a:p>
            <a:pPr algn="l" indent="0" marL="0">
              <a:buNone/>
            </a:pPr>
            <a:r>
              <a:rPr lang="en-US" sz="6000" b="1" dirty="0">
                <a:solidFill>
                  <a:srgbClr val="E8803A"/>
                </a:solidFill>
              </a:rPr>
              <a:t>03</a:t>
            </a:r>
            <a:endParaRPr lang="en-US" sz="6000" dirty="0"/>
          </a:p>
        </p:txBody>
      </p:sp>
      <p:sp>
        <p:nvSpPr>
          <p:cNvPr id="3" name="Text 0"/>
          <p:cNvSpPr/>
          <p:nvPr>
            <p:ph idx="101" type="title" hasCustomPrompt="1"/>
          </p:nvPr>
        </p:nvSpPr>
        <p:spPr>
          <a:xfrm>
            <a:off x="548640" y="3200400"/>
            <a:ext cx="11064240" cy="914400"/>
          </a:xfrm>
          <a:prstGeom prst="rect">
            <a:avLst/>
          </a:prstGeom>
          <a:noFill/>
          <a:ln/>
        </p:spPr>
        <p:txBody>
          <a:bodyPr wrap="square" rtlCol="0"/>
          <a:lstStyle/>
          <a:p>
            <a:pPr algn="l" indent="0" marL="0">
              <a:buNone/>
            </a:pPr>
            <a:r>
              <a:rPr lang="en-US" sz="4000" b="1" dirty="0">
                <a:solidFill>
                  <a:schemeClr val="bg1"/>
                </a:solidFill>
              </a:rPr>
              <a:t>ปรับแต่งและแก้ปัญหา</a:t>
            </a:r>
            <a:endParaRPr lang="en-US" sz="4000" dirty="0"/>
          </a:p>
        </p:txBody>
      </p:sp>
      <p:sp>
        <p:nvSpPr>
          <p:cNvPr id="4" name="Text 0"/>
          <p:cNvSpPr/>
          <p:nvPr>
            <p:ph idx="102" type="body" hasCustomPrompt="1"/>
          </p:nvPr>
        </p:nvSpPr>
        <p:spPr>
          <a:xfrm>
            <a:off x="548640" y="4206240"/>
            <a:ext cx="8686800" cy="914400"/>
          </a:xfrm>
          <a:prstGeom prst="rect">
            <a:avLst/>
          </a:prstGeom>
          <a:noFill/>
          <a:ln/>
        </p:spPr>
        <p:txBody>
          <a:bodyPr wrap="square" rtlCol="0"/>
          <a:lstStyle/>
          <a:p>
            <a:pPr algn="l" indent="0" marL="0">
              <a:buNone/>
            </a:pPr>
            <a:r>
              <a:rPr lang="en-US" sz="1600" dirty="0">
                <a:solidFill>
                  <a:srgbClr val="B9C6D4"/>
                </a:solidFill>
              </a:rPr>
              <a:t>ค่าที่ปรับบ่อย วิธีที่หุ่นใช้หาเส้น และอาการเสียที่เจอซ้ำๆ</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685800"/>
          </a:xfrm>
          <a:prstGeom prst="rect">
            <a:avLst/>
          </a:prstGeom>
          <a:noFill/>
          <a:ln/>
        </p:spPr>
        <p:txBody>
          <a:bodyPr wrap="square" rtlCol="0"/>
          <a:lstStyle/>
          <a:p>
            <a:pPr algn="l" indent="0" marL="0">
              <a:buNone/>
            </a:pPr>
            <a:r>
              <a:rPr lang="en-US" sz="3200" b="1" dirty="0">
                <a:solidFill>
                  <a:schemeClr val="tx1"/>
                </a:solidFill>
              </a:rPr>
              <a:t>ค่าที่ปรับบ่อยที่สุด</a:t>
            </a:r>
            <a:endParaRPr lang="en-US" sz="3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834640"/>
                <a:gridCol w="1188720"/>
                <a:gridCol w="7040880"/>
              </a:tblGrid>
              <a:tr h="0">
                <a:tc>
                  <a:txBody>
                    <a:bodyPr/>
                    <a:lstStyle/>
                    <a:p>
                      <a:pPr indent="0" marL="0">
                        <a:buNone/>
                      </a:pPr>
                      <a:r>
                        <a:rPr lang="en-US" sz="1300" b="1" dirty="0">
                          <a:solidFill>
                            <a:srgbClr val="FFFFFF"/>
                          </a:solidFill>
                        </a:rPr>
                        <a:t>ชื่อค่า</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16202E"/>
                    </a:solidFill>
                  </a:tcPr>
                </a:tc>
                <a:tc>
                  <a:txBody>
                    <a:bodyPr/>
                    <a:lstStyle/>
                    <a:p>
                      <a:pPr indent="0" marL="0">
                        <a:buNone/>
                      </a:pPr>
                      <a:r>
                        <a:rPr lang="en-US" sz="1300" b="1" dirty="0">
                          <a:solidFill>
                            <a:srgbClr val="FFFFFF"/>
                          </a:solidFill>
                        </a:rPr>
                        <a:t>ค่าตั้งต้น</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16202E"/>
                    </a:solidFill>
                  </a:tcPr>
                </a:tc>
                <a:tc>
                  <a:txBody>
                    <a:bodyPr/>
                    <a:lstStyle/>
                    <a:p>
                      <a:pPr indent="0" marL="0">
                        <a:buNone/>
                      </a:pPr>
                      <a:r>
                        <a:rPr lang="en-US" sz="1300" b="1" dirty="0">
                          <a:solidFill>
                            <a:srgbClr val="FFFFFF"/>
                          </a:solidFill>
                        </a:rPr>
                        <a:t>ปรับเมื่อไหร่</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16202E"/>
                    </a:solidFill>
                  </a:tcPr>
                </a:tc>
              </a:tr>
              <a:tr h="0">
                <a:tc>
                  <a:txBody>
                    <a:bodyPr/>
                    <a:lstStyle/>
                    <a:p>
                      <a:pPr indent="0" marL="0">
                        <a:buNone/>
                      </a:pPr>
                      <a:r>
                        <a:rPr lang="en-US" sz="1250" b="1" dirty="0">
                          <a:solidFill>
                            <a:srgbClr val="16202E"/>
                          </a:solidFill>
                        </a:rPr>
                        <a:t>Kp</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50" dirty="0">
                          <a:solidFill>
                            <a:srgbClr val="4A5568"/>
                          </a:solidFill>
                        </a:rPr>
                        <a:t>45</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50" dirty="0">
                          <a:solidFill>
                            <a:srgbClr val="4A5568"/>
                          </a:solidFill>
                        </a:rPr>
                        <a:t>หุ่นเข้าโค้งกว้างเกินให้เพิ่ม  ถ้าส่ายไปมาบนทางตรงให้ลด</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16202E"/>
                          </a:solidFill>
                        </a:rPr>
                        <a:t>Kd</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50" dirty="0">
                          <a:solidFill>
                            <a:srgbClr val="4A5568"/>
                          </a:solidFill>
                        </a:rPr>
                        <a:t>35</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50" dirty="0">
                          <a:solidFill>
                            <a:srgbClr val="4A5568"/>
                          </a:solidFill>
                        </a:rPr>
                        <a:t>ช่วยหน่วงไม่ให้แกว่ง เพิ่มเมื่อหุ่นแกว่งหลังเข้าโค้ง</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16202E"/>
                          </a:solidFill>
                        </a:rPr>
                        <a:t>leftMotorOffset</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50" dirty="0">
                          <a:solidFill>
                            <a:srgbClr val="4A5568"/>
                          </a:solidFill>
                        </a:rPr>
                        <a:t>25</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50" dirty="0">
                          <a:solidFill>
                            <a:srgbClr val="4A5568"/>
                          </a:solidFill>
                        </a:rPr>
                        <a:t>แก้อาการเบี่ยงข้างเดียว ปรับจากแถบ Trim บนหน้าเว็บได้เลย</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16202E"/>
                          </a:solidFill>
                        </a:rPr>
                        <a:t>MIN_PWM</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50" dirty="0">
                          <a:solidFill>
                            <a:srgbClr val="4A5568"/>
                          </a:solidFill>
                        </a:rPr>
                        <a:t>0</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50" dirty="0">
                          <a:solidFill>
                            <a:srgbClr val="4A5568"/>
                          </a:solidFill>
                        </a:rPr>
                        <a:t>สั่งเท่าไหร่ได้เท่านั้น ตั้ง 135 ถ้าอยากให้ค่าต่ำๆ ถูกดันขึ้นจนล้อหมุน</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16202E"/>
                          </a:solidFill>
                        </a:rPr>
                        <a:t>LOST_CONFIRM_MS</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50" dirty="0">
                          <a:solidFill>
                            <a:srgbClr val="4A5568"/>
                          </a:solidFill>
                        </a:rPr>
                        <a:t>150</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50" dirty="0">
                          <a:solidFill>
                            <a:srgbClr val="4A5568"/>
                          </a:solidFill>
                        </a:rPr>
                        <a:t>เส้นหายได้นานแค่ไหนก่อนหุ่นจะเริ่มหา เพิ่มถ้าหุ่นสะดุดตอนเข้าโค้งแคบ</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16202E"/>
                          </a:solidFill>
                        </a:rPr>
                        <a:t>FINISH_CONFIRM_MS</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50" dirty="0">
                          <a:solidFill>
                            <a:srgbClr val="4A5568"/>
                          </a:solidFill>
                        </a:rPr>
                        <a:t>40</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50" dirty="0">
                          <a:solidFill>
                            <a:srgbClr val="4A5568"/>
                          </a:solidFill>
                        </a:rPr>
                        <a:t>ดำครบ 5 ดวงนานแค่ไหนถึงนับเป็นเส้นชัย สั้นพอที่จะไม่วิ่งเลยเส้น</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r>
            </a:tbl>
          </a:graphicData>
        </a:graphic>
      </p:graphicFrame>
      <p:sp>
        <p:nvSpPr>
          <p:cNvPr id="4" name="callout"/>
          <p:cNvSpPr/>
          <p:nvPr/>
        </p:nvSpPr>
        <p:spPr>
          <a:xfrm>
            <a:off x="548640" y="4343400"/>
            <a:ext cx="11064240" cy="960120"/>
          </a:xfrm>
          <a:prstGeom prst="roundRect">
            <a:avLst>
              <a:gd name="adj" fmla="val 7619"/>
            </a:avLst>
          </a:prstGeom>
          <a:solidFill>
            <a:srgbClr val="FBEEEC"/>
          </a:solidFill>
          <a:ln w="12700">
            <a:solidFill>
              <a:srgbClr val="F0D3CE"/>
            </a:solidFill>
            <a:prstDash val="solid"/>
          </a:ln>
        </p:spPr>
      </p:sp>
      <p:sp>
        <p:nvSpPr>
          <p:cNvPr id="5" name="Text 2"/>
          <p:cNvSpPr txBox="1"/>
          <p:nvPr/>
        </p:nvSpPr>
        <p:spPr>
          <a:xfrm>
            <a:off x="777240" y="4471416"/>
            <a:ext cx="10607040" cy="274320"/>
          </a:xfrm>
          <a:prstGeom prst="rect">
            <a:avLst/>
          </a:prstGeom>
          <a:noFill/>
          <a:ln/>
        </p:spPr>
        <p:txBody>
          <a:bodyPr wrap="square" lIns="0" tIns="0" rIns="0" bIns="0" rtlCol="0" anchor="t"/>
          <a:lstStyle/>
          <a:p>
            <a:pPr algn="l" indent="0" marL="0">
              <a:buNone/>
            </a:pPr>
            <a:r>
              <a:rPr lang="en-US" sz="1400" b="1" dirty="0">
                <a:solidFill>
                  <a:srgbClr val="B3261E"/>
                </a:solidFill>
              </a:rPr>
              <a:t>Kp สูงเกินไปทำให้หุ่นหมุนรอบตัวเองแทนที่จะเลี้ยว</a:t>
            </a:r>
            <a:endParaRPr lang="en-US" sz="1400" dirty="0"/>
          </a:p>
        </p:txBody>
      </p:sp>
      <p:sp>
        <p:nvSpPr>
          <p:cNvPr id="6" name="Text 3"/>
          <p:cNvSpPr txBox="1"/>
          <p:nvPr/>
        </p:nvSpPr>
        <p:spPr>
          <a:xfrm>
            <a:off x="777240" y="4782312"/>
            <a:ext cx="10607040" cy="393192"/>
          </a:xfrm>
          <a:prstGeom prst="rect">
            <a:avLst/>
          </a:prstGeom>
          <a:noFill/>
          <a:ln/>
        </p:spPr>
        <p:txBody>
          <a:bodyPr wrap="square" lIns="0" tIns="0" rIns="0" bIns="0" rtlCol="0" anchor="t"/>
          <a:lstStyle/>
          <a:p>
            <a:pPr algn="l" indent="0" marL="0">
              <a:lnSpc>
                <a:spcPct val="120000"/>
              </a:lnSpc>
              <a:buNone/>
            </a:pPr>
            <a:r>
              <a:rPr lang="en-US" sz="1250" dirty="0">
                <a:solidFill>
                  <a:srgbClr val="4A5568"/>
                </a:solidFill>
              </a:rPr>
              <a:t>ค่า Error สูงสุดคือ 4  ที่ Kp เท่ากับ 80 แรงเลี้ยวจะพุ่งถึง 320 ซึ่งเกินช่วง 255 ที่มอเตอร์รับได้ ล้อนอกจะตันและล้อในกลับทาง</a:t>
            </a:r>
            <a:endParaRPr lang="en-US" sz="1250" dirty="0"/>
          </a:p>
        </p:txBody>
      </p:sp>
      <p:sp>
        <p:nvSpPr>
          <p:cNvPr id="25" name="Slide Number Placeholder 0"/>
          <p:cNvSpPr>
            <a:spLocks noGrp="1"/>
          </p:cNvSpPr>
          <p:nvPr>
            <p:ph type="sldNum" sz="quarter" idx="4294967295"/>
          </p:nvPr>
        </p:nvSpPr>
        <p:spPr>
          <a:xfrm>
            <a:off x="11338560" y="62636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E93"/>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685800"/>
          </a:xfrm>
          <a:prstGeom prst="rect">
            <a:avLst/>
          </a:prstGeom>
          <a:noFill/>
          <a:ln/>
        </p:spPr>
        <p:txBody>
          <a:bodyPr wrap="square" rtlCol="0"/>
          <a:lstStyle/>
          <a:p>
            <a:pPr algn="l" indent="0" marL="0">
              <a:buNone/>
            </a:pPr>
            <a:r>
              <a:rPr lang="en-US" sz="3200" b="1" dirty="0">
                <a:solidFill>
                  <a:schemeClr val="tx1"/>
                </a:solidFill>
              </a:rPr>
              <a:t>หุ่นหาเส้นที่หลุดไปยังไง</a:t>
            </a:r>
            <a:endParaRPr lang="en-US" sz="3200" dirty="0"/>
          </a:p>
        </p:txBody>
      </p:sp>
      <p:sp>
        <p:nvSpPr>
          <p:cNvPr id="3" name="Text 1"/>
          <p:cNvSpPr txBox="1"/>
          <p:nvPr/>
        </p:nvSpPr>
        <p:spPr>
          <a:xfrm>
            <a:off x="548640" y="1234440"/>
            <a:ext cx="11064240" cy="411480"/>
          </a:xfrm>
          <a:prstGeom prst="rect">
            <a:avLst/>
          </a:prstGeom>
          <a:noFill/>
          <a:ln/>
        </p:spPr>
        <p:txBody>
          <a:bodyPr wrap="square" lIns="0" tIns="0" rIns="0" bIns="0" rtlCol="0" anchor="ctr"/>
          <a:lstStyle/>
          <a:p>
            <a:pPr algn="l" indent="0" marL="0">
              <a:buNone/>
            </a:pPr>
            <a:r>
              <a:rPr lang="en-US" sz="1400" dirty="0">
                <a:solidFill>
                  <a:srgbClr val="4A5568"/>
                </a:solidFill>
              </a:rPr>
              <a:t>เซนเซอร์ไม่เจอเส้นเลย ไม่ได้แปลว่าหลงทาง  ทางโค้งแคบจะเหวี่ยงเส้นออกนอกแถวเซนเซอร์ชั่วครู่เป็นเรื่องปกติ</a:t>
            </a:r>
            <a:endParaRPr lang="en-US" sz="1400" dirty="0"/>
          </a:p>
        </p:txBody>
      </p:sp>
      <p:sp>
        <p:nvSpPr>
          <p:cNvPr id="4" name="stage-0"/>
          <p:cNvSpPr/>
          <p:nvPr/>
        </p:nvSpPr>
        <p:spPr>
          <a:xfrm>
            <a:off x="548640" y="1828800"/>
            <a:ext cx="3444240" cy="2286000"/>
          </a:xfrm>
          <a:prstGeom prst="roundRect">
            <a:avLst>
              <a:gd name="adj" fmla="val 4000"/>
            </a:avLst>
          </a:prstGeom>
          <a:solidFill>
            <a:schemeClr val="bg2"/>
          </a:solidFill>
          <a:ln w="12700">
            <a:solidFill>
              <a:srgbClr val="D9E0E8"/>
            </a:solidFill>
            <a:prstDash val="solid"/>
          </a:ln>
        </p:spPr>
      </p:sp>
      <p:sp>
        <p:nvSpPr>
          <p:cNvPr id="5" name="dot-1"/>
          <p:cNvSpPr/>
          <p:nvPr/>
        </p:nvSpPr>
        <p:spPr>
          <a:xfrm>
            <a:off x="804672" y="2057400"/>
            <a:ext cx="475488" cy="475488"/>
          </a:xfrm>
          <a:prstGeom prst="ellipse">
            <a:avLst/>
          </a:prstGeom>
          <a:solidFill>
            <a:srgbClr val="E8803A"/>
          </a:solidFill>
          <a:ln w="12700">
            <a:solidFill>
              <a:srgbClr val="E8803A"/>
            </a:solidFill>
            <a:prstDash val="solid"/>
          </a:ln>
        </p:spPr>
      </p:sp>
      <p:sp>
        <p:nvSpPr>
          <p:cNvPr id="6" name="Text 4"/>
          <p:cNvSpPr txBox="1"/>
          <p:nvPr/>
        </p:nvSpPr>
        <p:spPr>
          <a:xfrm>
            <a:off x="804672" y="205740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7" name="Text 5"/>
          <p:cNvSpPr txBox="1"/>
          <p:nvPr/>
        </p:nvSpPr>
        <p:spPr>
          <a:xfrm>
            <a:off x="804672" y="2670048"/>
            <a:ext cx="2932176" cy="365760"/>
          </a:xfrm>
          <a:prstGeom prst="rect">
            <a:avLst/>
          </a:prstGeom>
          <a:noFill/>
          <a:ln/>
        </p:spPr>
        <p:txBody>
          <a:bodyPr wrap="square" lIns="0" tIns="0" rIns="0" bIns="0" rtlCol="0" anchor="t"/>
          <a:lstStyle/>
          <a:p>
            <a:pPr algn="l" indent="0" marL="0">
              <a:buNone/>
            </a:pPr>
            <a:r>
              <a:rPr lang="en-US" sz="1600" b="1" dirty="0">
                <a:solidFill>
                  <a:schemeClr val="tx1"/>
                </a:solidFill>
              </a:rPr>
              <a:t>รอก่อน  150 ms</a:t>
            </a:r>
            <a:endParaRPr lang="en-US" sz="1600" dirty="0"/>
          </a:p>
        </p:txBody>
      </p:sp>
      <p:sp>
        <p:nvSpPr>
          <p:cNvPr id="8" name="Text 6"/>
          <p:cNvSpPr txBox="1"/>
          <p:nvPr/>
        </p:nvSpPr>
        <p:spPr>
          <a:xfrm>
            <a:off x="804672" y="3090672"/>
            <a:ext cx="2932176" cy="914400"/>
          </a:xfrm>
          <a:prstGeom prst="rect">
            <a:avLst/>
          </a:prstGeom>
          <a:noFill/>
          <a:ln/>
        </p:spPr>
        <p:txBody>
          <a:bodyPr wrap="square" lIns="0" tIns="0" rIns="0" bIns="0" rtlCol="0" anchor="t"/>
          <a:lstStyle/>
          <a:p>
            <a:pPr algn="l" indent="0" marL="0">
              <a:lnSpc>
                <a:spcPct val="125000"/>
              </a:lnSpc>
              <a:buNone/>
            </a:pPr>
            <a:r>
              <a:rPr lang="en-US" sz="1250" dirty="0">
                <a:solidFill>
                  <a:srgbClr val="4A5568"/>
                </a:solidFill>
              </a:rPr>
              <a:t>ยังไม่ตัดสินใจอะไรทั้งนั้น เลี้ยวค้างไปทางเดิมต่อ ซึ่งเป็นทิศที่ไล่ตามเส้นอยู่แล้ว ทางโค้งส่วนใหญ่จบก่อนเวลานี้</a:t>
            </a:r>
            <a:endParaRPr lang="en-US" sz="1250" dirty="0"/>
          </a:p>
        </p:txBody>
      </p:sp>
      <p:sp>
        <p:nvSpPr>
          <p:cNvPr id="9" name="stage-1"/>
          <p:cNvSpPr/>
          <p:nvPr/>
        </p:nvSpPr>
        <p:spPr>
          <a:xfrm>
            <a:off x="4358640" y="1828800"/>
            <a:ext cx="3444240" cy="2286000"/>
          </a:xfrm>
          <a:prstGeom prst="roundRect">
            <a:avLst>
              <a:gd name="adj" fmla="val 4000"/>
            </a:avLst>
          </a:prstGeom>
          <a:solidFill>
            <a:schemeClr val="bg2"/>
          </a:solidFill>
          <a:ln w="12700">
            <a:solidFill>
              <a:srgbClr val="D9E0E8"/>
            </a:solidFill>
            <a:prstDash val="solid"/>
          </a:ln>
        </p:spPr>
      </p:sp>
      <p:sp>
        <p:nvSpPr>
          <p:cNvPr id="10" name="dot-2"/>
          <p:cNvSpPr/>
          <p:nvPr/>
        </p:nvSpPr>
        <p:spPr>
          <a:xfrm>
            <a:off x="4614672" y="2057400"/>
            <a:ext cx="475488" cy="475488"/>
          </a:xfrm>
          <a:prstGeom prst="ellipse">
            <a:avLst/>
          </a:prstGeom>
          <a:solidFill>
            <a:srgbClr val="E8803A"/>
          </a:solidFill>
          <a:ln w="12700">
            <a:solidFill>
              <a:srgbClr val="E8803A"/>
            </a:solidFill>
            <a:prstDash val="solid"/>
          </a:ln>
        </p:spPr>
      </p:sp>
      <p:sp>
        <p:nvSpPr>
          <p:cNvPr id="11" name="Text 9"/>
          <p:cNvSpPr txBox="1"/>
          <p:nvPr/>
        </p:nvSpPr>
        <p:spPr>
          <a:xfrm>
            <a:off x="4614672" y="205740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2" name="Text 10"/>
          <p:cNvSpPr txBox="1"/>
          <p:nvPr/>
        </p:nvSpPr>
        <p:spPr>
          <a:xfrm>
            <a:off x="4614672" y="2670048"/>
            <a:ext cx="2932176" cy="365760"/>
          </a:xfrm>
          <a:prstGeom prst="rect">
            <a:avLst/>
          </a:prstGeom>
          <a:noFill/>
          <a:ln/>
        </p:spPr>
        <p:txBody>
          <a:bodyPr wrap="square" lIns="0" tIns="0" rIns="0" bIns="0" rtlCol="0" anchor="t"/>
          <a:lstStyle/>
          <a:p>
            <a:pPr algn="l" indent="0" marL="0">
              <a:buNone/>
            </a:pPr>
            <a:r>
              <a:rPr lang="en-US" sz="1600" b="1" dirty="0">
                <a:solidFill>
                  <a:schemeClr val="tx1"/>
                </a:solidFill>
              </a:rPr>
              <a:t>ถอยหลัง  400 ms</a:t>
            </a:r>
            <a:endParaRPr lang="en-US" sz="1600" dirty="0"/>
          </a:p>
        </p:txBody>
      </p:sp>
      <p:sp>
        <p:nvSpPr>
          <p:cNvPr id="13" name="Text 11"/>
          <p:cNvSpPr txBox="1"/>
          <p:nvPr/>
        </p:nvSpPr>
        <p:spPr>
          <a:xfrm>
            <a:off x="4614672" y="3090672"/>
            <a:ext cx="2932176" cy="914400"/>
          </a:xfrm>
          <a:prstGeom prst="rect">
            <a:avLst/>
          </a:prstGeom>
          <a:noFill/>
          <a:ln/>
        </p:spPr>
        <p:txBody>
          <a:bodyPr wrap="square" lIns="0" tIns="0" rIns="0" bIns="0" rtlCol="0" anchor="t"/>
          <a:lstStyle/>
          <a:p>
            <a:pPr algn="l" indent="0" marL="0">
              <a:lnSpc>
                <a:spcPct val="125000"/>
              </a:lnSpc>
              <a:buNone/>
            </a:pPr>
            <a:r>
              <a:rPr lang="en-US" sz="1250" dirty="0">
                <a:solidFill>
                  <a:srgbClr val="4A5568"/>
                </a:solidFill>
              </a:rPr>
              <a:t>ถอยเอียงไปทางที่เพิ่งเห็นเส้นครั้งสุดท้าย แก้กรณีเข้าโค้งเร็วเกินจนหลุด</a:t>
            </a:r>
            <a:endParaRPr lang="en-US" sz="1250" dirty="0"/>
          </a:p>
        </p:txBody>
      </p:sp>
      <p:sp>
        <p:nvSpPr>
          <p:cNvPr id="14" name="stage-2"/>
          <p:cNvSpPr/>
          <p:nvPr/>
        </p:nvSpPr>
        <p:spPr>
          <a:xfrm>
            <a:off x="8168640" y="1828800"/>
            <a:ext cx="3444240" cy="2286000"/>
          </a:xfrm>
          <a:prstGeom prst="roundRect">
            <a:avLst>
              <a:gd name="adj" fmla="val 4000"/>
            </a:avLst>
          </a:prstGeom>
          <a:solidFill>
            <a:schemeClr val="bg2"/>
          </a:solidFill>
          <a:ln w="12700">
            <a:solidFill>
              <a:srgbClr val="D9E0E8"/>
            </a:solidFill>
            <a:prstDash val="solid"/>
          </a:ln>
        </p:spPr>
      </p:sp>
      <p:sp>
        <p:nvSpPr>
          <p:cNvPr id="15" name="dot-3"/>
          <p:cNvSpPr/>
          <p:nvPr/>
        </p:nvSpPr>
        <p:spPr>
          <a:xfrm>
            <a:off x="8424672" y="2057400"/>
            <a:ext cx="475488" cy="475488"/>
          </a:xfrm>
          <a:prstGeom prst="ellipse">
            <a:avLst/>
          </a:prstGeom>
          <a:solidFill>
            <a:srgbClr val="E8803A"/>
          </a:solidFill>
          <a:ln w="12700">
            <a:solidFill>
              <a:srgbClr val="E8803A"/>
            </a:solidFill>
            <a:prstDash val="solid"/>
          </a:ln>
        </p:spPr>
      </p:sp>
      <p:sp>
        <p:nvSpPr>
          <p:cNvPr id="16" name="Text 14"/>
          <p:cNvSpPr txBox="1"/>
          <p:nvPr/>
        </p:nvSpPr>
        <p:spPr>
          <a:xfrm>
            <a:off x="8424672" y="205740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7" name="Text 15"/>
          <p:cNvSpPr txBox="1"/>
          <p:nvPr/>
        </p:nvSpPr>
        <p:spPr>
          <a:xfrm>
            <a:off x="8424672" y="2670048"/>
            <a:ext cx="2932176" cy="365760"/>
          </a:xfrm>
          <a:prstGeom prst="rect">
            <a:avLst/>
          </a:prstGeom>
          <a:noFill/>
          <a:ln/>
        </p:spPr>
        <p:txBody>
          <a:bodyPr wrap="square" lIns="0" tIns="0" rIns="0" bIns="0" rtlCol="0" anchor="t"/>
          <a:lstStyle/>
          <a:p>
            <a:pPr algn="l" indent="0" marL="0">
              <a:buNone/>
            </a:pPr>
            <a:r>
              <a:rPr lang="en-US" sz="1600" b="1" dirty="0">
                <a:solidFill>
                  <a:schemeClr val="tx1"/>
                </a:solidFill>
              </a:rPr>
              <a:t>กวาดหา  ถึง 6 วินาที</a:t>
            </a:r>
            <a:endParaRPr lang="en-US" sz="1600" dirty="0"/>
          </a:p>
        </p:txBody>
      </p:sp>
      <p:sp>
        <p:nvSpPr>
          <p:cNvPr id="18" name="Text 16"/>
          <p:cNvSpPr txBox="1"/>
          <p:nvPr/>
        </p:nvSpPr>
        <p:spPr>
          <a:xfrm>
            <a:off x="8424672" y="3090672"/>
            <a:ext cx="2932176" cy="914400"/>
          </a:xfrm>
          <a:prstGeom prst="rect">
            <a:avLst/>
          </a:prstGeom>
          <a:noFill/>
          <a:ln/>
        </p:spPr>
        <p:txBody>
          <a:bodyPr wrap="square" lIns="0" tIns="0" rIns="0" bIns="0" rtlCol="0" anchor="t"/>
          <a:lstStyle/>
          <a:p>
            <a:pPr algn="l" indent="0" marL="0">
              <a:lnSpc>
                <a:spcPct val="125000"/>
              </a:lnSpc>
              <a:buNone/>
            </a:pPr>
            <a:r>
              <a:rPr lang="en-US" sz="1250" dirty="0">
                <a:solidFill>
                  <a:srgbClr val="4A5568"/>
                </a:solidFill>
              </a:rPr>
              <a:t>หมุนอยู่กับที่ด้วยความเร็ว 55% สลับซ้ายขวา แต่ละรอบกว้างขึ้นเรื่อยๆ ครบ 6 วินาทีแล้วไม่เจอถึงจะยอมแพ้</a:t>
            </a:r>
            <a:endParaRPr lang="en-US" sz="1250" dirty="0"/>
          </a:p>
        </p:txBody>
      </p:sp>
      <p:sp>
        <p:nvSpPr>
          <p:cNvPr id="19" name="callout"/>
          <p:cNvSpPr/>
          <p:nvPr/>
        </p:nvSpPr>
        <p:spPr>
          <a:xfrm>
            <a:off x="548640" y="4343400"/>
            <a:ext cx="11064240" cy="1234440"/>
          </a:xfrm>
          <a:prstGeom prst="roundRect">
            <a:avLst>
              <a:gd name="adj" fmla="val 5926"/>
            </a:avLst>
          </a:prstGeom>
          <a:solidFill>
            <a:srgbClr val="E8F1F5"/>
          </a:solidFill>
          <a:ln w="12700">
            <a:solidFill>
              <a:srgbClr val="CBE0E9"/>
            </a:solidFill>
            <a:prstDash val="solid"/>
          </a:ln>
        </p:spPr>
      </p:sp>
      <p:sp>
        <p:nvSpPr>
          <p:cNvPr id="20" name="Text 18"/>
          <p:cNvSpPr txBox="1"/>
          <p:nvPr/>
        </p:nvSpPr>
        <p:spPr>
          <a:xfrm>
            <a:off x="777240" y="4471416"/>
            <a:ext cx="10607040" cy="274320"/>
          </a:xfrm>
          <a:prstGeom prst="rect">
            <a:avLst/>
          </a:prstGeom>
          <a:noFill/>
          <a:ln/>
        </p:spPr>
        <p:txBody>
          <a:bodyPr wrap="square" lIns="0" tIns="0" rIns="0" bIns="0" rtlCol="0" anchor="t"/>
          <a:lstStyle/>
          <a:p>
            <a:pPr algn="l" indent="0" marL="0">
              <a:buNone/>
            </a:pPr>
            <a:r>
              <a:rPr lang="en-US" sz="1400" b="1" dirty="0">
                <a:solidFill>
                  <a:srgbClr val="1C7293"/>
                </a:solidFill>
              </a:rPr>
              <a:t>ขาวหมดกับดำหมด คนละความหมายกันคนละขั้ว</a:t>
            </a:r>
            <a:endParaRPr lang="en-US" sz="1400" dirty="0"/>
          </a:p>
        </p:txBody>
      </p:sp>
      <p:sp>
        <p:nvSpPr>
          <p:cNvPr id="21" name="Text 19"/>
          <p:cNvSpPr txBox="1"/>
          <p:nvPr/>
        </p:nvSpPr>
        <p:spPr>
          <a:xfrm>
            <a:off x="777240" y="4782312"/>
            <a:ext cx="10607040" cy="667512"/>
          </a:xfrm>
          <a:prstGeom prst="rect">
            <a:avLst/>
          </a:prstGeom>
          <a:noFill/>
          <a:ln/>
        </p:spPr>
        <p:txBody>
          <a:bodyPr wrap="square" lIns="0" tIns="0" rIns="0" bIns="0" rtlCol="0" anchor="t"/>
          <a:lstStyle/>
          <a:p>
            <a:pPr algn="l" indent="0" marL="0">
              <a:lnSpc>
                <a:spcPct val="120000"/>
              </a:lnSpc>
              <a:buNone/>
            </a:pPr>
            <a:r>
              <a:rPr lang="en-US" sz="1250" dirty="0">
                <a:solidFill>
                  <a:srgbClr val="4A5568"/>
                </a:solidFill>
              </a:rPr>
              <a:t>ไม่เจอเส้นเลยแปลว่าเส้นอยู่นอกแถวเซนเซอร์ หุ่นต้องดันตัวเองไปหาจนกว่าจะมีดวงใดดวงหนึ่งเจอ  ส่วนที่สั่งให้หยุดคือตรงข้ามกันพอดี คือดำครบทั้ง 5 ดวง ซึ่งแปลว่าถึงเส้นชัยแล้ว</a:t>
            </a:r>
            <a:endParaRPr lang="en-US" sz="1250" dirty="0"/>
          </a:p>
        </p:txBody>
      </p:sp>
      <p:sp>
        <p:nvSpPr>
          <p:cNvPr id="25" name="Slide Number Placeholder 0"/>
          <p:cNvSpPr>
            <a:spLocks noGrp="1"/>
          </p:cNvSpPr>
          <p:nvPr>
            <p:ph type="sldNum" sz="quarter" idx="4294967295"/>
          </p:nvPr>
        </p:nvSpPr>
        <p:spPr>
          <a:xfrm>
            <a:off x="11338560" y="62636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E93"/>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685800"/>
          </a:xfrm>
          <a:prstGeom prst="rect">
            <a:avLst/>
          </a:prstGeom>
          <a:noFill/>
          <a:ln/>
        </p:spPr>
        <p:txBody>
          <a:bodyPr wrap="square" rtlCol="0"/>
          <a:lstStyle/>
          <a:p>
            <a:pPr algn="l" indent="0" marL="0">
              <a:buNone/>
            </a:pPr>
            <a:r>
              <a:rPr lang="en-US" sz="3200" b="1" dirty="0">
                <a:solidFill>
                  <a:schemeClr val="tx1"/>
                </a:solidFill>
              </a:rPr>
              <a:t>อาการที่เจอบ่อยและวิธีแก้</a:t>
            </a:r>
            <a:endParaRPr lang="en-US" sz="3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3291840"/>
                <a:gridCol w="3657600"/>
                <a:gridCol w="4114800"/>
              </a:tblGrid>
              <a:tr h="0">
                <a:tc>
                  <a:txBody>
                    <a:bodyPr/>
                    <a:lstStyle/>
                    <a:p>
                      <a:pPr indent="0" marL="0">
                        <a:buNone/>
                      </a:pPr>
                      <a:r>
                        <a:rPr lang="en-US" sz="1300" b="1" dirty="0">
                          <a:solidFill>
                            <a:srgbClr val="FFFFFF"/>
                          </a:solidFill>
                        </a:rPr>
                        <a:t>อาการ</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16202E"/>
                    </a:solidFill>
                  </a:tcPr>
                </a:tc>
                <a:tc>
                  <a:txBody>
                    <a:bodyPr/>
                    <a:lstStyle/>
                    <a:p>
                      <a:pPr indent="0" marL="0">
                        <a:buNone/>
                      </a:pPr>
                      <a:r>
                        <a:rPr lang="en-US" sz="1300" b="1" dirty="0">
                          <a:solidFill>
                            <a:srgbClr val="FFFFFF"/>
                          </a:solidFill>
                        </a:rPr>
                        <a:t>สาเหตุที่เจอบ่อยที่สุด</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16202E"/>
                    </a:solidFill>
                  </a:tcPr>
                </a:tc>
                <a:tc>
                  <a:txBody>
                    <a:bodyPr/>
                    <a:lstStyle/>
                    <a:p>
                      <a:pPr indent="0" marL="0">
                        <a:buNone/>
                      </a:pPr>
                      <a:r>
                        <a:rPr lang="en-US" sz="1300" b="1" dirty="0">
                          <a:solidFill>
                            <a:srgbClr val="FFFFFF"/>
                          </a:solidFill>
                        </a:rPr>
                        <a:t>วิธีแก้</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16202E"/>
                    </a:solidFill>
                  </a:tcPr>
                </a:tc>
              </a:tr>
              <a:tr h="0">
                <a:tc>
                  <a:txBody>
                    <a:bodyPr/>
                    <a:lstStyle/>
                    <a:p>
                      <a:pPr indent="0" marL="0">
                        <a:buNone/>
                      </a:pPr>
                      <a:r>
                        <a:rPr lang="en-US" sz="1250" b="1" dirty="0">
                          <a:solidFill>
                            <a:srgbClr val="16202E"/>
                          </a:solidFill>
                        </a:rPr>
                        <a:t>จอไม่ขึ้นตอนเปิดครั้งที่สอง</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50" dirty="0">
                          <a:solidFill>
                            <a:srgbClr val="4A5568"/>
                          </a:solidFill>
                        </a:rPr>
                        <a:t>สาย I2C ถูกจอกดค้างจากรอบที่แล้ว</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50" dirty="0">
                          <a:solidFill>
                            <a:srgbClr val="4A5568"/>
                          </a:solidFill>
                        </a:rPr>
                        <a:t>โค้ดรุ่นใหม่ปลดให้เองตอนบูต  ถ้ายังไม่ขึ้นให้ถอดไฟทิ้ง 10 วินาที</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16202E"/>
                          </a:solidFill>
                        </a:rPr>
                        <a:t>อัป STM32 ไม่ได้</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50" dirty="0">
                          <a:solidFill>
                            <a:srgbClr val="4A5568"/>
                          </a:solidFill>
                        </a:rPr>
                        <a:t>เลือกบอร์ดผิดชุด หรือยังไม่ได้ลง STM32CubeProgrammer</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50" dirty="0">
                          <a:solidFill>
                            <a:srgbClr val="4A5568"/>
                          </a:solidFill>
                        </a:rPr>
                        <a:t>เลือก Generic STM32F1 series และ Upload method เป็น SWD</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16202E"/>
                          </a:solidFill>
                        </a:rPr>
                        <a:t>undefined reference to 'Serial2'</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50" dirty="0">
                          <a:solidFill>
                            <a:srgbClr val="4A5568"/>
                          </a:solidFill>
                        </a:rPr>
                        <a:t>คอร์ทางการไม่ได้สร้าง Serial2 Serial3 ให้เอง</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50" dirty="0">
                          <a:solidFill>
                            <a:srgbClr val="4A5568"/>
                          </a:solidFill>
                        </a:rPr>
                        <a:t>สเก็ตช์สร้างไว้ให้แล้วตรงหัวไฟล์ อย่าลบสองบรรทัดนั้นทิ้ง</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16202E"/>
                          </a:solidFill>
                        </a:rPr>
                        <a:t>เปิดหน้าเว็บไม่ได้</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50" dirty="0">
                          <a:solidFill>
                            <a:srgbClr val="4A5568"/>
                          </a:solidFill>
                        </a:rPr>
                        <a:t>ยังไม่ได้ต่อ Wi-Fi ชื่อ My_Robot2</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50" dirty="0">
                          <a:solidFill>
                            <a:srgbClr val="4A5568"/>
                          </a:solidFill>
                        </a:rPr>
                        <a:t>ต่อ Wi-Fi ก่อน แล้วปิดการสลับไปเน็ตมือถืออัตโนมัติในเครื่อง</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16202E"/>
                          </a:solidFill>
                        </a:rPr>
                        <a:t>หุ่นเบี่ยงไปข้างเดียวตลอด</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50" dirty="0">
                          <a:solidFill>
                            <a:srgbClr val="4A5568"/>
                          </a:solidFill>
                        </a:rPr>
                        <a:t>มอเตอร์สองตัวแรงไม่เท่ากัน</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50" dirty="0">
                          <a:solidFill>
                            <a:srgbClr val="4A5568"/>
                          </a:solidFill>
                        </a:rPr>
                        <a:t>ปรับแถบ Trim บนหน้าเว็บขณะหุ่นวิ่ง ไม่ต้องอัปโค้ดใหม่</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16202E"/>
                          </a:solidFill>
                        </a:rPr>
                        <a:t>หุ่นหยุดเองกลางสนาม</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50" dirty="0">
                          <a:solidFill>
                            <a:srgbClr val="4A5568"/>
                          </a:solidFill>
                        </a:rPr>
                        <a:t>อ่านขั้วเซนเซอร์กลับด้าน เลยนึกว่าถึงเส้นชัย</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50" dirty="0">
                          <a:solidFill>
                            <a:srgbClr val="4A5568"/>
                          </a:solidFill>
                        </a:rPr>
                        <a:t>ดูบรรทัด black ใน Serial  วางบนเส้นแล้วต้องได้ 0 0 1 0 0</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16202E"/>
                          </a:solidFill>
                        </a:rPr>
                        <a:t>ไฟล์ CSV ไม่อัปเดต</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50" dirty="0">
                          <a:solidFill>
                            <a:srgbClr val="4A5568"/>
                          </a:solidFill>
                        </a:rPr>
                        <a:t>เปิดไฟล์ค้างไว้ใน Excel</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50" dirty="0">
                          <a:solidFill>
                            <a:srgbClr val="4A5568"/>
                          </a:solidFill>
                        </a:rPr>
                        <a:t>ปิดไฟล์ใน Excel แล้วรันสคริปต์ใหม่</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16202E"/>
                          </a:solidFill>
                        </a:rPr>
                        <a:t>ภาพกล้องเป็นเส้นพาดขวาง</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50" dirty="0">
                          <a:solidFill>
                            <a:srgbClr val="4A5568"/>
                          </a:solidFill>
                        </a:rPr>
                        <a:t>สัญญาณพิกเซลเร็วเกินจนรับไม่ทันบางแถว</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50" dirty="0">
                          <a:solidFill>
                            <a:srgbClr val="4A5568"/>
                          </a:solidFill>
                        </a:rPr>
                        <a:t>โค้ดรุ่นใหม่ลดความเร็วสัญญาณลงครึ่งหนึ่งแล้ว ให้อัปเฟิร์มแวร์กล้องใหม่</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16202E"/>
                          </a:solidFill>
                        </a:rPr>
                        <a:t>เลื่อนความเร็วแล้วหุ่นไม่ขยับ</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50" dirty="0">
                          <a:solidFill>
                            <a:srgbClr val="4A5568"/>
                          </a:solidFill>
                        </a:rPr>
                        <a:t>แถบเลื่อนยังอยู่ที่ 0 หรือค่าต่ำเกินกว่าที่ล้อจะหมุน</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50" dirty="0">
                          <a:solidFill>
                            <a:srgbClr val="4A5568"/>
                          </a:solidFill>
                        </a:rPr>
                        <a:t>เลื่อนขึ้นให้เกิน 135  ค่าที่ต่ำกว่านั้นมอเตอร์จะร้องแต่ไม่หมุน</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16202E"/>
                          </a:solidFill>
                        </a:rPr>
                        <a:t>อ่าน QR ไม่ออกสักที</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50" dirty="0">
                          <a:solidFill>
                            <a:srgbClr val="4A5568"/>
                          </a:solidFill>
                        </a:rPr>
                        <a:t>ภาพเบลอ หรือ QR อยู่ไกลเกินไป</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indent="0" marL="0">
                        <a:buNone/>
                      </a:pPr>
                      <a:r>
                        <a:rPr lang="en-US" sz="1250" dirty="0">
                          <a:solidFill>
                            <a:srgbClr val="4A5568"/>
                          </a:solidFill>
                        </a:rPr>
                        <a:t>ขยับให้ใกล้ขึ้น และส่องให้แสงตกบน QR ไม่ใช่เงาของตัวหุ่น</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38560" y="62636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E93"/>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685800"/>
          </a:xfrm>
          <a:prstGeom prst="rect">
            <a:avLst/>
          </a:prstGeom>
          <a:noFill/>
          <a:ln/>
        </p:spPr>
        <p:txBody>
          <a:bodyPr wrap="square" rtlCol="0"/>
          <a:lstStyle/>
          <a:p>
            <a:pPr algn="l" indent="0" marL="0">
              <a:buNone/>
            </a:pPr>
            <a:r>
              <a:rPr lang="en-US" sz="3200" b="1" dirty="0">
                <a:solidFill>
                  <a:schemeClr val="tx1"/>
                </a:solidFill>
              </a:rPr>
              <a:t>เช็กลิสต์ก่อนวิ่งจริง</a:t>
            </a:r>
            <a:endParaRPr lang="en-US" sz="3200" dirty="0"/>
          </a:p>
        </p:txBody>
      </p:sp>
      <p:sp>
        <p:nvSpPr>
          <p:cNvPr id="3" name="check-0"/>
          <p:cNvSpPr/>
          <p:nvPr/>
        </p:nvSpPr>
        <p:spPr>
          <a:xfrm>
            <a:off x="548640" y="1600200"/>
            <a:ext cx="310896" cy="310896"/>
          </a:xfrm>
          <a:prstGeom prst="roundRect">
            <a:avLst>
              <a:gd name="adj" fmla="val 17647"/>
            </a:avLst>
          </a:prstGeom>
          <a:solidFill>
            <a:srgbClr val="FFFFFF"/>
          </a:solidFill>
          <a:ln w="19050">
            <a:solidFill>
              <a:srgbClr val="2F7A4F"/>
            </a:solidFill>
            <a:prstDash val="solid"/>
          </a:ln>
        </p:spPr>
      </p:sp>
      <p:sp>
        <p:nvSpPr>
          <p:cNvPr id="4" name="Text 2"/>
          <p:cNvSpPr txBox="1"/>
          <p:nvPr/>
        </p:nvSpPr>
        <p:spPr>
          <a:xfrm>
            <a:off x="1051560" y="1563624"/>
            <a:ext cx="4709160" cy="685800"/>
          </a:xfrm>
          <a:prstGeom prst="rect">
            <a:avLst/>
          </a:prstGeom>
          <a:noFill/>
          <a:ln/>
        </p:spPr>
        <p:txBody>
          <a:bodyPr wrap="square" lIns="0" tIns="0" rIns="0" bIns="0" rtlCol="0" anchor="t"/>
          <a:lstStyle/>
          <a:p>
            <a:pPr algn="l" indent="0" marL="0">
              <a:lnSpc>
                <a:spcPct val="120000"/>
              </a:lnSpc>
              <a:buNone/>
            </a:pPr>
            <a:r>
              <a:rPr lang="en-US" sz="1350" dirty="0">
                <a:solidFill>
                  <a:schemeClr val="tx1"/>
                </a:solidFill>
              </a:rPr>
              <a:t>แบตเตอรี่เต็ม และจ่ายไฟมอเตอร์แยกจากบอร์ด</a:t>
            </a:r>
            <a:endParaRPr lang="en-US" sz="1350" dirty="0"/>
          </a:p>
        </p:txBody>
      </p:sp>
      <p:sp>
        <p:nvSpPr>
          <p:cNvPr id="5" name="check-1"/>
          <p:cNvSpPr/>
          <p:nvPr/>
        </p:nvSpPr>
        <p:spPr>
          <a:xfrm>
            <a:off x="6400800" y="1600200"/>
            <a:ext cx="310896" cy="310896"/>
          </a:xfrm>
          <a:prstGeom prst="roundRect">
            <a:avLst>
              <a:gd name="adj" fmla="val 17647"/>
            </a:avLst>
          </a:prstGeom>
          <a:solidFill>
            <a:srgbClr val="FFFFFF"/>
          </a:solidFill>
          <a:ln w="19050">
            <a:solidFill>
              <a:srgbClr val="2F7A4F"/>
            </a:solidFill>
            <a:prstDash val="solid"/>
          </a:ln>
        </p:spPr>
      </p:sp>
      <p:sp>
        <p:nvSpPr>
          <p:cNvPr id="6" name="Text 4"/>
          <p:cNvSpPr txBox="1"/>
          <p:nvPr/>
        </p:nvSpPr>
        <p:spPr>
          <a:xfrm>
            <a:off x="6903720" y="1563624"/>
            <a:ext cx="4709160" cy="685800"/>
          </a:xfrm>
          <a:prstGeom prst="rect">
            <a:avLst/>
          </a:prstGeom>
          <a:noFill/>
          <a:ln/>
        </p:spPr>
        <p:txBody>
          <a:bodyPr wrap="square" lIns="0" tIns="0" rIns="0" bIns="0" rtlCol="0" anchor="t"/>
          <a:lstStyle/>
          <a:p>
            <a:pPr algn="l" indent="0" marL="0">
              <a:lnSpc>
                <a:spcPct val="120000"/>
              </a:lnSpc>
              <a:buNone/>
            </a:pPr>
            <a:r>
              <a:rPr lang="en-US" sz="1350" dirty="0">
                <a:solidFill>
                  <a:schemeClr val="tx1"/>
                </a:solidFill>
              </a:rPr>
              <a:t>สายจอ OLED ทั้งสี่เส้นบัดกรีแน่น ไม่ใช่แค่เสียบ</a:t>
            </a:r>
            <a:endParaRPr lang="en-US" sz="1350" dirty="0"/>
          </a:p>
        </p:txBody>
      </p:sp>
      <p:sp>
        <p:nvSpPr>
          <p:cNvPr id="7" name="check-2"/>
          <p:cNvSpPr/>
          <p:nvPr/>
        </p:nvSpPr>
        <p:spPr>
          <a:xfrm>
            <a:off x="548640" y="2560320"/>
            <a:ext cx="310896" cy="310896"/>
          </a:xfrm>
          <a:prstGeom prst="roundRect">
            <a:avLst>
              <a:gd name="adj" fmla="val 17647"/>
            </a:avLst>
          </a:prstGeom>
          <a:solidFill>
            <a:srgbClr val="FFFFFF"/>
          </a:solidFill>
          <a:ln w="19050">
            <a:solidFill>
              <a:srgbClr val="2F7A4F"/>
            </a:solidFill>
            <a:prstDash val="solid"/>
          </a:ln>
        </p:spPr>
      </p:sp>
      <p:sp>
        <p:nvSpPr>
          <p:cNvPr id="8" name="Text 6"/>
          <p:cNvSpPr txBox="1"/>
          <p:nvPr/>
        </p:nvSpPr>
        <p:spPr>
          <a:xfrm>
            <a:off x="1051560" y="2523744"/>
            <a:ext cx="4709160" cy="685800"/>
          </a:xfrm>
          <a:prstGeom prst="rect">
            <a:avLst/>
          </a:prstGeom>
          <a:noFill/>
          <a:ln/>
        </p:spPr>
        <p:txBody>
          <a:bodyPr wrap="square" lIns="0" tIns="0" rIns="0" bIns="0" rtlCol="0" anchor="t"/>
          <a:lstStyle/>
          <a:p>
            <a:pPr algn="l" indent="0" marL="0">
              <a:lnSpc>
                <a:spcPct val="120000"/>
              </a:lnSpc>
              <a:buNone/>
            </a:pPr>
            <a:r>
              <a:rPr lang="en-US" sz="1350" dirty="0">
                <a:solidFill>
                  <a:schemeClr val="tx1"/>
                </a:solidFill>
              </a:rPr>
              <a:t>สายสื่อสารไขว้ถูกคู่ และต่อ GND ร่วมกันครบ</a:t>
            </a:r>
            <a:endParaRPr lang="en-US" sz="1350" dirty="0"/>
          </a:p>
        </p:txBody>
      </p:sp>
      <p:sp>
        <p:nvSpPr>
          <p:cNvPr id="9" name="check-3"/>
          <p:cNvSpPr/>
          <p:nvPr/>
        </p:nvSpPr>
        <p:spPr>
          <a:xfrm>
            <a:off x="6400800" y="2560320"/>
            <a:ext cx="310896" cy="310896"/>
          </a:xfrm>
          <a:prstGeom prst="roundRect">
            <a:avLst>
              <a:gd name="adj" fmla="val 17647"/>
            </a:avLst>
          </a:prstGeom>
          <a:solidFill>
            <a:srgbClr val="FFFFFF"/>
          </a:solidFill>
          <a:ln w="19050">
            <a:solidFill>
              <a:srgbClr val="2F7A4F"/>
            </a:solidFill>
            <a:prstDash val="solid"/>
          </a:ln>
        </p:spPr>
      </p:sp>
      <p:sp>
        <p:nvSpPr>
          <p:cNvPr id="10" name="Text 8"/>
          <p:cNvSpPr txBox="1"/>
          <p:nvPr/>
        </p:nvSpPr>
        <p:spPr>
          <a:xfrm>
            <a:off x="6903720" y="2523744"/>
            <a:ext cx="4709160" cy="685800"/>
          </a:xfrm>
          <a:prstGeom prst="rect">
            <a:avLst/>
          </a:prstGeom>
          <a:noFill/>
          <a:ln/>
        </p:spPr>
        <p:txBody>
          <a:bodyPr wrap="square" lIns="0" tIns="0" rIns="0" bIns="0" rtlCol="0" anchor="t"/>
          <a:lstStyle/>
          <a:p>
            <a:pPr algn="l" indent="0" marL="0">
              <a:lnSpc>
                <a:spcPct val="120000"/>
              </a:lnSpc>
              <a:buNone/>
            </a:pPr>
            <a:r>
              <a:rPr lang="en-US" sz="1350" dirty="0">
                <a:solidFill>
                  <a:schemeClr val="tx1"/>
                </a:solidFill>
              </a:rPr>
              <a:t>เปิด Serial Monitor เช็กว่าวันเวลาคอมไพล์ตรงกับที่เพิ่งอัป</a:t>
            </a:r>
            <a:endParaRPr lang="en-US" sz="1350" dirty="0"/>
          </a:p>
        </p:txBody>
      </p:sp>
      <p:sp>
        <p:nvSpPr>
          <p:cNvPr id="11" name="check-4"/>
          <p:cNvSpPr/>
          <p:nvPr/>
        </p:nvSpPr>
        <p:spPr>
          <a:xfrm>
            <a:off x="548640" y="3520440"/>
            <a:ext cx="310896" cy="310896"/>
          </a:xfrm>
          <a:prstGeom prst="roundRect">
            <a:avLst>
              <a:gd name="adj" fmla="val 17647"/>
            </a:avLst>
          </a:prstGeom>
          <a:solidFill>
            <a:srgbClr val="FFFFFF"/>
          </a:solidFill>
          <a:ln w="19050">
            <a:solidFill>
              <a:srgbClr val="2F7A4F"/>
            </a:solidFill>
            <a:prstDash val="solid"/>
          </a:ln>
        </p:spPr>
      </p:sp>
      <p:sp>
        <p:nvSpPr>
          <p:cNvPr id="12" name="Text 10"/>
          <p:cNvSpPr txBox="1"/>
          <p:nvPr/>
        </p:nvSpPr>
        <p:spPr>
          <a:xfrm>
            <a:off x="1051560" y="3483864"/>
            <a:ext cx="4709160" cy="685800"/>
          </a:xfrm>
          <a:prstGeom prst="rect">
            <a:avLst/>
          </a:prstGeom>
          <a:noFill/>
          <a:ln/>
        </p:spPr>
        <p:txBody>
          <a:bodyPr wrap="square" lIns="0" tIns="0" rIns="0" bIns="0" rtlCol="0" anchor="t"/>
          <a:lstStyle/>
          <a:p>
            <a:pPr algn="l" indent="0" marL="0">
              <a:lnSpc>
                <a:spcPct val="120000"/>
              </a:lnSpc>
              <a:buNone/>
            </a:pPr>
            <a:r>
              <a:rPr lang="en-US" sz="1350" dirty="0">
                <a:solidFill>
                  <a:schemeClr val="tx1"/>
                </a:solidFill>
              </a:rPr>
              <a:t>วางหุ่นบนเส้นแล้วอ่านค่าได้ 0 0 1 0 0</a:t>
            </a:r>
            <a:endParaRPr lang="en-US" sz="1350" dirty="0"/>
          </a:p>
        </p:txBody>
      </p:sp>
      <p:sp>
        <p:nvSpPr>
          <p:cNvPr id="13" name="check-5"/>
          <p:cNvSpPr/>
          <p:nvPr/>
        </p:nvSpPr>
        <p:spPr>
          <a:xfrm>
            <a:off x="6400800" y="3520440"/>
            <a:ext cx="310896" cy="310896"/>
          </a:xfrm>
          <a:prstGeom prst="roundRect">
            <a:avLst>
              <a:gd name="adj" fmla="val 17647"/>
            </a:avLst>
          </a:prstGeom>
          <a:solidFill>
            <a:srgbClr val="FFFFFF"/>
          </a:solidFill>
          <a:ln w="19050">
            <a:solidFill>
              <a:srgbClr val="2F7A4F"/>
            </a:solidFill>
            <a:prstDash val="solid"/>
          </a:ln>
        </p:spPr>
      </p:sp>
      <p:sp>
        <p:nvSpPr>
          <p:cNvPr id="14" name="Text 12"/>
          <p:cNvSpPr txBox="1"/>
          <p:nvPr/>
        </p:nvSpPr>
        <p:spPr>
          <a:xfrm>
            <a:off x="6903720" y="3483864"/>
            <a:ext cx="4709160" cy="685800"/>
          </a:xfrm>
          <a:prstGeom prst="rect">
            <a:avLst/>
          </a:prstGeom>
          <a:noFill/>
          <a:ln/>
        </p:spPr>
        <p:txBody>
          <a:bodyPr wrap="square" lIns="0" tIns="0" rIns="0" bIns="0" rtlCol="0" anchor="t"/>
          <a:lstStyle/>
          <a:p>
            <a:pPr algn="l" indent="0" marL="0">
              <a:lnSpc>
                <a:spcPct val="120000"/>
              </a:lnSpc>
              <a:buNone/>
            </a:pPr>
            <a:r>
              <a:rPr lang="en-US" sz="1350" dirty="0">
                <a:solidFill>
                  <a:schemeClr val="tx1"/>
                </a:solidFill>
              </a:rPr>
              <a:t>มือถือและ PC ต่อ Wi-Fi ชื่อ My_Robot2 แล้วทั้งคู่</a:t>
            </a:r>
            <a:endParaRPr lang="en-US" sz="1350" dirty="0"/>
          </a:p>
        </p:txBody>
      </p:sp>
      <p:sp>
        <p:nvSpPr>
          <p:cNvPr id="15" name="check-6"/>
          <p:cNvSpPr/>
          <p:nvPr/>
        </p:nvSpPr>
        <p:spPr>
          <a:xfrm>
            <a:off x="548640" y="4480560"/>
            <a:ext cx="310896" cy="310896"/>
          </a:xfrm>
          <a:prstGeom prst="roundRect">
            <a:avLst>
              <a:gd name="adj" fmla="val 17647"/>
            </a:avLst>
          </a:prstGeom>
          <a:solidFill>
            <a:srgbClr val="FFFFFF"/>
          </a:solidFill>
          <a:ln w="19050">
            <a:solidFill>
              <a:srgbClr val="2F7A4F"/>
            </a:solidFill>
            <a:prstDash val="solid"/>
          </a:ln>
        </p:spPr>
      </p:sp>
      <p:sp>
        <p:nvSpPr>
          <p:cNvPr id="16" name="Text 14"/>
          <p:cNvSpPr txBox="1"/>
          <p:nvPr/>
        </p:nvSpPr>
        <p:spPr>
          <a:xfrm>
            <a:off x="1051560" y="4443984"/>
            <a:ext cx="4709160" cy="685800"/>
          </a:xfrm>
          <a:prstGeom prst="rect">
            <a:avLst/>
          </a:prstGeom>
          <a:noFill/>
          <a:ln/>
        </p:spPr>
        <p:txBody>
          <a:bodyPr wrap="square" lIns="0" tIns="0" rIns="0" bIns="0" rtlCol="0" anchor="t"/>
          <a:lstStyle/>
          <a:p>
            <a:pPr algn="l" indent="0" marL="0">
              <a:lnSpc>
                <a:spcPct val="120000"/>
              </a:lnSpc>
              <a:buNone/>
            </a:pPr>
            <a:r>
              <a:rPr lang="en-US" sz="1350" dirty="0">
                <a:solidFill>
                  <a:schemeClr val="tx1"/>
                </a:solidFill>
              </a:rPr>
              <a:t>ปิดไฟล์ CSV ใน Excel ให้หมดก่อนรันสคริปต์</a:t>
            </a:r>
            <a:endParaRPr lang="en-US" sz="1350" dirty="0"/>
          </a:p>
        </p:txBody>
      </p:sp>
      <p:sp>
        <p:nvSpPr>
          <p:cNvPr id="17" name="check-7"/>
          <p:cNvSpPr/>
          <p:nvPr/>
        </p:nvSpPr>
        <p:spPr>
          <a:xfrm>
            <a:off x="6400800" y="4480560"/>
            <a:ext cx="310896" cy="310896"/>
          </a:xfrm>
          <a:prstGeom prst="roundRect">
            <a:avLst>
              <a:gd name="adj" fmla="val 17647"/>
            </a:avLst>
          </a:prstGeom>
          <a:solidFill>
            <a:srgbClr val="FFFFFF"/>
          </a:solidFill>
          <a:ln w="19050">
            <a:solidFill>
              <a:srgbClr val="2F7A4F"/>
            </a:solidFill>
            <a:prstDash val="solid"/>
          </a:ln>
        </p:spPr>
      </p:sp>
      <p:sp>
        <p:nvSpPr>
          <p:cNvPr id="18" name="Text 16"/>
          <p:cNvSpPr txBox="1"/>
          <p:nvPr/>
        </p:nvSpPr>
        <p:spPr>
          <a:xfrm>
            <a:off x="6903720" y="4443984"/>
            <a:ext cx="4709160" cy="685800"/>
          </a:xfrm>
          <a:prstGeom prst="rect">
            <a:avLst/>
          </a:prstGeom>
          <a:noFill/>
          <a:ln/>
        </p:spPr>
        <p:txBody>
          <a:bodyPr wrap="square" lIns="0" tIns="0" rIns="0" bIns="0" rtlCol="0" anchor="t"/>
          <a:lstStyle/>
          <a:p>
            <a:pPr algn="l" indent="0" marL="0">
              <a:lnSpc>
                <a:spcPct val="120000"/>
              </a:lnSpc>
              <a:buNone/>
            </a:pPr>
            <a:r>
              <a:rPr lang="en-US" sz="1350" dirty="0">
                <a:solidFill>
                  <a:schemeClr val="tx1"/>
                </a:solidFill>
              </a:rPr>
              <a:t>ลองโหมด Manual ให้เดินหน้าถอยหลังได้ก่อน ค่อยสลับไป Auto</a:t>
            </a:r>
            <a:endParaRPr lang="en-US" sz="1350" dirty="0"/>
          </a:p>
        </p:txBody>
      </p:sp>
      <p:sp>
        <p:nvSpPr>
          <p:cNvPr id="19" name="callout"/>
          <p:cNvSpPr/>
          <p:nvPr/>
        </p:nvSpPr>
        <p:spPr>
          <a:xfrm>
            <a:off x="548640" y="5349240"/>
            <a:ext cx="11064240" cy="777240"/>
          </a:xfrm>
          <a:prstGeom prst="roundRect">
            <a:avLst>
              <a:gd name="adj" fmla="val 9412"/>
            </a:avLst>
          </a:prstGeom>
          <a:solidFill>
            <a:srgbClr val="E8F1F5"/>
          </a:solidFill>
          <a:ln w="12700">
            <a:solidFill>
              <a:srgbClr val="CBE0E9"/>
            </a:solidFill>
            <a:prstDash val="solid"/>
          </a:ln>
        </p:spPr>
      </p:sp>
      <p:sp>
        <p:nvSpPr>
          <p:cNvPr id="20" name="Text 18"/>
          <p:cNvSpPr txBox="1"/>
          <p:nvPr/>
        </p:nvSpPr>
        <p:spPr>
          <a:xfrm>
            <a:off x="777240" y="5477256"/>
            <a:ext cx="10607040" cy="274320"/>
          </a:xfrm>
          <a:prstGeom prst="rect">
            <a:avLst/>
          </a:prstGeom>
          <a:noFill/>
          <a:ln/>
        </p:spPr>
        <p:txBody>
          <a:bodyPr wrap="square" lIns="0" tIns="0" rIns="0" bIns="0" rtlCol="0" anchor="t"/>
          <a:lstStyle/>
          <a:p>
            <a:pPr algn="l" indent="0" marL="0">
              <a:buNone/>
            </a:pPr>
            <a:r>
              <a:rPr lang="en-US" sz="1400" b="1" dirty="0">
                <a:solidFill>
                  <a:srgbClr val="1C7293"/>
                </a:solidFill>
              </a:rPr>
              <a:t>ไล่จากบนลงล่างทุกครั้ง</a:t>
            </a:r>
            <a:endParaRPr lang="en-US" sz="1400" dirty="0"/>
          </a:p>
        </p:txBody>
      </p:sp>
      <p:sp>
        <p:nvSpPr>
          <p:cNvPr id="21" name="Text 19"/>
          <p:cNvSpPr txBox="1"/>
          <p:nvPr/>
        </p:nvSpPr>
        <p:spPr>
          <a:xfrm>
            <a:off x="777240" y="5788152"/>
            <a:ext cx="10607040" cy="210312"/>
          </a:xfrm>
          <a:prstGeom prst="rect">
            <a:avLst/>
          </a:prstGeom>
          <a:noFill/>
          <a:ln/>
        </p:spPr>
        <p:txBody>
          <a:bodyPr wrap="square" lIns="0" tIns="0" rIns="0" bIns="0" rtlCol="0" anchor="t"/>
          <a:lstStyle/>
          <a:p>
            <a:pPr algn="l" indent="0" marL="0">
              <a:lnSpc>
                <a:spcPct val="120000"/>
              </a:lnSpc>
              <a:buNone/>
            </a:pPr>
            <a:r>
              <a:rPr lang="en-US" sz="1250" dirty="0">
                <a:solidFill>
                  <a:srgbClr val="4A5568"/>
                </a:solidFill>
              </a:rPr>
              <a:t>แปดข้อนี้ใช้เวลาไม่ถึงสองนาที แต่ตัดสาเหตุที่ทำให้เสียเวลาทั้งวันออกไปได้เกือบหมด</a:t>
            </a:r>
            <a:endParaRPr lang="en-US" sz="1250" dirty="0"/>
          </a:p>
        </p:txBody>
      </p:sp>
      <p:sp>
        <p:nvSpPr>
          <p:cNvPr id="25" name="Slide Number Placeholder 0"/>
          <p:cNvSpPr>
            <a:spLocks noGrp="1"/>
          </p:cNvSpPr>
          <p:nvPr>
            <p:ph type="sldNum" sz="quarter" idx="4294967295"/>
          </p:nvPr>
        </p:nvSpPr>
        <p:spPr>
          <a:xfrm>
            <a:off x="11338560" y="62636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E93"/>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11064240" cy="365760"/>
          </a:xfrm>
          <a:prstGeom prst="rect">
            <a:avLst/>
          </a:prstGeom>
          <a:noFill/>
          <a:ln/>
        </p:spPr>
        <p:txBody>
          <a:bodyPr wrap="square" rtlCol="0"/>
          <a:lstStyle/>
          <a:p>
            <a:pPr algn="l" indent="0" marL="0">
              <a:buNone/>
            </a:pPr>
            <a:r>
              <a:rPr lang="en-US" sz="1500" b="1" dirty="0">
                <a:solidFill>
                  <a:srgbClr val="E8803A"/>
                </a:solidFill>
              </a:rPr>
              <a:t>อ่านต่อได้ที่ไหน</a:t>
            </a:r>
            <a:endParaRPr lang="en-US" sz="1500" dirty="0"/>
          </a:p>
        </p:txBody>
      </p:sp>
      <p:sp>
        <p:nvSpPr>
          <p:cNvPr id="3" name="Text 0"/>
          <p:cNvSpPr/>
          <p:nvPr>
            <p:ph idx="101" type="title" hasCustomPrompt="1"/>
          </p:nvPr>
        </p:nvSpPr>
        <p:spPr>
          <a:xfrm>
            <a:off x="548640" y="2286000"/>
            <a:ext cx="11064240" cy="1371600"/>
          </a:xfrm>
          <a:prstGeom prst="rect">
            <a:avLst/>
          </a:prstGeom>
          <a:noFill/>
          <a:ln/>
        </p:spPr>
        <p:txBody>
          <a:bodyPr wrap="square" rtlCol="0"/>
          <a:lstStyle/>
          <a:p>
            <a:pPr algn="l" indent="0" marL="0">
              <a:buNone/>
            </a:pPr>
            <a:r>
              <a:rPr lang="en-US" sz="5400" b="1" dirty="0">
                <a:solidFill>
                  <a:schemeClr val="bg1"/>
                </a:solidFill>
              </a:rPr>
              <a:t>เริ่มลงมือได้เลย</a:t>
            </a:r>
            <a:endParaRPr lang="en-US" sz="5400" dirty="0"/>
          </a:p>
        </p:txBody>
      </p:sp>
      <p:sp>
        <p:nvSpPr>
          <p:cNvPr id="4" name="Text 0"/>
          <p:cNvSpPr/>
          <p:nvPr>
            <p:ph idx="102" type="body" hasCustomPrompt="1"/>
          </p:nvPr>
        </p:nvSpPr>
        <p:spPr>
          <a:xfrm>
            <a:off x="548640" y="3749040"/>
            <a:ext cx="9509760" cy="1371600"/>
          </a:xfrm>
          <a:prstGeom prst="rect">
            <a:avLst/>
          </a:prstGeom>
          <a:noFill/>
          <a:ln/>
        </p:spPr>
        <p:txBody>
          <a:bodyPr wrap="square" rtlCol="0"/>
          <a:lstStyle/>
          <a:p>
            <a:pPr algn="l" indent="0" marL="0">
              <a:buNone/>
            </a:pPr>
            <a:r>
              <a:rPr lang="en-US" sz="1800" dirty="0">
                <a:solidFill>
                  <a:srgbClr val="B9C6D4"/>
                </a:solidFill>
              </a:rPr>
              <a:t>ทุกอย่างในสไลด์ชุดนี้มีรายละเอียดเต็มอยู่ในไฟล์ README.md ของโปรเจกต์ พร้อมเหตุผลว่าทำไมถึงตั้งค่าแต่ละตัวไว้แบบนั้น</a:t>
            </a:r>
            <a:endParaRPr lang="en-US" sz="1800" dirty="0"/>
          </a:p>
        </p:txBody>
      </p:sp>
      <p:sp>
        <p:nvSpPr>
          <p:cNvPr id="5" name="Text 3"/>
          <p:cNvSpPr txBox="1"/>
          <p:nvPr/>
        </p:nvSpPr>
        <p:spPr>
          <a:xfrm>
            <a:off x="548640" y="5074920"/>
            <a:ext cx="3444240" cy="320040"/>
          </a:xfrm>
          <a:prstGeom prst="rect">
            <a:avLst/>
          </a:prstGeom>
          <a:noFill/>
          <a:ln/>
        </p:spPr>
        <p:txBody>
          <a:bodyPr wrap="square" lIns="0" tIns="0" rIns="0" bIns="0" rtlCol="0" anchor="t"/>
          <a:lstStyle/>
          <a:p>
            <a:pPr algn="l" indent="0" marL="0">
              <a:buNone/>
            </a:pPr>
            <a:r>
              <a:rPr lang="en-US" sz="1500" b="1" dirty="0">
                <a:solidFill>
                  <a:srgbClr val="E8803A"/>
                </a:solidFill>
                <a:latin typeface="Courier New" pitchFamily="34" charset="0"/>
                <a:ea typeface="Courier New" pitchFamily="34" charset="-122"/>
                <a:cs typeface="Courier New" pitchFamily="34" charset="-120"/>
              </a:rPr>
              <a:t>README.md</a:t>
            </a:r>
            <a:endParaRPr lang="en-US" sz="1500" dirty="0"/>
          </a:p>
        </p:txBody>
      </p:sp>
      <p:sp>
        <p:nvSpPr>
          <p:cNvPr id="6" name="Text 4"/>
          <p:cNvSpPr txBox="1"/>
          <p:nvPr/>
        </p:nvSpPr>
        <p:spPr>
          <a:xfrm>
            <a:off x="548640" y="5440680"/>
            <a:ext cx="3444240" cy="731520"/>
          </a:xfrm>
          <a:prstGeom prst="rect">
            <a:avLst/>
          </a:prstGeom>
          <a:noFill/>
          <a:ln/>
        </p:spPr>
        <p:txBody>
          <a:bodyPr wrap="square" lIns="0" tIns="0" rIns="0" bIns="0" rtlCol="0" anchor="t"/>
          <a:lstStyle/>
          <a:p>
            <a:pPr algn="l" indent="0" marL="0">
              <a:lnSpc>
                <a:spcPct val="120000"/>
              </a:lnSpc>
              <a:buNone/>
            </a:pPr>
            <a:r>
              <a:rPr lang="en-US" sz="1200" dirty="0">
                <a:solidFill>
                  <a:srgbClr val="B9C6D4"/>
                </a:solidFill>
              </a:rPr>
              <a:t>คู่มือฉบับเต็ม ทุกค่าคงที่และเหตุผลเบื้องหลัง</a:t>
            </a:r>
            <a:endParaRPr lang="en-US" sz="1200" dirty="0"/>
          </a:p>
        </p:txBody>
      </p:sp>
      <p:sp>
        <p:nvSpPr>
          <p:cNvPr id="7" name="Text 5"/>
          <p:cNvSpPr txBox="1"/>
          <p:nvPr/>
        </p:nvSpPr>
        <p:spPr>
          <a:xfrm>
            <a:off x="4358640" y="5074920"/>
            <a:ext cx="3444240" cy="320040"/>
          </a:xfrm>
          <a:prstGeom prst="rect">
            <a:avLst/>
          </a:prstGeom>
          <a:noFill/>
          <a:ln/>
        </p:spPr>
        <p:txBody>
          <a:bodyPr wrap="square" lIns="0" tIns="0" rIns="0" bIns="0" rtlCol="0" anchor="t"/>
          <a:lstStyle/>
          <a:p>
            <a:pPr algn="l" indent="0" marL="0">
              <a:buNone/>
            </a:pPr>
            <a:r>
              <a:rPr lang="en-US" sz="1500" b="1" dirty="0">
                <a:solidFill>
                  <a:srgbClr val="E8803A"/>
                </a:solidFill>
                <a:latin typeface="Courier New" pitchFamily="34" charset="0"/>
                <a:ea typeface="Courier New" pitchFamily="34" charset="-122"/>
                <a:cs typeface="Courier New" pitchFamily="34" charset="-120"/>
              </a:rPr>
              <a:t>tests/</a:t>
            </a:r>
            <a:endParaRPr lang="en-US" sz="1500" dirty="0"/>
          </a:p>
        </p:txBody>
      </p:sp>
      <p:sp>
        <p:nvSpPr>
          <p:cNvPr id="8" name="Text 6"/>
          <p:cNvSpPr txBox="1"/>
          <p:nvPr/>
        </p:nvSpPr>
        <p:spPr>
          <a:xfrm>
            <a:off x="4358640" y="5440680"/>
            <a:ext cx="3444240" cy="731520"/>
          </a:xfrm>
          <a:prstGeom prst="rect">
            <a:avLst/>
          </a:prstGeom>
          <a:noFill/>
          <a:ln/>
        </p:spPr>
        <p:txBody>
          <a:bodyPr wrap="square" lIns="0" tIns="0" rIns="0" bIns="0" rtlCol="0" anchor="t"/>
          <a:lstStyle/>
          <a:p>
            <a:pPr algn="l" indent="0" marL="0">
              <a:lnSpc>
                <a:spcPct val="120000"/>
              </a:lnSpc>
              <a:buNone/>
            </a:pPr>
            <a:r>
              <a:rPr lang="en-US" sz="1200" dirty="0">
                <a:solidFill>
                  <a:srgbClr val="B9C6D4"/>
                </a:solidFill>
              </a:rPr>
              <a:t>สเก็ตช์ทดสอบจอและบัส I2C ไว้แยกว่าปัญหาอยู่ที่สายหรือที่โค้ด</a:t>
            </a:r>
            <a:endParaRPr lang="en-US" sz="1200" dirty="0"/>
          </a:p>
        </p:txBody>
      </p:sp>
      <p:sp>
        <p:nvSpPr>
          <p:cNvPr id="9" name="Text 7"/>
          <p:cNvSpPr txBox="1"/>
          <p:nvPr/>
        </p:nvSpPr>
        <p:spPr>
          <a:xfrm>
            <a:off x="8168640" y="5074920"/>
            <a:ext cx="3444240" cy="320040"/>
          </a:xfrm>
          <a:prstGeom prst="rect">
            <a:avLst/>
          </a:prstGeom>
          <a:noFill/>
          <a:ln/>
        </p:spPr>
        <p:txBody>
          <a:bodyPr wrap="square" lIns="0" tIns="0" rIns="0" bIns="0" rtlCol="0" anchor="t"/>
          <a:lstStyle/>
          <a:p>
            <a:pPr algn="l" indent="0" marL="0">
              <a:buNone/>
            </a:pPr>
            <a:r>
              <a:rPr lang="en-US" sz="1500" b="1" dirty="0">
                <a:solidFill>
                  <a:srgbClr val="E8803A"/>
                </a:solidFill>
                <a:latin typeface="Courier New" pitchFamily="34" charset="0"/>
                <a:ea typeface="Courier New" pitchFamily="34" charset="-122"/>
                <a:cs typeface="Courier New" pitchFamily="34" charset="-120"/>
              </a:rPr>
              <a:t>assets/oled/</a:t>
            </a:r>
            <a:endParaRPr lang="en-US" sz="1500" dirty="0"/>
          </a:p>
        </p:txBody>
      </p:sp>
      <p:sp>
        <p:nvSpPr>
          <p:cNvPr id="10" name="Text 8"/>
          <p:cNvSpPr txBox="1"/>
          <p:nvPr/>
        </p:nvSpPr>
        <p:spPr>
          <a:xfrm>
            <a:off x="8168640" y="5440680"/>
            <a:ext cx="3444240" cy="731520"/>
          </a:xfrm>
          <a:prstGeom prst="rect">
            <a:avLst/>
          </a:prstGeom>
          <a:noFill/>
          <a:ln/>
        </p:spPr>
        <p:txBody>
          <a:bodyPr wrap="square" lIns="0" tIns="0" rIns="0" bIns="0" rtlCol="0" anchor="t"/>
          <a:lstStyle/>
          <a:p>
            <a:pPr algn="l" indent="0" marL="0">
              <a:lnSpc>
                <a:spcPct val="120000"/>
              </a:lnSpc>
              <a:buNone/>
            </a:pPr>
            <a:r>
              <a:rPr lang="en-US" sz="1200" dirty="0">
                <a:solidFill>
                  <a:srgbClr val="B9C6D4"/>
                </a:solidFill>
              </a:rPr>
              <a:t>ไฟล์ภาพต้นฉบับของทุกหน้าจอ แก้แล้วแปลงใหม่ได้</a:t>
            </a:r>
            <a:endParaRPr lang="en-US" sz="1200" dirty="0"/>
          </a:p>
        </p:txBody>
      </p:sp>
    </p:spTree>
  </p:cSld>
  <p:clrMapOvr>
    <a:masterClrMapping/>
  </p:clrMapOvr>
</p:sld>
</file>

<file path=ppt/theme/theme1.xml><?xml version="1.0" encoding="utf-8"?>
<a:theme xmlns:a="http://schemas.openxmlformats.org/drawingml/2006/main" name="Tiny Robot">
  <a:themeElements>
    <a:clrScheme name="Tiny Robot">
      <a:dk1>
        <a:srgbClr val="16202E"/>
      </a:dk1>
      <a:lt1>
        <a:srgbClr val="FFFFFF"/>
      </a:lt1>
      <a:dk2>
        <a:srgbClr val="27405C"/>
      </a:dk2>
      <a:lt2>
        <a:srgbClr val="EEF2F6"/>
      </a:lt2>
      <a:accent1>
        <a:srgbClr val="E8803A"/>
      </a:accent1>
      <a:accent2>
        <a:srgbClr val="1C7293"/>
      </a:accent2>
      <a:accent3>
        <a:srgbClr val="065A82"/>
      </a:accent3>
      <a:accent4>
        <a:srgbClr val="2F7A4F"/>
      </a:accent4>
      <a:accent5>
        <a:srgbClr val="B3261E"/>
      </a:accent5>
      <a:accent6>
        <a:srgbClr val="6B7E93"/>
      </a:accent6>
      <a:hlink>
        <a:srgbClr val="1C7293"/>
      </a:hlink>
      <a:folHlink>
        <a:srgbClr val="6B7E93"/>
      </a:folHlink>
    </a:clrScheme>
    <a:fontScheme name="Tiny Robot">
      <a:majorFont>
        <a:latin typeface="Tahoma"/>
        <a:ea typeface=""/>
        <a:cs typeface="Tahoma"/>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ahoma"/>
        <a:ea typeface=""/>
        <a:cs typeface="Tahoma"/>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Tiny Robot - คู่มือติดตั้งและเริ่มใช้งาน</dc:title>
  <dc:subject>คู่มือติดตั้งและใช้งานหุ่นเดินตามเส้น</dc:subject>
  <dc:creator>Tiny Robot</dc:creator>
  <cp:lastModifiedBy>Tiny Robot</cp:lastModifiedBy>
  <cp:revision>1</cp:revision>
  <dcterms:created xsi:type="dcterms:W3CDTF">2026-10-07T10:43:15Z</dcterms:created>
  <dcterms:modified xsi:type="dcterms:W3CDTF">2026-10-07T10:43:15Z</dcterms:modified>
</cp:coreProperties>
</file>