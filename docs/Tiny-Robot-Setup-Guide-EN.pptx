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79"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EDA83EB-25C4-3CEA-75CC-C3367BA3FC69}">
          <p14:sldIdLst>
            <p14:sldId id="256"/>
            <p14:sldId id="257"/>
            <p14:sldId id="258"/>
            <p14:sldId id="259"/>
          </p14:sldIdLst>
        </p14:section>
        <p14:section name="Install" id="{7EFF51AE-1F83-3C84-3D85-CCE217AEF9BD}">
          <p14:sldIdLst>
            <p14:sldId id="260"/>
            <p14:sldId id="261"/>
            <p14:sldId id="262"/>
            <p14:sldId id="263"/>
            <p14:sldId id="264"/>
            <p14:sldId id="279"/>
            <p14:sldId id="265"/>
            <p14:sldId id="266"/>
            <p14:sldId id="267"/>
          </p14:sldIdLst>
        </p14:section>
        <p14:section name="Running it" id="{83FF9492-71D7-376C-1AC7-0212E57D779E}">
          <p14:sldIdLst>
            <p14:sldId id="268"/>
            <p14:sldId id="269"/>
            <p14:sldId id="270"/>
            <p14:sldId id="271"/>
            <p14:sldId id="272"/>
          </p14:sldIdLst>
        </p14:section>
        <p14:section name="Tuning and faults" id="{FCB4B751-7777-3372-4077-F64731AA0196}">
          <p14:sldIdLst>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43"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6326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handing the robot over. It runs from installing the toolchain, through wiring and flashing, to a first drive, and finishes with the faults we actually hit and what each turned out to be.
Keep the robot on the bench while presenting, so each part can be pointed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the system is built in layers and does not need all of itself to work.
The STM32 alone follows the line. The ESP32 adds the remote and the screen. The camera and the PC add QR stopping. Lose any one of them and the rest carries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folder under each card is the one to open for that board. Learn those four pairings: uploading the wrong sketch to the wrong board costs an afternoon of confusion.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My_Robot2, the network the ESP32 remote creates. No home router is involved.
The remote is always the gateway, so it is always 192.168.4.1. The camera gets whatever address is free from .2 upward, which is why the Python script hunts for it on every start.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Board Manager URL is in README.md under Getting started. Copy it from there rather than typing it.
If the python command is not recognised on Windows, use py instead. That is normal, not a broken install.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 names for Serial2 and Serial3 come from the variant, not from the chip, so a different core or board part number can move them. Verify before wiring, every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loose-wire version of this cost us a full day of looking in the wrong place. Tell whoever takes over to solder those four from the start.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two are exactly what made the old route fail: a BOOT0 left in the wrong position, and a Serial Monitor holding the port.
The dongle can stay plugged in permanently, since nothing in this firmware uses PA13 or PA14.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is the one people miss. Open Tools and if there is no Upload method entry anywhere, a board from a different core is selected.
USB support is the cruellest. Set to CDC it moves Serial onto the board USB socket, and the PA9 log goes quiet with nothing printed to explain it, while the code runs perfectly.
BluePill F103C8 is the 64 KB entry and the firmware uses about 25 KB. If it ever outgrows that, BluePill F103CB unlocks the 128 KB the chip really holds.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does not matter. Changing Tools &gt; Board to match the board in front of you does, every single time.
Forgetting that is the most common mistake here: the sketch gets compiled for the wrong board, and sometimes it even uploads and only goes wrong at run time.
A change to the camera code needs only esp32_camera_server reflashed, not all three.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IDE Upload button does behind the scenes; here we just call the steps ourselves.
For buttons instead of typing, open the STM32CubeProgrammer window, choose ST-LINK top right, press Connect, then Erasing and Programming with Verify and Run after programming ticked.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where newcomers get stuck. The robot sits there and they assume it is broken, when the slider simply has not been raised from zero.
It starts at zero on purpose, so nothing lurches the moment the page loads.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 except Status is a full 128x64 bitmap with its lettering drawn into the artwork, so the firmware only blits an image.
To change one, edit the PNG in assets/oled and run py tools/png_to_bitmaps.py.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page will not open at all, check the phone is really on My_Robot2 rather than assuming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sensors get a column each because a single 00100 field is read as a number by Excel, which drops the leading zeros and leaves 100.
Kp and Kd are constants and logged anyway, so last week file says what tuning produced it instead of relying on anyone memory.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at a time and drive it after each. Change two and you cannot tell which helped.
Kp and Kd are written into every CSV row, so an old file tells you the tuning it was recorded with.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sweep is deliberately slower than ordinary steering. Spin fast and the line crosses under the sensor row quicker than the row can register it, so the robot overshoots a line it has already passed.
The direction of the first leg is chosen once when the search begins and never recomputed, or it would keep sweeping the same way and walk further from the line each time.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people will come back to. Tell them to photograph it.
Every row happened to us. None of them are hypothetical, and most were not what anyone suspected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printing and taping up beside the test course.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opening README.md on screen once, so they know where to go when something breaks.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11064240" cy="365760"/>
          </a:xfrm>
          <a:prstGeom prst="rect">
            <a:avLst/>
          </a:prstGeom>
          <a:noFill/>
          <a:ln/>
        </p:spPr>
        <p:txBody>
          <a:bodyPr wrap="square" rtlCol="0"/>
          <a:lstStyle>
            <a:lvl1pPr marL="0" indent="0" algn="l">
              <a:buNone/>
              <a:defRPr lang="en-US" sz="1500" b="1" dirty="0">
                <a:solidFill>
                  <a:srgbClr val="E8803A"/>
                </a:solidFill>
              </a:defRPr>
            </a:lvl1pPr>
          </a:lstStyle>
          <a:p>
            <a:pPr marL="0" indent="0" algn="l">
              <a:buNone/>
            </a:pPr>
            <a:endParaRPr lang="en-US" sz="1500" dirty="0"/>
          </a:p>
        </p:txBody>
      </p:sp>
      <p:sp>
        <p:nvSpPr>
          <p:cNvPr id="3" name="Text 0"/>
          <p:cNvSpPr>
            <a:spLocks noGrp="1"/>
          </p:cNvSpPr>
          <p:nvPr>
            <p:ph type="title" idx="101" hasCustomPrompt="1"/>
          </p:nvPr>
        </p:nvSpPr>
        <p:spPr>
          <a:xfrm>
            <a:off x="548640" y="2286000"/>
            <a:ext cx="11064240" cy="13716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0"/>
          <p:cNvSpPr>
            <a:spLocks noGrp="1"/>
          </p:cNvSpPr>
          <p:nvPr>
            <p:ph type="body" idx="102" hasCustomPrompt="1"/>
          </p:nvPr>
        </p:nvSpPr>
        <p:spPr>
          <a:xfrm>
            <a:off x="548640" y="3749040"/>
            <a:ext cx="9509760" cy="1371600"/>
          </a:xfrm>
          <a:prstGeom prst="rect">
            <a:avLst/>
          </a:prstGeom>
          <a:noFill/>
          <a:ln/>
        </p:spPr>
        <p:txBody>
          <a:bodyPr wrap="square" rtlCol="0"/>
          <a:lstStyle>
            <a:lvl1pPr marL="0" indent="0" algn="l">
              <a:buNone/>
              <a:defRPr lang="en-US" sz="1800" dirty="0">
                <a:solidFill>
                  <a:srgbClr val="B9C6D4"/>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377440"/>
            <a:ext cx="11064240" cy="457200"/>
          </a:xfrm>
          <a:prstGeom prst="rect">
            <a:avLst/>
          </a:prstGeom>
          <a:noFill/>
          <a:ln/>
        </p:spPr>
        <p:txBody>
          <a:bodyPr wrap="square" rtlCol="0"/>
          <a:lstStyle>
            <a:lvl1pPr marL="0" indent="0" algn="l">
              <a:buNone/>
              <a:defRPr lang="en-US" sz="6000" b="1" dirty="0">
                <a:solidFill>
                  <a:srgbClr val="E8803A"/>
                </a:solidFill>
              </a:defRPr>
            </a:lvl1pPr>
          </a:lstStyle>
          <a:p>
            <a:pPr marL="0" indent="0" algn="l">
              <a:buNone/>
            </a:pPr>
            <a:endParaRPr lang="en-US" sz="6000" dirty="0"/>
          </a:p>
        </p:txBody>
      </p:sp>
      <p:sp>
        <p:nvSpPr>
          <p:cNvPr id="3" name="Text 0"/>
          <p:cNvSpPr>
            <a:spLocks noGrp="1"/>
          </p:cNvSpPr>
          <p:nvPr>
            <p:ph type="title" idx="101" hasCustomPrompt="1"/>
          </p:nvPr>
        </p:nvSpPr>
        <p:spPr>
          <a:xfrm>
            <a:off x="548640" y="3200400"/>
            <a:ext cx="1106424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548640" y="4206240"/>
            <a:ext cx="8686800" cy="914400"/>
          </a:xfrm>
          <a:prstGeom prst="rect">
            <a:avLst/>
          </a:prstGeom>
          <a:noFill/>
          <a:ln/>
        </p:spPr>
        <p:txBody>
          <a:bodyPr wrap="square" rtlCol="0"/>
          <a:lstStyle>
            <a:lvl1pPr marL="0" indent="0" algn="l">
              <a:buNone/>
              <a:defRPr lang="en-US" sz="1600" dirty="0">
                <a:solidFill>
                  <a:srgbClr val="B9C6D4"/>
                </a:solidFill>
              </a:defRPr>
            </a:lvl1pPr>
          </a:lstStyle>
          <a:p>
            <a:pPr marL="0" indent="0" algn="l">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txBox="1"/>
          <p:nvPr/>
        </p:nvSpPr>
        <p:spPr>
          <a:xfrm>
            <a:off x="548640" y="6263640"/>
            <a:ext cx="7315200" cy="274320"/>
          </a:xfrm>
          <a:prstGeom prst="rect">
            <a:avLst/>
          </a:prstGeom>
          <a:noFill/>
          <a:ln/>
        </p:spPr>
        <p:txBody>
          <a:bodyPr wrap="square" lIns="0" tIns="0" rIns="0" bIns="0" rtlCol="0" anchor="ctr"/>
          <a:lstStyle/>
          <a:p>
            <a:pPr marL="0" indent="0" algn="l">
              <a:buNone/>
            </a:pPr>
            <a:r>
              <a:rPr lang="en-US" sz="1000" dirty="0">
                <a:solidFill>
                  <a:srgbClr val="6B7E93"/>
                </a:solidFill>
              </a:rPr>
              <a:t>Tiny Robot · Setup and first run</a:t>
            </a:r>
            <a:endParaRPr lang="en-US" sz="100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11064240" cy="365760"/>
          </a:xfrm>
          <a:prstGeom prst="rect">
            <a:avLst/>
          </a:prstGeom>
          <a:noFill/>
          <a:ln/>
        </p:spPr>
        <p:txBody>
          <a:bodyPr wrap="square" rtlCol="0"/>
          <a:lstStyle/>
          <a:p>
            <a:pPr marL="0" indent="0" algn="l">
              <a:buNone/>
            </a:pPr>
            <a:r>
              <a:rPr lang="en-US" sz="1500" b="1" dirty="0">
                <a:solidFill>
                  <a:srgbClr val="E8803A"/>
                </a:solidFill>
              </a:rPr>
              <a:t>A guide for whoever picks this up next</a:t>
            </a:r>
            <a:endParaRPr lang="en-US" sz="1500" dirty="0"/>
          </a:p>
        </p:txBody>
      </p:sp>
      <p:sp>
        <p:nvSpPr>
          <p:cNvPr id="3" name="Text 0"/>
          <p:cNvSpPr>
            <a:spLocks noGrp="1"/>
          </p:cNvSpPr>
          <p:nvPr>
            <p:ph type="title" idx="101" hasCustomPrompt="1"/>
          </p:nvPr>
        </p:nvSpPr>
        <p:spPr>
          <a:xfrm>
            <a:off x="548640" y="2286000"/>
            <a:ext cx="11064240" cy="1371600"/>
          </a:xfrm>
          <a:prstGeom prst="rect">
            <a:avLst/>
          </a:prstGeom>
          <a:noFill/>
          <a:ln/>
        </p:spPr>
        <p:txBody>
          <a:bodyPr wrap="square" rtlCol="0"/>
          <a:lstStyle/>
          <a:p>
            <a:pPr marL="0" indent="0" algn="l">
              <a:buNone/>
            </a:pPr>
            <a:r>
              <a:rPr lang="en-US" sz="5400" b="1" dirty="0">
                <a:solidFill>
                  <a:schemeClr val="bg1"/>
                </a:solidFill>
              </a:rPr>
              <a:t>Tiny Robot</a:t>
            </a:r>
            <a:endParaRPr lang="en-US" sz="5400" dirty="0"/>
          </a:p>
        </p:txBody>
      </p:sp>
      <p:sp>
        <p:nvSpPr>
          <p:cNvPr id="4" name="Text 0"/>
          <p:cNvSpPr>
            <a:spLocks noGrp="1"/>
          </p:cNvSpPr>
          <p:nvPr>
            <p:ph type="body" idx="102" hasCustomPrompt="1"/>
          </p:nvPr>
        </p:nvSpPr>
        <p:spPr>
          <a:xfrm>
            <a:off x="548640" y="3749040"/>
            <a:ext cx="9509760" cy="1371600"/>
          </a:xfrm>
          <a:prstGeom prst="rect">
            <a:avLst/>
          </a:prstGeom>
          <a:noFill/>
          <a:ln/>
        </p:spPr>
        <p:txBody>
          <a:bodyPr wrap="square" rtlCol="0"/>
          <a:lstStyle/>
          <a:p>
            <a:pPr marL="0" indent="0" algn="l">
              <a:buNone/>
            </a:pPr>
            <a:r>
              <a:rPr lang="en-US" sz="1800" dirty="0">
                <a:solidFill>
                  <a:srgbClr val="B9C6D4"/>
                </a:solidFill>
              </a:rPr>
              <a:t>A two-wheel robot that follows a black line, stops at a QR code and takes orders from a phone.   Everything from an empty laptop to a run on the course.</a:t>
            </a:r>
            <a:endParaRPr lang="en-US" sz="1800" dirty="0"/>
          </a:p>
        </p:txBody>
      </p:sp>
      <p:sp>
        <p:nvSpPr>
          <p:cNvPr id="5" name="Text 3"/>
          <p:cNvSpPr txBox="1"/>
          <p:nvPr/>
        </p:nvSpPr>
        <p:spPr>
          <a:xfrm>
            <a:off x="548640" y="5760720"/>
            <a:ext cx="11064240" cy="365760"/>
          </a:xfrm>
          <a:prstGeom prst="rect">
            <a:avLst/>
          </a:prstGeom>
          <a:noFill/>
          <a:ln/>
        </p:spPr>
        <p:txBody>
          <a:bodyPr wrap="square" lIns="0" tIns="0" rIns="0" bIns="0" rtlCol="0" anchor="ctr"/>
          <a:lstStyle/>
          <a:p>
            <a:pPr marL="0" indent="0" algn="l">
              <a:buNone/>
            </a:pPr>
            <a:r>
              <a:rPr lang="en-US" sz="1300" dirty="0">
                <a:solidFill>
                  <a:srgbClr val="6B7E93"/>
                </a:solidFill>
              </a:rPr>
              <a:t>STM32 Blue Pill  ·  ESP32  ·  ESP32-CAM  ·  Python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What the robot can do</a:t>
            </a:r>
            <a:endParaRPr lang="en-US" sz="3200" dirty="0"/>
          </a:p>
        </p:txBody>
      </p:sp>
      <p:sp>
        <p:nvSpPr>
          <p:cNvPr id="3" name="card-Follows a line"/>
          <p:cNvSpPr/>
          <p:nvPr/>
        </p:nvSpPr>
        <p:spPr>
          <a:xfrm>
            <a:off x="548640" y="1600200"/>
            <a:ext cx="3444240" cy="1481328"/>
          </a:xfrm>
          <a:prstGeom prst="roundRect">
            <a:avLst>
              <a:gd name="adj" fmla="val 6173"/>
            </a:avLst>
          </a:prstGeom>
          <a:solidFill>
            <a:schemeClr val="bg2"/>
          </a:solidFill>
          <a:ln w="12700">
            <a:solidFill>
              <a:srgbClr val="D9E0E8"/>
            </a:solidFill>
            <a:prstDash val="solid"/>
          </a:ln>
        </p:spPr>
        <p:txBody>
          <a:bodyPr/>
          <a:lstStyle/>
          <a:p>
            <a:endParaRPr lang="en-US"/>
          </a:p>
        </p:txBody>
      </p:sp>
      <p:sp>
        <p:nvSpPr>
          <p:cNvPr id="4" name="Text 2"/>
          <p:cNvSpPr txBox="1"/>
          <p:nvPr/>
        </p:nvSpPr>
        <p:spPr>
          <a:xfrm>
            <a:off x="804672" y="178308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Follows a line</a:t>
            </a:r>
            <a:endParaRPr lang="en-US" sz="1600" dirty="0"/>
          </a:p>
        </p:txBody>
      </p:sp>
      <p:sp>
        <p:nvSpPr>
          <p:cNvPr id="5" name="Text 3"/>
          <p:cNvSpPr txBox="1"/>
          <p:nvPr/>
        </p:nvSpPr>
        <p:spPr>
          <a:xfrm>
            <a:off x="804672" y="2258568"/>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Five sensors under a PD controller, bend-tolerant, and it brakes itself at the finish</a:t>
            </a:r>
            <a:endParaRPr lang="en-US" sz="1300" dirty="0"/>
          </a:p>
        </p:txBody>
      </p:sp>
      <p:sp>
        <p:nvSpPr>
          <p:cNvPr id="6" name="card-Takes orders"/>
          <p:cNvSpPr/>
          <p:nvPr/>
        </p:nvSpPr>
        <p:spPr>
          <a:xfrm>
            <a:off x="4358640" y="1600200"/>
            <a:ext cx="3444240" cy="1481328"/>
          </a:xfrm>
          <a:prstGeom prst="roundRect">
            <a:avLst>
              <a:gd name="adj" fmla="val 6173"/>
            </a:avLst>
          </a:prstGeom>
          <a:solidFill>
            <a:schemeClr val="bg2"/>
          </a:solidFill>
          <a:ln w="12700">
            <a:solidFill>
              <a:srgbClr val="D9E0E8"/>
            </a:solidFill>
            <a:prstDash val="solid"/>
          </a:ln>
        </p:spPr>
        <p:txBody>
          <a:bodyPr/>
          <a:lstStyle/>
          <a:p>
            <a:endParaRPr lang="en-US"/>
          </a:p>
        </p:txBody>
      </p:sp>
      <p:sp>
        <p:nvSpPr>
          <p:cNvPr id="7" name="Text 5"/>
          <p:cNvSpPr txBox="1"/>
          <p:nvPr/>
        </p:nvSpPr>
        <p:spPr>
          <a:xfrm>
            <a:off x="4614672" y="178308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Takes orders</a:t>
            </a:r>
            <a:endParaRPr lang="en-US" sz="1600" dirty="0"/>
          </a:p>
        </p:txBody>
      </p:sp>
      <p:sp>
        <p:nvSpPr>
          <p:cNvPr id="8" name="Text 6"/>
          <p:cNvSpPr txBox="1"/>
          <p:nvPr/>
        </p:nvSpPr>
        <p:spPr>
          <a:xfrm>
            <a:off x="4614672" y="2258568"/>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Forward, back, turn and stop from any phone browser, with a speed slider</a:t>
            </a:r>
            <a:endParaRPr lang="en-US" sz="1300" dirty="0"/>
          </a:p>
        </p:txBody>
      </p:sp>
      <p:sp>
        <p:nvSpPr>
          <p:cNvPr id="9" name="card-Sees"/>
          <p:cNvSpPr/>
          <p:nvPr/>
        </p:nvSpPr>
        <p:spPr>
          <a:xfrm>
            <a:off x="8168640" y="1600200"/>
            <a:ext cx="3444240" cy="1481328"/>
          </a:xfrm>
          <a:prstGeom prst="roundRect">
            <a:avLst>
              <a:gd name="adj" fmla="val 6173"/>
            </a:avLst>
          </a:prstGeom>
          <a:solidFill>
            <a:schemeClr val="bg2"/>
          </a:solidFill>
          <a:ln w="12700">
            <a:solidFill>
              <a:srgbClr val="D9E0E8"/>
            </a:solidFill>
            <a:prstDash val="solid"/>
          </a:ln>
        </p:spPr>
        <p:txBody>
          <a:bodyPr/>
          <a:lstStyle/>
          <a:p>
            <a:endParaRPr lang="en-US"/>
          </a:p>
        </p:txBody>
      </p:sp>
      <p:sp>
        <p:nvSpPr>
          <p:cNvPr id="10" name="Text 8"/>
          <p:cNvSpPr txBox="1"/>
          <p:nvPr/>
        </p:nvSpPr>
        <p:spPr>
          <a:xfrm>
            <a:off x="8424672" y="178308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Sees</a:t>
            </a:r>
            <a:endParaRPr lang="en-US" sz="1600" dirty="0"/>
          </a:p>
        </p:txBody>
      </p:sp>
      <p:sp>
        <p:nvSpPr>
          <p:cNvPr id="11" name="Text 9"/>
          <p:cNvSpPr txBox="1"/>
          <p:nvPr/>
        </p:nvSpPr>
        <p:spPr>
          <a:xfrm>
            <a:off x="8424672" y="2258568"/>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The ESP32-CAM streams into the web page and feeds the QR reader on the PC</a:t>
            </a:r>
            <a:endParaRPr lang="en-US" sz="1300" dirty="0"/>
          </a:p>
        </p:txBody>
      </p:sp>
      <p:sp>
        <p:nvSpPr>
          <p:cNvPr id="12" name="card-Reads five cod"/>
          <p:cNvSpPr/>
          <p:nvPr/>
        </p:nvSpPr>
        <p:spPr>
          <a:xfrm>
            <a:off x="548640" y="3374136"/>
            <a:ext cx="3444240" cy="1481328"/>
          </a:xfrm>
          <a:prstGeom prst="roundRect">
            <a:avLst>
              <a:gd name="adj" fmla="val 6173"/>
            </a:avLst>
          </a:prstGeom>
          <a:solidFill>
            <a:schemeClr val="bg2"/>
          </a:solidFill>
          <a:ln w="12700">
            <a:solidFill>
              <a:srgbClr val="D9E0E8"/>
            </a:solidFill>
            <a:prstDash val="solid"/>
          </a:ln>
        </p:spPr>
        <p:txBody>
          <a:bodyPr/>
          <a:lstStyle/>
          <a:p>
            <a:endParaRPr lang="en-US"/>
          </a:p>
        </p:txBody>
      </p:sp>
      <p:sp>
        <p:nvSpPr>
          <p:cNvPr id="13" name="Text 11"/>
          <p:cNvSpPr txBox="1"/>
          <p:nvPr/>
        </p:nvSpPr>
        <p:spPr>
          <a:xfrm>
            <a:off x="804672" y="3557016"/>
            <a:ext cx="2932176" cy="365760"/>
          </a:xfrm>
          <a:prstGeom prst="rect">
            <a:avLst/>
          </a:prstGeom>
          <a:noFill/>
          <a:ln/>
        </p:spPr>
        <p:txBody>
          <a:bodyPr wrap="square" lIns="0" tIns="0" rIns="0" bIns="0" rtlCol="0" anchor="t"/>
          <a:lstStyle/>
          <a:p>
            <a:pPr marL="0" indent="0" algn="l">
              <a:buNone/>
            </a:pPr>
            <a:r>
              <a:rPr lang="en-US" sz="1600" b="1" dirty="0">
                <a:solidFill>
                  <a:srgbClr val="1C7293"/>
                </a:solidFill>
              </a:rPr>
              <a:t>Reads five codes</a:t>
            </a:r>
            <a:endParaRPr lang="en-US" sz="1600" dirty="0"/>
          </a:p>
        </p:txBody>
      </p:sp>
      <p:sp>
        <p:nvSpPr>
          <p:cNvPr id="14" name="Text 12"/>
          <p:cNvSpPr txBox="1"/>
          <p:nvPr/>
        </p:nvSpPr>
        <p:spPr>
          <a:xfrm>
            <a:off x="804672" y="4032504"/>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DOG  CAT  BIRD  LION  TIGER, decoded on the PC and sent back</a:t>
            </a:r>
            <a:endParaRPr lang="en-US" sz="1300" dirty="0"/>
          </a:p>
        </p:txBody>
      </p:sp>
      <p:sp>
        <p:nvSpPr>
          <p:cNvPr id="15" name="card-Reacts"/>
          <p:cNvSpPr/>
          <p:nvPr/>
        </p:nvSpPr>
        <p:spPr>
          <a:xfrm>
            <a:off x="4358640" y="3374136"/>
            <a:ext cx="3444240" cy="1481328"/>
          </a:xfrm>
          <a:prstGeom prst="roundRect">
            <a:avLst>
              <a:gd name="adj" fmla="val 6173"/>
            </a:avLst>
          </a:prstGeom>
          <a:solidFill>
            <a:schemeClr val="bg2"/>
          </a:solidFill>
          <a:ln w="12700">
            <a:solidFill>
              <a:srgbClr val="D9E0E8"/>
            </a:solidFill>
            <a:prstDash val="solid"/>
          </a:ln>
        </p:spPr>
        <p:txBody>
          <a:bodyPr/>
          <a:lstStyle/>
          <a:p>
            <a:endParaRPr lang="en-US"/>
          </a:p>
        </p:txBody>
      </p:sp>
      <p:sp>
        <p:nvSpPr>
          <p:cNvPr id="16" name="Text 14"/>
          <p:cNvSpPr txBox="1"/>
          <p:nvPr/>
        </p:nvSpPr>
        <p:spPr>
          <a:xfrm>
            <a:off x="4614672" y="3557016"/>
            <a:ext cx="2932176" cy="365760"/>
          </a:xfrm>
          <a:prstGeom prst="rect">
            <a:avLst/>
          </a:prstGeom>
          <a:noFill/>
          <a:ln/>
        </p:spPr>
        <p:txBody>
          <a:bodyPr wrap="square" lIns="0" tIns="0" rIns="0" bIns="0" rtlCol="0" anchor="t"/>
          <a:lstStyle/>
          <a:p>
            <a:pPr marL="0" indent="0" algn="l">
              <a:buNone/>
            </a:pPr>
            <a:r>
              <a:rPr lang="en-US" sz="1600" b="1" dirty="0">
                <a:solidFill>
                  <a:srgbClr val="1C7293"/>
                </a:solidFill>
              </a:rPr>
              <a:t>Reacts</a:t>
            </a:r>
            <a:endParaRPr lang="en-US" sz="1600" dirty="0"/>
          </a:p>
        </p:txBody>
      </p:sp>
      <p:sp>
        <p:nvSpPr>
          <p:cNvPr id="17" name="Text 15"/>
          <p:cNvSpPr txBox="1"/>
          <p:nvPr/>
        </p:nvSpPr>
        <p:spPr>
          <a:xfrm>
            <a:off x="4614672" y="4032504"/>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 valid code stops it for five seconds and paints that animal on the OLED</a:t>
            </a:r>
            <a:endParaRPr lang="en-US" sz="1300" dirty="0"/>
          </a:p>
        </p:txBody>
      </p:sp>
      <p:sp>
        <p:nvSpPr>
          <p:cNvPr id="18" name="card-Logs itself"/>
          <p:cNvSpPr/>
          <p:nvPr/>
        </p:nvSpPr>
        <p:spPr>
          <a:xfrm>
            <a:off x="8168640" y="3374136"/>
            <a:ext cx="3444240" cy="1481328"/>
          </a:xfrm>
          <a:prstGeom prst="roundRect">
            <a:avLst>
              <a:gd name="adj" fmla="val 6173"/>
            </a:avLst>
          </a:prstGeom>
          <a:solidFill>
            <a:schemeClr val="tx1"/>
          </a:solidFill>
          <a:ln w="12700">
            <a:solidFill>
              <a:schemeClr val="tx1"/>
            </a:solidFill>
            <a:prstDash val="solid"/>
          </a:ln>
        </p:spPr>
        <p:txBody>
          <a:bodyPr/>
          <a:lstStyle/>
          <a:p>
            <a:endParaRPr lang="en-US"/>
          </a:p>
        </p:txBody>
      </p:sp>
      <p:sp>
        <p:nvSpPr>
          <p:cNvPr id="19" name="Text 17"/>
          <p:cNvSpPr txBox="1"/>
          <p:nvPr/>
        </p:nvSpPr>
        <p:spPr>
          <a:xfrm>
            <a:off x="8424672" y="3557016"/>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Logs itself</a:t>
            </a:r>
            <a:endParaRPr lang="en-US" sz="1600" dirty="0"/>
          </a:p>
        </p:txBody>
      </p:sp>
      <p:sp>
        <p:nvSpPr>
          <p:cNvPr id="20" name="Text 18"/>
          <p:cNvSpPr txBox="1"/>
          <p:nvPr/>
        </p:nvSpPr>
        <p:spPr>
          <a:xfrm>
            <a:off x="8424672" y="4032504"/>
            <a:ext cx="2932176" cy="612648"/>
          </a:xfrm>
          <a:prstGeom prst="rect">
            <a:avLst/>
          </a:prstGeom>
          <a:noFill/>
          <a:ln/>
        </p:spPr>
        <p:txBody>
          <a:bodyPr wrap="square" lIns="0" tIns="0" rIns="0" bIns="0" rtlCol="0" anchor="t"/>
          <a:lstStyle/>
          <a:p>
            <a:pPr marL="0" indent="0" algn="l">
              <a:lnSpc>
                <a:spcPct val="125000"/>
              </a:lnSpc>
              <a:buNone/>
            </a:pPr>
            <a:r>
              <a:rPr lang="en-US" sz="1300" dirty="0">
                <a:solidFill>
                  <a:srgbClr val="B9C6D4"/>
                </a:solidFill>
              </a:rPr>
              <a:t>Speed and steering written to a CSV every second, ready to open in Excel</a:t>
            </a:r>
            <a:endParaRPr lang="en-US" sz="1300" dirty="0"/>
          </a:p>
        </p:txBody>
      </p:sp>
      <p:sp>
        <p:nvSpPr>
          <p:cNvPr id="21" name="callout"/>
          <p:cNvSpPr/>
          <p:nvPr/>
        </p:nvSpPr>
        <p:spPr>
          <a:xfrm>
            <a:off x="548640" y="5074920"/>
            <a:ext cx="11064240" cy="1005840"/>
          </a:xfrm>
          <a:prstGeom prst="roundRect">
            <a:avLst>
              <a:gd name="adj" fmla="val 7273"/>
            </a:avLst>
          </a:prstGeom>
          <a:solidFill>
            <a:srgbClr val="E8F1F5"/>
          </a:solidFill>
          <a:ln w="12700">
            <a:solidFill>
              <a:srgbClr val="CBE0E9"/>
            </a:solidFill>
            <a:prstDash val="solid"/>
          </a:ln>
        </p:spPr>
        <p:txBody>
          <a:bodyPr/>
          <a:lstStyle/>
          <a:p>
            <a:endParaRPr lang="en-US"/>
          </a:p>
        </p:txBody>
      </p:sp>
      <p:sp>
        <p:nvSpPr>
          <p:cNvPr id="22" name="Text 20"/>
          <p:cNvSpPr txBox="1"/>
          <p:nvPr/>
        </p:nvSpPr>
        <p:spPr>
          <a:xfrm>
            <a:off x="777240" y="520293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It needs nobody else’s Wi-Fi</a:t>
            </a:r>
            <a:endParaRPr lang="en-US" sz="1400" dirty="0"/>
          </a:p>
        </p:txBody>
      </p:sp>
      <p:sp>
        <p:nvSpPr>
          <p:cNvPr id="23" name="Text 21"/>
          <p:cNvSpPr txBox="1"/>
          <p:nvPr/>
        </p:nvSpPr>
        <p:spPr>
          <a:xfrm>
            <a:off x="777240" y="5513832"/>
            <a:ext cx="10607040" cy="43891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The ESP32 on the robot runs its own access point, My_Robot2, and the phone and PC join that directly.</a:t>
            </a:r>
            <a:endParaRPr lang="en-US" sz="1250" dirty="0"/>
          </a:p>
          <a:p>
            <a:pPr marL="0" indent="0" algn="l">
              <a:lnSpc>
                <a:spcPct val="120000"/>
              </a:lnSpc>
              <a:buNone/>
            </a:pPr>
            <a:r>
              <a:rPr lang="en-US" sz="1250" dirty="0">
                <a:solidFill>
                  <a:srgbClr val="4A5568"/>
                </a:solidFill>
              </a:rPr>
              <a:t>It demonstrates anywhere, without asking for a site password and without a slow network to blame.</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The four parts</a:t>
            </a:r>
            <a:endParaRPr lang="en-US" sz="3200" dirty="0"/>
          </a:p>
        </p:txBody>
      </p:sp>
      <p:sp>
        <p:nvSpPr>
          <p:cNvPr id="3" name="part-0"/>
          <p:cNvSpPr/>
          <p:nvPr/>
        </p:nvSpPr>
        <p:spPr>
          <a:xfrm>
            <a:off x="548640" y="1463040"/>
            <a:ext cx="2560320" cy="3200400"/>
          </a:xfrm>
          <a:prstGeom prst="roundRect">
            <a:avLst>
              <a:gd name="adj" fmla="val 3571"/>
            </a:avLst>
          </a:prstGeom>
          <a:solidFill>
            <a:schemeClr val="bg2"/>
          </a:solidFill>
          <a:ln w="12700">
            <a:solidFill>
              <a:srgbClr val="D9E0E8"/>
            </a:solidFill>
            <a:prstDash val="solid"/>
          </a:ln>
        </p:spPr>
        <p:txBody>
          <a:bodyPr/>
          <a:lstStyle/>
          <a:p>
            <a:endParaRPr lang="en-US"/>
          </a:p>
        </p:txBody>
      </p:sp>
      <p:sp>
        <p:nvSpPr>
          <p:cNvPr id="4" name="dot-1"/>
          <p:cNvSpPr/>
          <p:nvPr/>
        </p:nvSpPr>
        <p:spPr>
          <a:xfrm>
            <a:off x="804672" y="1719072"/>
            <a:ext cx="475488" cy="475488"/>
          </a:xfrm>
          <a:prstGeom prst="ellipse">
            <a:avLst/>
          </a:prstGeom>
          <a:solidFill>
            <a:srgbClr val="E8803A"/>
          </a:solidFill>
          <a:ln w="12700">
            <a:solidFill>
              <a:srgbClr val="E8803A"/>
            </a:solidFill>
            <a:prstDash val="solid"/>
          </a:ln>
        </p:spPr>
        <p:txBody>
          <a:bodyPr/>
          <a:lstStyle/>
          <a:p>
            <a:endParaRPr lang="en-US"/>
          </a:p>
        </p:txBody>
      </p:sp>
      <p:sp>
        <p:nvSpPr>
          <p:cNvPr id="5" name="Text 3"/>
          <p:cNvSpPr txBox="1"/>
          <p:nvPr/>
        </p:nvSpPr>
        <p:spPr>
          <a:xfrm>
            <a:off x="804672" y="171907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Text 4"/>
          <p:cNvSpPr txBox="1"/>
          <p:nvPr/>
        </p:nvSpPr>
        <p:spPr>
          <a:xfrm>
            <a:off x="804672" y="2359152"/>
            <a:ext cx="2048256" cy="640080"/>
          </a:xfrm>
          <a:prstGeom prst="rect">
            <a:avLst/>
          </a:prstGeom>
          <a:noFill/>
          <a:ln/>
        </p:spPr>
        <p:txBody>
          <a:bodyPr wrap="square" lIns="0" tIns="0" rIns="0" bIns="0" rtlCol="0" anchor="t"/>
          <a:lstStyle/>
          <a:p>
            <a:pPr marL="0" indent="0" algn="l">
              <a:buNone/>
            </a:pPr>
            <a:r>
              <a:rPr lang="en-US" sz="1700" b="1" dirty="0">
                <a:solidFill>
                  <a:schemeClr val="tx1"/>
                </a:solidFill>
              </a:rPr>
              <a:t>STM32 Blue Pill</a:t>
            </a:r>
            <a:endParaRPr lang="en-US" sz="1700" dirty="0"/>
          </a:p>
        </p:txBody>
      </p:sp>
      <p:sp>
        <p:nvSpPr>
          <p:cNvPr id="7" name="Text 5"/>
          <p:cNvSpPr txBox="1"/>
          <p:nvPr/>
        </p:nvSpPr>
        <p:spPr>
          <a:xfrm>
            <a:off x="804672" y="3017520"/>
            <a:ext cx="2048256" cy="10058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The brain. Drives the motors, reads the sensors, follows the line</a:t>
            </a:r>
            <a:endParaRPr lang="en-US" sz="1300" dirty="0"/>
          </a:p>
        </p:txBody>
      </p:sp>
      <p:sp>
        <p:nvSpPr>
          <p:cNvPr id="8" name="Text 6"/>
          <p:cNvSpPr txBox="1"/>
          <p:nvPr/>
        </p:nvSpPr>
        <p:spPr>
          <a:xfrm>
            <a:off x="804672" y="4133088"/>
            <a:ext cx="2048256" cy="411480"/>
          </a:xfrm>
          <a:prstGeom prst="rect">
            <a:avLst/>
          </a:prstGeom>
          <a:noFill/>
          <a:ln/>
        </p:spPr>
        <p:txBody>
          <a:bodyPr wrap="square" lIns="0" tIns="0" rIns="0" bIns="0" rtlCol="0" anchor="t"/>
          <a:lstStyle/>
          <a:p>
            <a:pPr marL="0" indent="0" algn="l">
              <a:buNone/>
            </a:pPr>
            <a:r>
              <a:rPr lang="en-US" sz="1050" dirty="0">
                <a:solidFill>
                  <a:srgbClr val="1C7293"/>
                </a:solidFill>
                <a:latin typeface="Courier New" pitchFamily="34" charset="0"/>
                <a:ea typeface="Courier New" pitchFamily="34" charset="-122"/>
                <a:cs typeface="Courier New" pitchFamily="34" charset="-120"/>
              </a:rPr>
              <a:t>stm32_robot_controller</a:t>
            </a:r>
            <a:endParaRPr lang="en-US" sz="1050" dirty="0"/>
          </a:p>
        </p:txBody>
      </p:sp>
      <p:sp>
        <p:nvSpPr>
          <p:cNvPr id="9" name="part-1"/>
          <p:cNvSpPr/>
          <p:nvPr/>
        </p:nvSpPr>
        <p:spPr>
          <a:xfrm>
            <a:off x="3383280" y="1463040"/>
            <a:ext cx="2560320" cy="3200400"/>
          </a:xfrm>
          <a:prstGeom prst="roundRect">
            <a:avLst>
              <a:gd name="adj" fmla="val 3571"/>
            </a:avLst>
          </a:prstGeom>
          <a:solidFill>
            <a:schemeClr val="bg2"/>
          </a:solidFill>
          <a:ln w="12700">
            <a:solidFill>
              <a:srgbClr val="D9E0E8"/>
            </a:solidFill>
            <a:prstDash val="solid"/>
          </a:ln>
        </p:spPr>
        <p:txBody>
          <a:bodyPr/>
          <a:lstStyle/>
          <a:p>
            <a:endParaRPr lang="en-US"/>
          </a:p>
        </p:txBody>
      </p:sp>
      <p:sp>
        <p:nvSpPr>
          <p:cNvPr id="10" name="dot-2"/>
          <p:cNvSpPr/>
          <p:nvPr/>
        </p:nvSpPr>
        <p:spPr>
          <a:xfrm>
            <a:off x="3639312" y="1719072"/>
            <a:ext cx="475488" cy="475488"/>
          </a:xfrm>
          <a:prstGeom prst="ellipse">
            <a:avLst/>
          </a:prstGeom>
          <a:solidFill>
            <a:srgbClr val="E8803A"/>
          </a:solidFill>
          <a:ln w="12700">
            <a:solidFill>
              <a:srgbClr val="E8803A"/>
            </a:solidFill>
            <a:prstDash val="solid"/>
          </a:ln>
        </p:spPr>
        <p:txBody>
          <a:bodyPr/>
          <a:lstStyle/>
          <a:p>
            <a:endParaRPr lang="en-US"/>
          </a:p>
        </p:txBody>
      </p:sp>
      <p:sp>
        <p:nvSpPr>
          <p:cNvPr id="11" name="Text 9"/>
          <p:cNvSpPr txBox="1"/>
          <p:nvPr/>
        </p:nvSpPr>
        <p:spPr>
          <a:xfrm>
            <a:off x="3639312" y="171907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2" name="Text 10"/>
          <p:cNvSpPr txBox="1"/>
          <p:nvPr/>
        </p:nvSpPr>
        <p:spPr>
          <a:xfrm>
            <a:off x="3639312" y="2359152"/>
            <a:ext cx="2048256" cy="640080"/>
          </a:xfrm>
          <a:prstGeom prst="rect">
            <a:avLst/>
          </a:prstGeom>
          <a:noFill/>
          <a:ln/>
        </p:spPr>
        <p:txBody>
          <a:bodyPr wrap="square" lIns="0" tIns="0" rIns="0" bIns="0" rtlCol="0" anchor="t"/>
          <a:lstStyle/>
          <a:p>
            <a:pPr marL="0" indent="0" algn="l">
              <a:buNone/>
            </a:pPr>
            <a:r>
              <a:rPr lang="en-US" sz="1700" b="1" dirty="0">
                <a:solidFill>
                  <a:schemeClr val="tx1"/>
                </a:solidFill>
              </a:rPr>
              <a:t>ESP32</a:t>
            </a:r>
            <a:endParaRPr lang="en-US" sz="1700" dirty="0"/>
          </a:p>
        </p:txBody>
      </p:sp>
      <p:sp>
        <p:nvSpPr>
          <p:cNvPr id="13" name="Text 11"/>
          <p:cNvSpPr txBox="1"/>
          <p:nvPr/>
        </p:nvSpPr>
        <p:spPr>
          <a:xfrm>
            <a:off x="3639312" y="3017520"/>
            <a:ext cx="2048256" cy="10058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Runs the Wi-Fi access point, the web remote and the OLED</a:t>
            </a:r>
            <a:endParaRPr lang="en-US" sz="1300" dirty="0"/>
          </a:p>
        </p:txBody>
      </p:sp>
      <p:sp>
        <p:nvSpPr>
          <p:cNvPr id="14" name="Text 12"/>
          <p:cNvSpPr txBox="1"/>
          <p:nvPr/>
        </p:nvSpPr>
        <p:spPr>
          <a:xfrm>
            <a:off x="3639312" y="4133088"/>
            <a:ext cx="2048256" cy="411480"/>
          </a:xfrm>
          <a:prstGeom prst="rect">
            <a:avLst/>
          </a:prstGeom>
          <a:noFill/>
          <a:ln/>
        </p:spPr>
        <p:txBody>
          <a:bodyPr wrap="square" lIns="0" tIns="0" rIns="0" bIns="0" rtlCol="0" anchor="t"/>
          <a:lstStyle/>
          <a:p>
            <a:pPr marL="0" indent="0" algn="l">
              <a:buNone/>
            </a:pPr>
            <a:r>
              <a:rPr lang="en-US" sz="1050" dirty="0">
                <a:solidFill>
                  <a:srgbClr val="1C7293"/>
                </a:solidFill>
                <a:latin typeface="Courier New" pitchFamily="34" charset="0"/>
                <a:ea typeface="Courier New" pitchFamily="34" charset="-122"/>
                <a:cs typeface="Courier New" pitchFamily="34" charset="-120"/>
              </a:rPr>
              <a:t>esp32_remote_controller</a:t>
            </a:r>
            <a:endParaRPr lang="en-US" sz="1050" dirty="0"/>
          </a:p>
        </p:txBody>
      </p:sp>
      <p:sp>
        <p:nvSpPr>
          <p:cNvPr id="15" name="part-2"/>
          <p:cNvSpPr/>
          <p:nvPr/>
        </p:nvSpPr>
        <p:spPr>
          <a:xfrm>
            <a:off x="6217920" y="1463040"/>
            <a:ext cx="2560320" cy="3200400"/>
          </a:xfrm>
          <a:prstGeom prst="roundRect">
            <a:avLst>
              <a:gd name="adj" fmla="val 3571"/>
            </a:avLst>
          </a:prstGeom>
          <a:solidFill>
            <a:schemeClr val="bg2"/>
          </a:solidFill>
          <a:ln w="12700">
            <a:solidFill>
              <a:srgbClr val="D9E0E8"/>
            </a:solidFill>
            <a:prstDash val="solid"/>
          </a:ln>
        </p:spPr>
        <p:txBody>
          <a:bodyPr/>
          <a:lstStyle/>
          <a:p>
            <a:endParaRPr lang="en-US"/>
          </a:p>
        </p:txBody>
      </p:sp>
      <p:sp>
        <p:nvSpPr>
          <p:cNvPr id="16" name="dot-3"/>
          <p:cNvSpPr/>
          <p:nvPr/>
        </p:nvSpPr>
        <p:spPr>
          <a:xfrm>
            <a:off x="6473952" y="1719072"/>
            <a:ext cx="475488" cy="475488"/>
          </a:xfrm>
          <a:prstGeom prst="ellipse">
            <a:avLst/>
          </a:prstGeom>
          <a:solidFill>
            <a:srgbClr val="E8803A"/>
          </a:solidFill>
          <a:ln w="12700">
            <a:solidFill>
              <a:srgbClr val="E8803A"/>
            </a:solidFill>
            <a:prstDash val="solid"/>
          </a:ln>
        </p:spPr>
        <p:txBody>
          <a:bodyPr/>
          <a:lstStyle/>
          <a:p>
            <a:endParaRPr lang="en-US"/>
          </a:p>
        </p:txBody>
      </p:sp>
      <p:sp>
        <p:nvSpPr>
          <p:cNvPr id="17" name="Text 15"/>
          <p:cNvSpPr txBox="1"/>
          <p:nvPr/>
        </p:nvSpPr>
        <p:spPr>
          <a:xfrm>
            <a:off x="6473952" y="171907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8" name="Text 16"/>
          <p:cNvSpPr txBox="1"/>
          <p:nvPr/>
        </p:nvSpPr>
        <p:spPr>
          <a:xfrm>
            <a:off x="6473952" y="2359152"/>
            <a:ext cx="2048256" cy="640080"/>
          </a:xfrm>
          <a:prstGeom prst="rect">
            <a:avLst/>
          </a:prstGeom>
          <a:noFill/>
          <a:ln/>
        </p:spPr>
        <p:txBody>
          <a:bodyPr wrap="square" lIns="0" tIns="0" rIns="0" bIns="0" rtlCol="0" anchor="t"/>
          <a:lstStyle/>
          <a:p>
            <a:pPr marL="0" indent="0" algn="l">
              <a:buNone/>
            </a:pPr>
            <a:r>
              <a:rPr lang="en-US" sz="1700" b="1" dirty="0">
                <a:solidFill>
                  <a:schemeClr val="tx1"/>
                </a:solidFill>
              </a:rPr>
              <a:t>ESP32-CAM</a:t>
            </a:r>
            <a:endParaRPr lang="en-US" sz="1700" dirty="0"/>
          </a:p>
        </p:txBody>
      </p:sp>
      <p:sp>
        <p:nvSpPr>
          <p:cNvPr id="19" name="Text 17"/>
          <p:cNvSpPr txBox="1"/>
          <p:nvPr/>
        </p:nvSpPr>
        <p:spPr>
          <a:xfrm>
            <a:off x="6473952" y="3017520"/>
            <a:ext cx="2048256" cy="10058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The eye. Streams to the PC and calls the stop when a code is found</a:t>
            </a:r>
            <a:endParaRPr lang="en-US" sz="1300" dirty="0"/>
          </a:p>
        </p:txBody>
      </p:sp>
      <p:sp>
        <p:nvSpPr>
          <p:cNvPr id="20" name="Text 18"/>
          <p:cNvSpPr txBox="1"/>
          <p:nvPr/>
        </p:nvSpPr>
        <p:spPr>
          <a:xfrm>
            <a:off x="6473952" y="4133088"/>
            <a:ext cx="2048256" cy="411480"/>
          </a:xfrm>
          <a:prstGeom prst="rect">
            <a:avLst/>
          </a:prstGeom>
          <a:noFill/>
          <a:ln/>
        </p:spPr>
        <p:txBody>
          <a:bodyPr wrap="square" lIns="0" tIns="0" rIns="0" bIns="0" rtlCol="0" anchor="t"/>
          <a:lstStyle/>
          <a:p>
            <a:pPr marL="0" indent="0" algn="l">
              <a:buNone/>
            </a:pPr>
            <a:r>
              <a:rPr lang="en-US" sz="1050" dirty="0">
                <a:solidFill>
                  <a:srgbClr val="1C7293"/>
                </a:solidFill>
                <a:latin typeface="Courier New" pitchFamily="34" charset="0"/>
                <a:ea typeface="Courier New" pitchFamily="34" charset="-122"/>
                <a:cs typeface="Courier New" pitchFamily="34" charset="-120"/>
              </a:rPr>
              <a:t>esp32_camera_server</a:t>
            </a:r>
            <a:endParaRPr lang="en-US" sz="1050" dirty="0"/>
          </a:p>
        </p:txBody>
      </p:sp>
      <p:sp>
        <p:nvSpPr>
          <p:cNvPr id="21" name="part-3"/>
          <p:cNvSpPr/>
          <p:nvPr/>
        </p:nvSpPr>
        <p:spPr>
          <a:xfrm>
            <a:off x="9052560" y="1463040"/>
            <a:ext cx="2560320" cy="3200400"/>
          </a:xfrm>
          <a:prstGeom prst="roundRect">
            <a:avLst>
              <a:gd name="adj" fmla="val 3571"/>
            </a:avLst>
          </a:prstGeom>
          <a:solidFill>
            <a:schemeClr val="bg2"/>
          </a:solidFill>
          <a:ln w="12700">
            <a:solidFill>
              <a:srgbClr val="D9E0E8"/>
            </a:solidFill>
            <a:prstDash val="solid"/>
          </a:ln>
        </p:spPr>
        <p:txBody>
          <a:bodyPr/>
          <a:lstStyle/>
          <a:p>
            <a:endParaRPr lang="en-US"/>
          </a:p>
        </p:txBody>
      </p:sp>
      <p:sp>
        <p:nvSpPr>
          <p:cNvPr id="22" name="dot-4"/>
          <p:cNvSpPr/>
          <p:nvPr/>
        </p:nvSpPr>
        <p:spPr>
          <a:xfrm>
            <a:off x="9308592" y="1719072"/>
            <a:ext cx="475488" cy="475488"/>
          </a:xfrm>
          <a:prstGeom prst="ellipse">
            <a:avLst/>
          </a:prstGeom>
          <a:solidFill>
            <a:srgbClr val="E8803A"/>
          </a:solidFill>
          <a:ln w="12700">
            <a:solidFill>
              <a:srgbClr val="E8803A"/>
            </a:solidFill>
            <a:prstDash val="solid"/>
          </a:ln>
        </p:spPr>
        <p:txBody>
          <a:bodyPr/>
          <a:lstStyle/>
          <a:p>
            <a:endParaRPr lang="en-US"/>
          </a:p>
        </p:txBody>
      </p:sp>
      <p:sp>
        <p:nvSpPr>
          <p:cNvPr id="23" name="Text 21"/>
          <p:cNvSpPr txBox="1"/>
          <p:nvPr/>
        </p:nvSpPr>
        <p:spPr>
          <a:xfrm>
            <a:off x="9308592" y="171907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4" name="Text 22"/>
          <p:cNvSpPr txBox="1"/>
          <p:nvPr/>
        </p:nvSpPr>
        <p:spPr>
          <a:xfrm>
            <a:off x="9308592" y="2359152"/>
            <a:ext cx="2048256" cy="640080"/>
          </a:xfrm>
          <a:prstGeom prst="rect">
            <a:avLst/>
          </a:prstGeom>
          <a:noFill/>
          <a:ln/>
        </p:spPr>
        <p:txBody>
          <a:bodyPr wrap="square" lIns="0" tIns="0" rIns="0" bIns="0" rtlCol="0" anchor="t"/>
          <a:lstStyle/>
          <a:p>
            <a:pPr marL="0" indent="0" algn="l">
              <a:buNone/>
            </a:pPr>
            <a:r>
              <a:rPr lang="en-US" sz="1700" b="1" dirty="0">
                <a:solidFill>
                  <a:schemeClr val="tx1"/>
                </a:solidFill>
              </a:rPr>
              <a:t>The PC</a:t>
            </a:r>
            <a:endParaRPr lang="en-US" sz="1700" dirty="0"/>
          </a:p>
        </p:txBody>
      </p:sp>
      <p:sp>
        <p:nvSpPr>
          <p:cNvPr id="25" name="Text 23"/>
          <p:cNvSpPr txBox="1"/>
          <p:nvPr/>
        </p:nvSpPr>
        <p:spPr>
          <a:xfrm>
            <a:off x="9308592" y="3017520"/>
            <a:ext cx="2048256" cy="10058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Decodes the QR codes and writes the run to a CSV on the desktop</a:t>
            </a:r>
            <a:endParaRPr lang="en-US" sz="1300" dirty="0"/>
          </a:p>
        </p:txBody>
      </p:sp>
      <p:sp>
        <p:nvSpPr>
          <p:cNvPr id="26" name="Text 24"/>
          <p:cNvSpPr txBox="1"/>
          <p:nvPr/>
        </p:nvSpPr>
        <p:spPr>
          <a:xfrm>
            <a:off x="9308592" y="4133088"/>
            <a:ext cx="2048256" cy="411480"/>
          </a:xfrm>
          <a:prstGeom prst="rect">
            <a:avLst/>
          </a:prstGeom>
          <a:noFill/>
          <a:ln/>
        </p:spPr>
        <p:txBody>
          <a:bodyPr wrap="square" lIns="0" tIns="0" rIns="0" bIns="0" rtlCol="0" anchor="t"/>
          <a:lstStyle/>
          <a:p>
            <a:pPr marL="0" indent="0" algn="l">
              <a:buNone/>
            </a:pPr>
            <a:r>
              <a:rPr lang="en-US" sz="1050" dirty="0">
                <a:solidFill>
                  <a:srgbClr val="1C7293"/>
                </a:solidFill>
                <a:latin typeface="Courier New" pitchFamily="34" charset="0"/>
                <a:ea typeface="Courier New" pitchFamily="34" charset="-122"/>
                <a:cs typeface="Courier New" pitchFamily="34" charset="-120"/>
              </a:rPr>
              <a:t>qr_scanner.py</a:t>
            </a:r>
            <a:endParaRPr lang="en-US" sz="1050" dirty="0"/>
          </a:p>
        </p:txBody>
      </p:sp>
      <p:sp>
        <p:nvSpPr>
          <p:cNvPr id="27" name="callout"/>
          <p:cNvSpPr/>
          <p:nvPr/>
        </p:nvSpPr>
        <p:spPr>
          <a:xfrm>
            <a:off x="548640" y="4892040"/>
            <a:ext cx="11064240" cy="960120"/>
          </a:xfrm>
          <a:prstGeom prst="roundRect">
            <a:avLst>
              <a:gd name="adj" fmla="val 7619"/>
            </a:avLst>
          </a:prstGeom>
          <a:solidFill>
            <a:srgbClr val="E8F1F5"/>
          </a:solidFill>
          <a:ln w="12700">
            <a:solidFill>
              <a:srgbClr val="CBE0E9"/>
            </a:solidFill>
            <a:prstDash val="solid"/>
          </a:ln>
        </p:spPr>
        <p:txBody>
          <a:bodyPr/>
          <a:lstStyle/>
          <a:p>
            <a:endParaRPr lang="en-US"/>
          </a:p>
        </p:txBody>
      </p:sp>
      <p:sp>
        <p:nvSpPr>
          <p:cNvPr id="28" name="Text 26"/>
          <p:cNvSpPr txBox="1"/>
          <p:nvPr/>
        </p:nvSpPr>
        <p:spPr>
          <a:xfrm>
            <a:off x="777240" y="502005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You can start with less than all of it</a:t>
            </a:r>
            <a:endParaRPr lang="en-US" sz="1400" dirty="0"/>
          </a:p>
        </p:txBody>
      </p:sp>
      <p:sp>
        <p:nvSpPr>
          <p:cNvPr id="29" name="Text 27"/>
          <p:cNvSpPr txBox="1"/>
          <p:nvPr/>
        </p:nvSpPr>
        <p:spPr>
          <a:xfrm>
            <a:off x="777240" y="5330952"/>
            <a:ext cx="10607040" cy="39319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The STM32 on its own already follows the line.  Add the ESP32 for the remote and the screen, and bring in the camera and the PC when you get to QR stopping.</a:t>
            </a:r>
            <a:endParaRPr lang="en-US" sz="1250" dirty="0"/>
          </a:p>
        </p:txBody>
      </p:sp>
      <p:sp>
        <p:nvSpPr>
          <p:cNvPr id="30"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Who talks to whom</a:t>
            </a:r>
            <a:endParaRPr lang="en-US" sz="3200" dirty="0"/>
          </a:p>
        </p:txBody>
      </p:sp>
      <p:sp>
        <p:nvSpPr>
          <p:cNvPr id="3" name="Text 1"/>
          <p:cNvSpPr txBox="1"/>
          <p:nvPr/>
        </p:nvSpPr>
        <p:spPr>
          <a:xfrm>
            <a:off x="548640" y="1280160"/>
            <a:ext cx="11064240" cy="274320"/>
          </a:xfrm>
          <a:prstGeom prst="rect">
            <a:avLst/>
          </a:prstGeom>
          <a:noFill/>
          <a:ln/>
        </p:spPr>
        <p:txBody>
          <a:bodyPr wrap="square" lIns="0" tIns="0" rIns="0" bIns="0" rtlCol="0" anchor="ctr"/>
          <a:lstStyle/>
          <a:p>
            <a:pPr marL="0" indent="0" algn="l">
              <a:buNone/>
            </a:pPr>
            <a:r>
              <a:rPr lang="en-US" sz="1300" b="1" dirty="0">
                <a:solidFill>
                  <a:srgbClr val="E8803A"/>
                </a:solidFill>
              </a:rPr>
              <a:t>Path 1  ·  Driving it by hand</a:t>
            </a:r>
            <a:endParaRPr lang="en-US" sz="1300" dirty="0"/>
          </a:p>
        </p:txBody>
      </p:sp>
      <p:sp>
        <p:nvSpPr>
          <p:cNvPr id="4" name="node-Phone"/>
          <p:cNvSpPr/>
          <p:nvPr/>
        </p:nvSpPr>
        <p:spPr>
          <a:xfrm>
            <a:off x="548640" y="1627632"/>
            <a:ext cx="2926080" cy="11430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 y="1792224"/>
            <a:ext cx="2651760" cy="320040"/>
          </a:xfrm>
          <a:prstGeom prst="rect">
            <a:avLst/>
          </a:prstGeom>
          <a:noFill/>
          <a:ln/>
        </p:spPr>
        <p:txBody>
          <a:bodyPr wrap="square" lIns="0" tIns="0" rIns="0" bIns="0" rtlCol="0" anchor="ctr"/>
          <a:lstStyle/>
          <a:p>
            <a:pPr marL="0" indent="0" algn="ctr">
              <a:buNone/>
            </a:pPr>
            <a:r>
              <a:rPr lang="en-US" sz="1600" b="1" dirty="0">
                <a:solidFill>
                  <a:srgbClr val="16202E"/>
                </a:solidFill>
              </a:rPr>
              <a:t>Phone</a:t>
            </a:r>
            <a:endParaRPr lang="en-US" sz="1600" dirty="0"/>
          </a:p>
        </p:txBody>
      </p:sp>
      <p:sp>
        <p:nvSpPr>
          <p:cNvPr id="6" name="Text 4"/>
          <p:cNvSpPr txBox="1"/>
          <p:nvPr/>
        </p:nvSpPr>
        <p:spPr>
          <a:xfrm>
            <a:off x="685800" y="2139696"/>
            <a:ext cx="2651760" cy="274320"/>
          </a:xfrm>
          <a:prstGeom prst="rect">
            <a:avLst/>
          </a:prstGeom>
          <a:noFill/>
          <a:ln/>
        </p:spPr>
        <p:txBody>
          <a:bodyPr wrap="square" lIns="0" tIns="0" rIns="0" bIns="0" rtlCol="0" anchor="ctr"/>
          <a:lstStyle/>
          <a:p>
            <a:pPr marL="0" indent="0" algn="ctr">
              <a:buNone/>
            </a:pPr>
            <a:r>
              <a:rPr lang="en-US" sz="1100" dirty="0">
                <a:solidFill>
                  <a:srgbClr val="4A5568"/>
                </a:solidFill>
              </a:rPr>
              <a:t>opens 192.168.4.1</a:t>
            </a:r>
            <a:endParaRPr lang="en-US" sz="1100" dirty="0"/>
          </a:p>
        </p:txBody>
      </p:sp>
      <p:sp>
        <p:nvSpPr>
          <p:cNvPr id="7" name="node-ESP32 remote"/>
          <p:cNvSpPr/>
          <p:nvPr/>
        </p:nvSpPr>
        <p:spPr>
          <a:xfrm>
            <a:off x="4617720" y="1627632"/>
            <a:ext cx="2926080" cy="1143000"/>
          </a:xfrm>
          <a:prstGeom prst="roundRect">
            <a:avLst>
              <a:gd name="adj" fmla="val 8000"/>
            </a:avLst>
          </a:prstGeom>
          <a:solidFill>
            <a:srgbClr val="16202E"/>
          </a:solidFill>
          <a:ln w="12700">
            <a:solidFill>
              <a:srgbClr val="16202E"/>
            </a:solidFill>
            <a:prstDash val="solid"/>
          </a:ln>
        </p:spPr>
        <p:txBody>
          <a:bodyPr/>
          <a:lstStyle/>
          <a:p>
            <a:endParaRPr lang="en-US"/>
          </a:p>
        </p:txBody>
      </p:sp>
      <p:sp>
        <p:nvSpPr>
          <p:cNvPr id="8" name="Text 6"/>
          <p:cNvSpPr txBox="1"/>
          <p:nvPr/>
        </p:nvSpPr>
        <p:spPr>
          <a:xfrm>
            <a:off x="4754880" y="1792224"/>
            <a:ext cx="2651760" cy="320040"/>
          </a:xfrm>
          <a:prstGeom prst="rect">
            <a:avLst/>
          </a:prstGeom>
          <a:noFill/>
          <a:ln/>
        </p:spPr>
        <p:txBody>
          <a:bodyPr wrap="square" lIns="0" tIns="0" rIns="0" bIns="0" rtlCol="0" anchor="ctr"/>
          <a:lstStyle/>
          <a:p>
            <a:pPr marL="0" indent="0" algn="ctr">
              <a:buNone/>
            </a:pPr>
            <a:r>
              <a:rPr lang="en-US" sz="1600" b="1" dirty="0">
                <a:solidFill>
                  <a:srgbClr val="FFFFFF"/>
                </a:solidFill>
              </a:rPr>
              <a:t>ESP32 remote</a:t>
            </a:r>
            <a:endParaRPr lang="en-US" sz="1600" dirty="0"/>
          </a:p>
        </p:txBody>
      </p:sp>
      <p:sp>
        <p:nvSpPr>
          <p:cNvPr id="9" name="Text 7"/>
          <p:cNvSpPr txBox="1"/>
          <p:nvPr/>
        </p:nvSpPr>
        <p:spPr>
          <a:xfrm>
            <a:off x="4754880" y="2139696"/>
            <a:ext cx="2651760" cy="274320"/>
          </a:xfrm>
          <a:prstGeom prst="rect">
            <a:avLst/>
          </a:prstGeom>
          <a:noFill/>
          <a:ln/>
        </p:spPr>
        <p:txBody>
          <a:bodyPr wrap="square" lIns="0" tIns="0" rIns="0" bIns="0" rtlCol="0" anchor="ctr"/>
          <a:lstStyle/>
          <a:p>
            <a:pPr marL="0" indent="0" algn="ctr">
              <a:buNone/>
            </a:pPr>
            <a:r>
              <a:rPr lang="en-US" sz="1100" dirty="0">
                <a:solidFill>
                  <a:srgbClr val="B9C6D4"/>
                </a:solidFill>
              </a:rPr>
              <a:t>Wi-Fi AP + OLED</a:t>
            </a:r>
            <a:endParaRPr lang="en-US" sz="1100" dirty="0"/>
          </a:p>
        </p:txBody>
      </p:sp>
      <p:sp>
        <p:nvSpPr>
          <p:cNvPr id="10" name="node-STM32"/>
          <p:cNvSpPr/>
          <p:nvPr/>
        </p:nvSpPr>
        <p:spPr>
          <a:xfrm>
            <a:off x="8686800" y="1627632"/>
            <a:ext cx="2926080" cy="11430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8823960" y="1792224"/>
            <a:ext cx="2651760" cy="320040"/>
          </a:xfrm>
          <a:prstGeom prst="rect">
            <a:avLst/>
          </a:prstGeom>
          <a:noFill/>
          <a:ln/>
        </p:spPr>
        <p:txBody>
          <a:bodyPr wrap="square" lIns="0" tIns="0" rIns="0" bIns="0" rtlCol="0" anchor="ctr"/>
          <a:lstStyle/>
          <a:p>
            <a:pPr marL="0" indent="0" algn="ctr">
              <a:buNone/>
            </a:pPr>
            <a:r>
              <a:rPr lang="en-US" sz="1600" b="1" dirty="0">
                <a:solidFill>
                  <a:srgbClr val="16202E"/>
                </a:solidFill>
              </a:rPr>
              <a:t>STM32</a:t>
            </a:r>
            <a:endParaRPr lang="en-US" sz="1600" dirty="0"/>
          </a:p>
        </p:txBody>
      </p:sp>
      <p:sp>
        <p:nvSpPr>
          <p:cNvPr id="12" name="Text 10"/>
          <p:cNvSpPr txBox="1"/>
          <p:nvPr/>
        </p:nvSpPr>
        <p:spPr>
          <a:xfrm>
            <a:off x="8823960" y="2139696"/>
            <a:ext cx="2651760" cy="274320"/>
          </a:xfrm>
          <a:prstGeom prst="rect">
            <a:avLst/>
          </a:prstGeom>
          <a:noFill/>
          <a:ln/>
        </p:spPr>
        <p:txBody>
          <a:bodyPr wrap="square" lIns="0" tIns="0" rIns="0" bIns="0" rtlCol="0" anchor="ctr"/>
          <a:lstStyle/>
          <a:p>
            <a:pPr marL="0" indent="0" algn="ctr">
              <a:buNone/>
            </a:pPr>
            <a:r>
              <a:rPr lang="en-US" sz="1100" dirty="0">
                <a:solidFill>
                  <a:srgbClr val="4A5568"/>
                </a:solidFill>
              </a:rPr>
              <a:t>motors + sensors</a:t>
            </a:r>
            <a:endParaRPr lang="en-US" sz="1100" dirty="0"/>
          </a:p>
        </p:txBody>
      </p:sp>
      <p:sp>
        <p:nvSpPr>
          <p:cNvPr id="13" name="Text 11"/>
          <p:cNvSpPr txBox="1"/>
          <p:nvPr/>
        </p:nvSpPr>
        <p:spPr>
          <a:xfrm>
            <a:off x="3493008" y="1719072"/>
            <a:ext cx="1106424" cy="292608"/>
          </a:xfrm>
          <a:prstGeom prst="rect">
            <a:avLst/>
          </a:prstGeom>
          <a:noFill/>
          <a:ln/>
        </p:spPr>
        <p:txBody>
          <a:bodyPr wrap="square" lIns="0" tIns="0" rIns="0" bIns="0" rtlCol="0" anchor="b"/>
          <a:lstStyle/>
          <a:p>
            <a:pPr marL="0" indent="0" algn="ctr">
              <a:buNone/>
            </a:pPr>
            <a:r>
              <a:rPr lang="en-US" sz="1000" dirty="0">
                <a:solidFill>
                  <a:srgbClr val="6B7E93"/>
                </a:solidFill>
              </a:rPr>
              <a:t>WebSocket 81</a:t>
            </a:r>
            <a:endParaRPr lang="en-US" sz="1000" dirty="0"/>
          </a:p>
        </p:txBody>
      </p:sp>
      <p:sp>
        <p:nvSpPr>
          <p:cNvPr id="14" name="arrow-WebSocket "/>
          <p:cNvSpPr/>
          <p:nvPr/>
        </p:nvSpPr>
        <p:spPr>
          <a:xfrm>
            <a:off x="3584448" y="2103120"/>
            <a:ext cx="923544" cy="201168"/>
          </a:xfrm>
          <a:prstGeom prst="rightArrow">
            <a:avLst/>
          </a:prstGeom>
          <a:solidFill>
            <a:srgbClr val="E8803A"/>
          </a:solidFill>
          <a:ln w="12700">
            <a:solidFill>
              <a:srgbClr val="E8803A"/>
            </a:solidFill>
            <a:prstDash val="solid"/>
          </a:ln>
        </p:spPr>
        <p:txBody>
          <a:bodyPr/>
          <a:lstStyle/>
          <a:p>
            <a:endParaRPr lang="en-US"/>
          </a:p>
        </p:txBody>
      </p:sp>
      <p:sp>
        <p:nvSpPr>
          <p:cNvPr id="15" name="Text 13"/>
          <p:cNvSpPr txBox="1"/>
          <p:nvPr/>
        </p:nvSpPr>
        <p:spPr>
          <a:xfrm>
            <a:off x="7562088" y="1719072"/>
            <a:ext cx="1106424" cy="292608"/>
          </a:xfrm>
          <a:prstGeom prst="rect">
            <a:avLst/>
          </a:prstGeom>
          <a:noFill/>
          <a:ln/>
        </p:spPr>
        <p:txBody>
          <a:bodyPr wrap="square" lIns="0" tIns="0" rIns="0" bIns="0" rtlCol="0" anchor="b"/>
          <a:lstStyle/>
          <a:p>
            <a:pPr marL="0" indent="0" algn="ctr">
              <a:buNone/>
            </a:pPr>
            <a:r>
              <a:rPr lang="en-US" sz="1000" dirty="0">
                <a:solidFill>
                  <a:srgbClr val="6B7E93"/>
                </a:solidFill>
              </a:rPr>
              <a:t>Serial2 115200</a:t>
            </a:r>
            <a:endParaRPr lang="en-US" sz="1000" dirty="0"/>
          </a:p>
        </p:txBody>
      </p:sp>
      <p:sp>
        <p:nvSpPr>
          <p:cNvPr id="16" name="arrow-Serial2 11"/>
          <p:cNvSpPr/>
          <p:nvPr/>
        </p:nvSpPr>
        <p:spPr>
          <a:xfrm>
            <a:off x="7653528" y="2103120"/>
            <a:ext cx="923544" cy="201168"/>
          </a:xfrm>
          <a:prstGeom prst="rightArrow">
            <a:avLst/>
          </a:prstGeom>
          <a:solidFill>
            <a:srgbClr val="E8803A"/>
          </a:solidFill>
          <a:ln w="12700">
            <a:solidFill>
              <a:srgbClr val="E8803A"/>
            </a:solidFill>
            <a:prstDash val="solid"/>
          </a:ln>
        </p:spPr>
        <p:txBody>
          <a:bodyPr/>
          <a:lstStyle/>
          <a:p>
            <a:endParaRPr lang="en-US"/>
          </a:p>
        </p:txBody>
      </p:sp>
      <p:sp>
        <p:nvSpPr>
          <p:cNvPr id="17" name="Text 15"/>
          <p:cNvSpPr txBox="1"/>
          <p:nvPr/>
        </p:nvSpPr>
        <p:spPr>
          <a:xfrm>
            <a:off x="548640" y="3200400"/>
            <a:ext cx="11064240" cy="274320"/>
          </a:xfrm>
          <a:prstGeom prst="rect">
            <a:avLst/>
          </a:prstGeom>
          <a:noFill/>
          <a:ln/>
        </p:spPr>
        <p:txBody>
          <a:bodyPr wrap="square" lIns="0" tIns="0" rIns="0" bIns="0" rtlCol="0" anchor="ctr"/>
          <a:lstStyle/>
          <a:p>
            <a:pPr marL="0" indent="0" algn="l">
              <a:buNone/>
            </a:pPr>
            <a:r>
              <a:rPr lang="en-US" sz="1300" b="1" dirty="0">
                <a:solidFill>
                  <a:srgbClr val="1C7293"/>
                </a:solidFill>
              </a:rPr>
              <a:t>Path 2  ·  Reading a code and stopping</a:t>
            </a:r>
            <a:endParaRPr lang="en-US" sz="1300" dirty="0"/>
          </a:p>
        </p:txBody>
      </p:sp>
      <p:sp>
        <p:nvSpPr>
          <p:cNvPr id="18" name="node-The PC"/>
          <p:cNvSpPr/>
          <p:nvPr/>
        </p:nvSpPr>
        <p:spPr>
          <a:xfrm>
            <a:off x="548640" y="3547872"/>
            <a:ext cx="2926080" cy="11430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685800" y="3712464"/>
            <a:ext cx="2651760" cy="320040"/>
          </a:xfrm>
          <a:prstGeom prst="rect">
            <a:avLst/>
          </a:prstGeom>
          <a:noFill/>
          <a:ln/>
        </p:spPr>
        <p:txBody>
          <a:bodyPr wrap="square" lIns="0" tIns="0" rIns="0" bIns="0" rtlCol="0" anchor="ctr"/>
          <a:lstStyle/>
          <a:p>
            <a:pPr marL="0" indent="0" algn="ctr">
              <a:buNone/>
            </a:pPr>
            <a:r>
              <a:rPr lang="en-US" sz="1600" b="1" dirty="0">
                <a:solidFill>
                  <a:srgbClr val="16202E"/>
                </a:solidFill>
              </a:rPr>
              <a:t>The PC</a:t>
            </a:r>
            <a:endParaRPr lang="en-US" sz="1600" dirty="0"/>
          </a:p>
        </p:txBody>
      </p:sp>
      <p:sp>
        <p:nvSpPr>
          <p:cNvPr id="20" name="Text 18"/>
          <p:cNvSpPr txBox="1"/>
          <p:nvPr/>
        </p:nvSpPr>
        <p:spPr>
          <a:xfrm>
            <a:off x="685800" y="4059936"/>
            <a:ext cx="2651760" cy="274320"/>
          </a:xfrm>
          <a:prstGeom prst="rect">
            <a:avLst/>
          </a:prstGeom>
          <a:noFill/>
          <a:ln/>
        </p:spPr>
        <p:txBody>
          <a:bodyPr wrap="square" lIns="0" tIns="0" rIns="0" bIns="0" rtlCol="0" anchor="ctr"/>
          <a:lstStyle/>
          <a:p>
            <a:pPr marL="0" indent="0" algn="ctr">
              <a:buNone/>
            </a:pPr>
            <a:r>
              <a:rPr lang="en-US" sz="1100" dirty="0">
                <a:solidFill>
                  <a:srgbClr val="4A5568"/>
                </a:solidFill>
              </a:rPr>
              <a:t>qr_scanner.py</a:t>
            </a:r>
            <a:endParaRPr lang="en-US" sz="1100" dirty="0"/>
          </a:p>
        </p:txBody>
      </p:sp>
      <p:sp>
        <p:nvSpPr>
          <p:cNvPr id="21" name="node-ESP32-CAM"/>
          <p:cNvSpPr/>
          <p:nvPr/>
        </p:nvSpPr>
        <p:spPr>
          <a:xfrm>
            <a:off x="4617720" y="3547872"/>
            <a:ext cx="2926080" cy="1143000"/>
          </a:xfrm>
          <a:prstGeom prst="roundRect">
            <a:avLst>
              <a:gd name="adj" fmla="val 8000"/>
            </a:avLst>
          </a:prstGeom>
          <a:solidFill>
            <a:srgbClr val="16202E"/>
          </a:solidFill>
          <a:ln w="12700">
            <a:solidFill>
              <a:srgbClr val="16202E"/>
            </a:solidFill>
            <a:prstDash val="solid"/>
          </a:ln>
        </p:spPr>
        <p:txBody>
          <a:bodyPr/>
          <a:lstStyle/>
          <a:p>
            <a:endParaRPr lang="en-US"/>
          </a:p>
        </p:txBody>
      </p:sp>
      <p:sp>
        <p:nvSpPr>
          <p:cNvPr id="22" name="Text 20"/>
          <p:cNvSpPr txBox="1"/>
          <p:nvPr/>
        </p:nvSpPr>
        <p:spPr>
          <a:xfrm>
            <a:off x="4754880" y="3712464"/>
            <a:ext cx="2651760" cy="320040"/>
          </a:xfrm>
          <a:prstGeom prst="rect">
            <a:avLst/>
          </a:prstGeom>
          <a:noFill/>
          <a:ln/>
        </p:spPr>
        <p:txBody>
          <a:bodyPr wrap="square" lIns="0" tIns="0" rIns="0" bIns="0" rtlCol="0" anchor="ctr"/>
          <a:lstStyle/>
          <a:p>
            <a:pPr marL="0" indent="0" algn="ctr">
              <a:buNone/>
            </a:pPr>
            <a:r>
              <a:rPr lang="en-US" sz="1600" b="1" dirty="0">
                <a:solidFill>
                  <a:srgbClr val="FFFFFF"/>
                </a:solidFill>
              </a:rPr>
              <a:t>ESP32-CAM</a:t>
            </a:r>
            <a:endParaRPr lang="en-US" sz="1600" dirty="0"/>
          </a:p>
        </p:txBody>
      </p:sp>
      <p:sp>
        <p:nvSpPr>
          <p:cNvPr id="23" name="Text 21"/>
          <p:cNvSpPr txBox="1"/>
          <p:nvPr/>
        </p:nvSpPr>
        <p:spPr>
          <a:xfrm>
            <a:off x="4754880" y="4059936"/>
            <a:ext cx="2651760" cy="274320"/>
          </a:xfrm>
          <a:prstGeom prst="rect">
            <a:avLst/>
          </a:prstGeom>
          <a:noFill/>
          <a:ln/>
        </p:spPr>
        <p:txBody>
          <a:bodyPr wrap="square" lIns="0" tIns="0" rIns="0" bIns="0" rtlCol="0" anchor="ctr"/>
          <a:lstStyle/>
          <a:p>
            <a:pPr marL="0" indent="0" algn="ctr">
              <a:buNone/>
            </a:pPr>
            <a:r>
              <a:rPr lang="en-US" sz="1100" dirty="0">
                <a:solidFill>
                  <a:srgbClr val="B9C6D4"/>
                </a:solidFill>
              </a:rPr>
              <a:t>camera + bridge</a:t>
            </a:r>
            <a:endParaRPr lang="en-US" sz="1100" dirty="0"/>
          </a:p>
        </p:txBody>
      </p:sp>
      <p:sp>
        <p:nvSpPr>
          <p:cNvPr id="24" name="node-STM32"/>
          <p:cNvSpPr/>
          <p:nvPr/>
        </p:nvSpPr>
        <p:spPr>
          <a:xfrm>
            <a:off x="8686800" y="3547872"/>
            <a:ext cx="2926080" cy="11430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5" name="Text 23"/>
          <p:cNvSpPr txBox="1"/>
          <p:nvPr/>
        </p:nvSpPr>
        <p:spPr>
          <a:xfrm>
            <a:off x="8823960" y="3712464"/>
            <a:ext cx="2651760" cy="320040"/>
          </a:xfrm>
          <a:prstGeom prst="rect">
            <a:avLst/>
          </a:prstGeom>
          <a:noFill/>
          <a:ln/>
        </p:spPr>
        <p:txBody>
          <a:bodyPr wrap="square" lIns="0" tIns="0" rIns="0" bIns="0" rtlCol="0" anchor="ctr"/>
          <a:lstStyle/>
          <a:p>
            <a:pPr marL="0" indent="0" algn="ctr">
              <a:buNone/>
            </a:pPr>
            <a:r>
              <a:rPr lang="en-US" sz="1600" b="1" dirty="0">
                <a:solidFill>
                  <a:srgbClr val="16202E"/>
                </a:solidFill>
              </a:rPr>
              <a:t>STM32</a:t>
            </a:r>
            <a:endParaRPr lang="en-US" sz="1600" dirty="0"/>
          </a:p>
        </p:txBody>
      </p:sp>
      <p:sp>
        <p:nvSpPr>
          <p:cNvPr id="26" name="Text 24"/>
          <p:cNvSpPr txBox="1"/>
          <p:nvPr/>
        </p:nvSpPr>
        <p:spPr>
          <a:xfrm>
            <a:off x="8823960" y="4059936"/>
            <a:ext cx="2651760" cy="274320"/>
          </a:xfrm>
          <a:prstGeom prst="rect">
            <a:avLst/>
          </a:prstGeom>
          <a:noFill/>
          <a:ln/>
        </p:spPr>
        <p:txBody>
          <a:bodyPr wrap="square" lIns="0" tIns="0" rIns="0" bIns="0" rtlCol="0" anchor="ctr"/>
          <a:lstStyle/>
          <a:p>
            <a:pPr marL="0" indent="0" algn="ctr">
              <a:buNone/>
            </a:pPr>
            <a:r>
              <a:rPr lang="en-US" sz="1100" dirty="0">
                <a:solidFill>
                  <a:srgbClr val="4A5568"/>
                </a:solidFill>
              </a:rPr>
              <a:t>stops for 5 seconds</a:t>
            </a:r>
            <a:endParaRPr lang="en-US" sz="1100" dirty="0"/>
          </a:p>
        </p:txBody>
      </p:sp>
      <p:sp>
        <p:nvSpPr>
          <p:cNvPr id="27" name="Text 25"/>
          <p:cNvSpPr txBox="1"/>
          <p:nvPr/>
        </p:nvSpPr>
        <p:spPr>
          <a:xfrm>
            <a:off x="3493008" y="3639312"/>
            <a:ext cx="1106424" cy="292608"/>
          </a:xfrm>
          <a:prstGeom prst="rect">
            <a:avLst/>
          </a:prstGeom>
          <a:noFill/>
          <a:ln/>
        </p:spPr>
        <p:txBody>
          <a:bodyPr wrap="square" lIns="0" tIns="0" rIns="0" bIns="0" rtlCol="0" anchor="b"/>
          <a:lstStyle/>
          <a:p>
            <a:pPr marL="0" indent="0" algn="ctr">
              <a:buNone/>
            </a:pPr>
            <a:r>
              <a:rPr lang="en-US" sz="1000" dirty="0">
                <a:solidFill>
                  <a:srgbClr val="6B7E93"/>
                </a:solidFill>
              </a:rPr>
              <a:t>UDP 1234</a:t>
            </a:r>
            <a:endParaRPr lang="en-US" sz="1000" dirty="0"/>
          </a:p>
        </p:txBody>
      </p:sp>
      <p:sp>
        <p:nvSpPr>
          <p:cNvPr id="28" name="arrow-UDP 1234"/>
          <p:cNvSpPr/>
          <p:nvPr/>
        </p:nvSpPr>
        <p:spPr>
          <a:xfrm>
            <a:off x="3584448" y="4023360"/>
            <a:ext cx="923544" cy="201168"/>
          </a:xfrm>
          <a:prstGeom prst="rightArrow">
            <a:avLst/>
          </a:prstGeom>
          <a:solidFill>
            <a:srgbClr val="E8803A"/>
          </a:solidFill>
          <a:ln w="12700">
            <a:solidFill>
              <a:srgbClr val="E8803A"/>
            </a:solidFill>
            <a:prstDash val="solid"/>
          </a:ln>
        </p:spPr>
        <p:txBody>
          <a:bodyPr/>
          <a:lstStyle/>
          <a:p>
            <a:endParaRPr lang="en-US"/>
          </a:p>
        </p:txBody>
      </p:sp>
      <p:sp>
        <p:nvSpPr>
          <p:cNvPr id="29" name="Text 27"/>
          <p:cNvSpPr txBox="1"/>
          <p:nvPr/>
        </p:nvSpPr>
        <p:spPr>
          <a:xfrm>
            <a:off x="7562088" y="3639312"/>
            <a:ext cx="1106424" cy="292608"/>
          </a:xfrm>
          <a:prstGeom prst="rect">
            <a:avLst/>
          </a:prstGeom>
          <a:noFill/>
          <a:ln/>
        </p:spPr>
        <p:txBody>
          <a:bodyPr wrap="square" lIns="0" tIns="0" rIns="0" bIns="0" rtlCol="0" anchor="b"/>
          <a:lstStyle/>
          <a:p>
            <a:pPr marL="0" indent="0" algn="ctr">
              <a:buNone/>
            </a:pPr>
            <a:r>
              <a:rPr lang="en-US" sz="1000" dirty="0">
                <a:solidFill>
                  <a:srgbClr val="6B7E93"/>
                </a:solidFill>
              </a:rPr>
              <a:t>Serial 9600  'S'</a:t>
            </a:r>
            <a:endParaRPr lang="en-US" sz="1000" dirty="0"/>
          </a:p>
        </p:txBody>
      </p:sp>
      <p:sp>
        <p:nvSpPr>
          <p:cNvPr id="30" name="arrow-Serial 960"/>
          <p:cNvSpPr/>
          <p:nvPr/>
        </p:nvSpPr>
        <p:spPr>
          <a:xfrm>
            <a:off x="7653528" y="4023360"/>
            <a:ext cx="923544" cy="201168"/>
          </a:xfrm>
          <a:prstGeom prst="rightArrow">
            <a:avLst/>
          </a:prstGeom>
          <a:solidFill>
            <a:srgbClr val="E8803A"/>
          </a:solidFill>
          <a:ln w="12700">
            <a:solidFill>
              <a:srgbClr val="E8803A"/>
            </a:solidFill>
            <a:prstDash val="solid"/>
          </a:ln>
        </p:spPr>
        <p:txBody>
          <a:bodyPr/>
          <a:lstStyle/>
          <a:p>
            <a:endParaRPr lang="en-US"/>
          </a:p>
        </p:txBody>
      </p:sp>
      <p:sp>
        <p:nvSpPr>
          <p:cNvPr id="31" name="callout"/>
          <p:cNvSpPr/>
          <p:nvPr/>
        </p:nvSpPr>
        <p:spPr>
          <a:xfrm>
            <a:off x="548640" y="5029200"/>
            <a:ext cx="11064240" cy="914400"/>
          </a:xfrm>
          <a:prstGeom prst="roundRect">
            <a:avLst>
              <a:gd name="adj" fmla="val 8000"/>
            </a:avLst>
          </a:prstGeom>
          <a:solidFill>
            <a:srgbClr val="E8F1F5"/>
          </a:solidFill>
          <a:ln w="12700">
            <a:solidFill>
              <a:srgbClr val="CBE0E9"/>
            </a:solidFill>
            <a:prstDash val="solid"/>
          </a:ln>
        </p:spPr>
        <p:txBody>
          <a:bodyPr/>
          <a:lstStyle/>
          <a:p>
            <a:endParaRPr lang="en-US"/>
          </a:p>
        </p:txBody>
      </p:sp>
      <p:sp>
        <p:nvSpPr>
          <p:cNvPr id="32" name="Text 30"/>
          <p:cNvSpPr txBox="1"/>
          <p:nvPr/>
        </p:nvSpPr>
        <p:spPr>
          <a:xfrm>
            <a:off x="777240" y="515721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Two more lines this picture leaves out</a:t>
            </a:r>
            <a:endParaRPr lang="en-US" sz="1400" dirty="0"/>
          </a:p>
        </p:txBody>
      </p:sp>
      <p:sp>
        <p:nvSpPr>
          <p:cNvPr id="33" name="Text 31"/>
          <p:cNvSpPr txBox="1"/>
          <p:nvPr/>
        </p:nvSpPr>
        <p:spPr>
          <a:xfrm>
            <a:off x="777240" y="5468112"/>
            <a:ext cx="10607040" cy="34747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The camera pings the remote every 2 seconds so the remote learns its IP and can link to the stream,  and the STM32 sends its state back every 200 ms for the PC to collect into the spreadsheet.</a:t>
            </a:r>
            <a:endParaRPr lang="en-US" sz="1250" dirty="0"/>
          </a:p>
        </p:txBody>
      </p:sp>
      <p:sp>
        <p:nvSpPr>
          <p:cNvPr id="34"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377440"/>
            <a:ext cx="11064240" cy="457200"/>
          </a:xfrm>
          <a:prstGeom prst="rect">
            <a:avLst/>
          </a:prstGeom>
          <a:noFill/>
          <a:ln/>
        </p:spPr>
        <p:txBody>
          <a:bodyPr wrap="square" rtlCol="0"/>
          <a:lstStyle/>
          <a:p>
            <a:pPr marL="0" indent="0" algn="l">
              <a:buNone/>
            </a:pPr>
            <a:r>
              <a:rPr lang="en-US" sz="6000" b="1" dirty="0">
                <a:solidFill>
                  <a:srgbClr val="E8803A"/>
                </a:solidFill>
              </a:rPr>
              <a:t>01</a:t>
            </a:r>
            <a:endParaRPr lang="en-US" sz="6000" dirty="0"/>
          </a:p>
        </p:txBody>
      </p:sp>
      <p:sp>
        <p:nvSpPr>
          <p:cNvPr id="3" name="Text 0"/>
          <p:cNvSpPr>
            <a:spLocks noGrp="1"/>
          </p:cNvSpPr>
          <p:nvPr>
            <p:ph type="title" idx="101" hasCustomPrompt="1"/>
          </p:nvPr>
        </p:nvSpPr>
        <p:spPr>
          <a:xfrm>
            <a:off x="548640" y="3200400"/>
            <a:ext cx="11064240" cy="914400"/>
          </a:xfrm>
          <a:prstGeom prst="rect">
            <a:avLst/>
          </a:prstGeom>
          <a:noFill/>
          <a:ln/>
        </p:spPr>
        <p:txBody>
          <a:bodyPr wrap="square" rtlCol="0"/>
          <a:lstStyle/>
          <a:p>
            <a:pPr marL="0" indent="0" algn="l">
              <a:buNone/>
            </a:pPr>
            <a:r>
              <a:rPr lang="en-US" sz="4000" b="1" dirty="0">
                <a:solidFill>
                  <a:schemeClr val="bg1"/>
                </a:solidFill>
              </a:rPr>
              <a:t>Install and wire</a:t>
            </a:r>
            <a:endParaRPr lang="en-US" sz="4000" dirty="0"/>
          </a:p>
        </p:txBody>
      </p:sp>
      <p:sp>
        <p:nvSpPr>
          <p:cNvPr id="4" name="Text 0"/>
          <p:cNvSpPr>
            <a:spLocks noGrp="1"/>
          </p:cNvSpPr>
          <p:nvPr>
            <p:ph type="body" idx="102" hasCustomPrompt="1"/>
          </p:nvPr>
        </p:nvSpPr>
        <p:spPr>
          <a:xfrm>
            <a:off x="548640" y="4206240"/>
            <a:ext cx="8686800" cy="914400"/>
          </a:xfrm>
          <a:prstGeom prst="rect">
            <a:avLst/>
          </a:prstGeom>
          <a:noFill/>
          <a:ln/>
        </p:spPr>
        <p:txBody>
          <a:bodyPr wrap="square" rtlCol="0"/>
          <a:lstStyle/>
          <a:p>
            <a:pPr marL="0" indent="0" algn="l">
              <a:buNone/>
            </a:pPr>
            <a:r>
              <a:rPr lang="en-US" sz="1600" dirty="0">
                <a:solidFill>
                  <a:srgbClr val="B9C6D4"/>
                </a:solidFill>
              </a:rPr>
              <a:t>Software on the laptop, wires on the robot, firmware on all three boards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Software on the laptop first</a:t>
            </a:r>
            <a:endParaRPr lang="en-US" sz="3200" dirty="0"/>
          </a:p>
        </p:txBody>
      </p:sp>
      <p:sp>
        <p:nvSpPr>
          <p:cNvPr id="3" name="sw-1"/>
          <p:cNvSpPr/>
          <p:nvPr/>
        </p:nvSpPr>
        <p:spPr>
          <a:xfrm>
            <a:off x="548640" y="1371600"/>
            <a:ext cx="3444240" cy="3566160"/>
          </a:xfrm>
          <a:prstGeom prst="roundRect">
            <a:avLst>
              <a:gd name="adj" fmla="val 2655"/>
            </a:avLst>
          </a:prstGeom>
          <a:solidFill>
            <a:schemeClr val="bg2"/>
          </a:solidFill>
          <a:ln w="12700">
            <a:solidFill>
              <a:srgbClr val="D9E0E8"/>
            </a:solidFill>
            <a:prstDash val="solid"/>
          </a:ln>
        </p:spPr>
        <p:txBody>
          <a:bodyPr/>
          <a:lstStyle/>
          <a:p>
            <a:endParaRPr lang="en-US"/>
          </a:p>
        </p:txBody>
      </p:sp>
      <p:sp>
        <p:nvSpPr>
          <p:cNvPr id="4" name="dot-1"/>
          <p:cNvSpPr/>
          <p:nvPr/>
        </p:nvSpPr>
        <p:spPr>
          <a:xfrm>
            <a:off x="804672" y="1627632"/>
            <a:ext cx="475488" cy="475488"/>
          </a:xfrm>
          <a:prstGeom prst="ellipse">
            <a:avLst/>
          </a:prstGeom>
          <a:solidFill>
            <a:srgbClr val="E8803A"/>
          </a:solidFill>
          <a:ln w="12700">
            <a:solidFill>
              <a:srgbClr val="E8803A"/>
            </a:solidFill>
            <a:prstDash val="solid"/>
          </a:ln>
        </p:spPr>
        <p:txBody>
          <a:bodyPr/>
          <a:lstStyle/>
          <a:p>
            <a:endParaRPr lang="en-US"/>
          </a:p>
        </p:txBody>
      </p:sp>
      <p:sp>
        <p:nvSpPr>
          <p:cNvPr id="5" name="Text 3"/>
          <p:cNvSpPr txBox="1"/>
          <p:nvPr/>
        </p:nvSpPr>
        <p:spPr>
          <a:xfrm>
            <a:off x="804672" y="16276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Text 4"/>
          <p:cNvSpPr txBox="1"/>
          <p:nvPr/>
        </p:nvSpPr>
        <p:spPr>
          <a:xfrm>
            <a:off x="804672" y="2267712"/>
            <a:ext cx="2932176" cy="365760"/>
          </a:xfrm>
          <a:prstGeom prst="rect">
            <a:avLst/>
          </a:prstGeom>
          <a:noFill/>
          <a:ln/>
        </p:spPr>
        <p:txBody>
          <a:bodyPr wrap="square" lIns="0" tIns="0" rIns="0" bIns="0" rtlCol="0" anchor="t"/>
          <a:lstStyle/>
          <a:p>
            <a:pPr marL="0" indent="0" algn="l">
              <a:buNone/>
            </a:pPr>
            <a:r>
              <a:rPr lang="en-US" sz="1600" b="1" dirty="0">
                <a:solidFill>
                  <a:schemeClr val="tx1"/>
                </a:solidFill>
              </a:rPr>
              <a:t>Arduino IDE and cores</a:t>
            </a:r>
            <a:endParaRPr lang="en-US" sz="1600" dirty="0"/>
          </a:p>
        </p:txBody>
      </p:sp>
      <p:sp>
        <p:nvSpPr>
          <p:cNvPr id="7" name="Text 5"/>
          <p:cNvSpPr txBox="1"/>
          <p:nvPr/>
        </p:nvSpPr>
        <p:spPr>
          <a:xfrm>
            <a:off x="804672" y="2697480"/>
            <a:ext cx="2932176" cy="118872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Add the STM32 Board Manager URL under File &gt; Preferences, then install STM32 MCU based boards and the ESP32 package.</a:t>
            </a:r>
            <a:endParaRPr lang="en-US" sz="1300" dirty="0"/>
          </a:p>
        </p:txBody>
      </p:sp>
      <p:sp>
        <p:nvSpPr>
          <p:cNvPr id="8" name="Text 6"/>
          <p:cNvSpPr txBox="1"/>
          <p:nvPr/>
        </p:nvSpPr>
        <p:spPr>
          <a:xfrm>
            <a:off x="804672" y="4023360"/>
            <a:ext cx="2932176" cy="640080"/>
          </a:xfrm>
          <a:prstGeom prst="rect">
            <a:avLst/>
          </a:prstGeom>
          <a:noFill/>
          <a:ln/>
        </p:spPr>
        <p:txBody>
          <a:bodyPr wrap="square" lIns="0" tIns="0" rIns="0" bIns="0" rtlCol="0" anchor="t"/>
          <a:lstStyle/>
          <a:p>
            <a:pPr marL="0" indent="0" algn="l">
              <a:buNone/>
            </a:pPr>
            <a:r>
              <a:rPr lang="en-US" sz="1000" dirty="0">
                <a:solidFill>
                  <a:srgbClr val="1C7293"/>
                </a:solidFill>
                <a:latin typeface="Courier New" pitchFamily="34" charset="0"/>
                <a:ea typeface="Courier New" pitchFamily="34" charset="-122"/>
                <a:cs typeface="Courier New" pitchFamily="34" charset="-120"/>
              </a:rPr>
              <a:t>github.com/stm32duino/</a:t>
            </a:r>
            <a:endParaRPr lang="en-US" sz="1000" dirty="0"/>
          </a:p>
          <a:p>
            <a:pPr marL="0" indent="0" algn="l">
              <a:buNone/>
            </a:pPr>
            <a:r>
              <a:rPr lang="en-US" sz="1000" dirty="0">
                <a:solidFill>
                  <a:srgbClr val="1C7293"/>
                </a:solidFill>
                <a:latin typeface="Courier New" pitchFamily="34" charset="0"/>
                <a:ea typeface="Courier New" pitchFamily="34" charset="-122"/>
                <a:cs typeface="Courier New" pitchFamily="34" charset="-120"/>
              </a:rPr>
              <a:t>BoardManagerFiles</a:t>
            </a:r>
            <a:endParaRPr lang="en-US" sz="1000" dirty="0"/>
          </a:p>
        </p:txBody>
      </p:sp>
      <p:sp>
        <p:nvSpPr>
          <p:cNvPr id="9" name="sw-2"/>
          <p:cNvSpPr/>
          <p:nvPr/>
        </p:nvSpPr>
        <p:spPr>
          <a:xfrm>
            <a:off x="4358640" y="1371600"/>
            <a:ext cx="3444240" cy="3566160"/>
          </a:xfrm>
          <a:prstGeom prst="roundRect">
            <a:avLst>
              <a:gd name="adj" fmla="val 2655"/>
            </a:avLst>
          </a:prstGeom>
          <a:solidFill>
            <a:schemeClr val="bg2"/>
          </a:solidFill>
          <a:ln w="12700">
            <a:solidFill>
              <a:srgbClr val="D9E0E8"/>
            </a:solidFill>
            <a:prstDash val="solid"/>
          </a:ln>
        </p:spPr>
        <p:txBody>
          <a:bodyPr/>
          <a:lstStyle/>
          <a:p>
            <a:endParaRPr lang="en-US"/>
          </a:p>
        </p:txBody>
      </p:sp>
      <p:sp>
        <p:nvSpPr>
          <p:cNvPr id="10" name="dot-2"/>
          <p:cNvSpPr/>
          <p:nvPr/>
        </p:nvSpPr>
        <p:spPr>
          <a:xfrm>
            <a:off x="4614672" y="1627632"/>
            <a:ext cx="475488" cy="475488"/>
          </a:xfrm>
          <a:prstGeom prst="ellipse">
            <a:avLst/>
          </a:prstGeom>
          <a:solidFill>
            <a:srgbClr val="E8803A"/>
          </a:solidFill>
          <a:ln w="12700">
            <a:solidFill>
              <a:srgbClr val="E8803A"/>
            </a:solidFill>
            <a:prstDash val="solid"/>
          </a:ln>
        </p:spPr>
        <p:txBody>
          <a:bodyPr/>
          <a:lstStyle/>
          <a:p>
            <a:endParaRPr lang="en-US"/>
          </a:p>
        </p:txBody>
      </p:sp>
      <p:sp>
        <p:nvSpPr>
          <p:cNvPr id="11" name="Text 9"/>
          <p:cNvSpPr txBox="1"/>
          <p:nvPr/>
        </p:nvSpPr>
        <p:spPr>
          <a:xfrm>
            <a:off x="4614672" y="16276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2" name="Text 10"/>
          <p:cNvSpPr txBox="1"/>
          <p:nvPr/>
        </p:nvSpPr>
        <p:spPr>
          <a:xfrm>
            <a:off x="4614672" y="2267712"/>
            <a:ext cx="2932176" cy="365760"/>
          </a:xfrm>
          <a:prstGeom prst="rect">
            <a:avLst/>
          </a:prstGeom>
          <a:noFill/>
          <a:ln/>
        </p:spPr>
        <p:txBody>
          <a:bodyPr wrap="square" lIns="0" tIns="0" rIns="0" bIns="0" rtlCol="0" anchor="t"/>
          <a:lstStyle/>
          <a:p>
            <a:pPr marL="0" indent="0" algn="l">
              <a:buNone/>
            </a:pPr>
            <a:r>
              <a:rPr lang="en-US" sz="1600" b="1" dirty="0">
                <a:solidFill>
                  <a:schemeClr val="tx1"/>
                </a:solidFill>
              </a:rPr>
              <a:t>Libraries for the ESP32</a:t>
            </a:r>
            <a:endParaRPr lang="en-US" sz="1600" dirty="0"/>
          </a:p>
        </p:txBody>
      </p:sp>
      <p:sp>
        <p:nvSpPr>
          <p:cNvPr id="13" name="Text 11"/>
          <p:cNvSpPr txBox="1"/>
          <p:nvPr/>
        </p:nvSpPr>
        <p:spPr>
          <a:xfrm>
            <a:off x="4614672" y="2697480"/>
            <a:ext cx="2932176" cy="1828800"/>
          </a:xfrm>
          <a:prstGeom prst="rect">
            <a:avLst/>
          </a:prstGeom>
          <a:noFill/>
          <a:ln/>
        </p:spPr>
        <p:txBody>
          <a:bodyPr wrap="square" lIns="0" tIns="0" rIns="0" bIns="0" rtlCol="0" anchor="t"/>
          <a:lstStyle/>
          <a:p>
            <a:pPr marL="342900" indent="-342900" algn="l">
              <a:spcAft>
                <a:spcPts val="700"/>
              </a:spcAft>
              <a:buSzPct val="100000"/>
              <a:buChar char="•"/>
            </a:pPr>
            <a:r>
              <a:rPr lang="en-US" sz="1300" dirty="0">
                <a:solidFill>
                  <a:srgbClr val="4A5568"/>
                </a:solidFill>
              </a:rPr>
              <a:t>WebSockets by Markus Sattler</a:t>
            </a:r>
            <a:endParaRPr lang="en-US" sz="1300" dirty="0"/>
          </a:p>
          <a:p>
            <a:pPr marL="342900" indent="-342900" algn="l">
              <a:spcAft>
                <a:spcPts val="700"/>
              </a:spcAft>
              <a:buSzPct val="100000"/>
              <a:buChar char="•"/>
            </a:pPr>
            <a:r>
              <a:rPr lang="en-US" sz="1300" dirty="0">
                <a:solidFill>
                  <a:srgbClr val="4A5568"/>
                </a:solidFill>
              </a:rPr>
              <a:t>Adafruit GFX Library</a:t>
            </a:r>
            <a:endParaRPr lang="en-US" sz="1300" dirty="0"/>
          </a:p>
          <a:p>
            <a:pPr marL="342900" indent="-342900" algn="l">
              <a:spcAft>
                <a:spcPts val="700"/>
              </a:spcAft>
              <a:buSzPct val="100000"/>
              <a:buChar char="•"/>
            </a:pPr>
            <a:r>
              <a:rPr lang="en-US" sz="1300" dirty="0">
                <a:solidFill>
                  <a:srgbClr val="4A5568"/>
                </a:solidFill>
              </a:rPr>
              <a:t>Adafruit SH110X  ←  this robot’s screen</a:t>
            </a:r>
            <a:endParaRPr lang="en-US" sz="1300" dirty="0"/>
          </a:p>
          <a:p>
            <a:pPr marL="342900" indent="-342900" algn="l">
              <a:spcAft>
                <a:spcPts val="700"/>
              </a:spcAft>
              <a:buSzPct val="100000"/>
              <a:buChar char="•"/>
            </a:pPr>
            <a:r>
              <a:rPr lang="en-US" sz="1300" dirty="0">
                <a:solidFill>
                  <a:srgbClr val="4A5568"/>
                </a:solidFill>
              </a:rPr>
              <a:t>Adafruit SSD1306 only for a 0.96 inch panel</a:t>
            </a:r>
            <a:endParaRPr lang="en-US" sz="1300" dirty="0"/>
          </a:p>
        </p:txBody>
      </p:sp>
      <p:sp>
        <p:nvSpPr>
          <p:cNvPr id="14" name="sw-3"/>
          <p:cNvSpPr/>
          <p:nvPr/>
        </p:nvSpPr>
        <p:spPr>
          <a:xfrm>
            <a:off x="8168640" y="1371600"/>
            <a:ext cx="3444240" cy="3566160"/>
          </a:xfrm>
          <a:prstGeom prst="roundRect">
            <a:avLst>
              <a:gd name="adj" fmla="val 2655"/>
            </a:avLst>
          </a:prstGeom>
          <a:solidFill>
            <a:schemeClr val="tx1"/>
          </a:solidFill>
          <a:ln w="12700">
            <a:solidFill>
              <a:schemeClr val="tx1"/>
            </a:solidFill>
            <a:prstDash val="solid"/>
          </a:ln>
        </p:spPr>
        <p:txBody>
          <a:bodyPr/>
          <a:lstStyle/>
          <a:p>
            <a:endParaRPr lang="en-US"/>
          </a:p>
        </p:txBody>
      </p:sp>
      <p:sp>
        <p:nvSpPr>
          <p:cNvPr id="15" name="dot-3"/>
          <p:cNvSpPr/>
          <p:nvPr/>
        </p:nvSpPr>
        <p:spPr>
          <a:xfrm>
            <a:off x="8424672" y="1627632"/>
            <a:ext cx="475488" cy="475488"/>
          </a:xfrm>
          <a:prstGeom prst="ellipse">
            <a:avLst/>
          </a:prstGeom>
          <a:solidFill>
            <a:srgbClr val="E8803A"/>
          </a:solidFill>
          <a:ln w="12700">
            <a:solidFill>
              <a:srgbClr val="E8803A"/>
            </a:solidFill>
            <a:prstDash val="solid"/>
          </a:ln>
        </p:spPr>
        <p:txBody>
          <a:bodyPr/>
          <a:lstStyle/>
          <a:p>
            <a:endParaRPr lang="en-US"/>
          </a:p>
        </p:txBody>
      </p:sp>
      <p:sp>
        <p:nvSpPr>
          <p:cNvPr id="16" name="Text 14"/>
          <p:cNvSpPr txBox="1"/>
          <p:nvPr/>
        </p:nvSpPr>
        <p:spPr>
          <a:xfrm>
            <a:off x="8424672" y="162763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7" name="Text 15"/>
          <p:cNvSpPr txBox="1"/>
          <p:nvPr/>
        </p:nvSpPr>
        <p:spPr>
          <a:xfrm>
            <a:off x="8424672" y="2267712"/>
            <a:ext cx="2932176" cy="365760"/>
          </a:xfrm>
          <a:prstGeom prst="rect">
            <a:avLst/>
          </a:prstGeom>
          <a:noFill/>
          <a:ln/>
        </p:spPr>
        <p:txBody>
          <a:bodyPr wrap="square" lIns="0" tIns="0" rIns="0" bIns="0" rtlCol="0" anchor="t"/>
          <a:lstStyle/>
          <a:p>
            <a:pPr marL="0" indent="0" algn="l">
              <a:buNone/>
            </a:pPr>
            <a:r>
              <a:rPr lang="en-US" sz="1600" b="1" dirty="0">
                <a:solidFill>
                  <a:srgbClr val="FFFFFF"/>
                </a:solidFill>
              </a:rPr>
              <a:t>On the PC side</a:t>
            </a:r>
            <a:endParaRPr lang="en-US" sz="1600" dirty="0"/>
          </a:p>
        </p:txBody>
      </p:sp>
      <p:sp>
        <p:nvSpPr>
          <p:cNvPr id="18" name="Text 16"/>
          <p:cNvSpPr txBox="1"/>
          <p:nvPr/>
        </p:nvSpPr>
        <p:spPr>
          <a:xfrm>
            <a:off x="8424672" y="2697480"/>
            <a:ext cx="2932176" cy="822960"/>
          </a:xfrm>
          <a:prstGeom prst="rect">
            <a:avLst/>
          </a:prstGeom>
          <a:noFill/>
          <a:ln/>
        </p:spPr>
        <p:txBody>
          <a:bodyPr wrap="square" lIns="0" tIns="0" rIns="0" bIns="0" rtlCol="0" anchor="t"/>
          <a:lstStyle/>
          <a:p>
            <a:pPr marL="0" indent="0" algn="l">
              <a:lnSpc>
                <a:spcPct val="125000"/>
              </a:lnSpc>
              <a:buNone/>
            </a:pPr>
            <a:r>
              <a:rPr lang="en-US" sz="1300" dirty="0">
                <a:solidFill>
                  <a:srgbClr val="B9C6D4"/>
                </a:solidFill>
              </a:rPr>
              <a:t>Install Python, then these four libraries from a command prompt.</a:t>
            </a:r>
            <a:endParaRPr lang="en-US" sz="1300" dirty="0"/>
          </a:p>
        </p:txBody>
      </p:sp>
      <p:sp>
        <p:nvSpPr>
          <p:cNvPr id="19" name="Text 17"/>
          <p:cNvSpPr txBox="1"/>
          <p:nvPr/>
        </p:nvSpPr>
        <p:spPr>
          <a:xfrm>
            <a:off x="8406384" y="3918204"/>
            <a:ext cx="2932176" cy="1005840"/>
          </a:xfrm>
          <a:prstGeom prst="rect">
            <a:avLst/>
          </a:prstGeom>
          <a:noFill/>
          <a:ln/>
        </p:spPr>
        <p:txBody>
          <a:bodyPr wrap="square" lIns="0" tIns="0" rIns="0" bIns="0" rtlCol="0" anchor="t"/>
          <a:lstStyle/>
          <a:p>
            <a:pPr>
              <a:lnSpc>
                <a:spcPct val="120000"/>
              </a:lnSpc>
            </a:pPr>
            <a:r>
              <a:rPr lang="en-US" sz="1100" dirty="0" err="1">
                <a:solidFill>
                  <a:srgbClr val="E8803A"/>
                </a:solidFill>
                <a:latin typeface="Courier New" pitchFamily="34" charset="0"/>
                <a:ea typeface="Courier New" pitchFamily="34" charset="-122"/>
                <a:cs typeface="Courier New" pitchFamily="34" charset="-120"/>
              </a:rPr>
              <a:t>py</a:t>
            </a:r>
            <a:r>
              <a:rPr lang="en-US" sz="1100" dirty="0">
                <a:solidFill>
                  <a:srgbClr val="E8803A"/>
                </a:solidFill>
                <a:latin typeface="Courier New" pitchFamily="34" charset="0"/>
                <a:ea typeface="Courier New" pitchFamily="34" charset="-122"/>
                <a:cs typeface="Courier New" pitchFamily="34" charset="-120"/>
              </a:rPr>
              <a:t> -m pip install</a:t>
            </a:r>
          </a:p>
          <a:p>
            <a:pPr>
              <a:lnSpc>
                <a:spcPct val="120000"/>
              </a:lnSpc>
            </a:pPr>
            <a:r>
              <a:rPr lang="en-US" sz="1100" dirty="0">
                <a:solidFill>
                  <a:srgbClr val="E8803A"/>
                </a:solidFill>
                <a:latin typeface="Courier New" pitchFamily="34" charset="0"/>
                <a:ea typeface="Courier New" pitchFamily="34" charset="-122"/>
                <a:cs typeface="Courier New" pitchFamily="34" charset="-120"/>
              </a:rPr>
              <a:t>  </a:t>
            </a:r>
            <a:r>
              <a:rPr lang="en-US" sz="1100" dirty="0" err="1">
                <a:solidFill>
                  <a:srgbClr val="E8803A"/>
                </a:solidFill>
                <a:latin typeface="Courier New" pitchFamily="34" charset="0"/>
                <a:ea typeface="Courier New" pitchFamily="34" charset="-122"/>
                <a:cs typeface="Courier New" pitchFamily="34" charset="-120"/>
              </a:rPr>
              <a:t>opencv</a:t>
            </a:r>
            <a:r>
              <a:rPr lang="en-US" sz="1100" dirty="0">
                <a:solidFill>
                  <a:srgbClr val="E8803A"/>
                </a:solidFill>
                <a:latin typeface="Courier New" pitchFamily="34" charset="0"/>
                <a:ea typeface="Courier New" pitchFamily="34" charset="-122"/>
                <a:cs typeface="Courier New" pitchFamily="34" charset="-120"/>
              </a:rPr>
              <a:t>-python </a:t>
            </a:r>
            <a:r>
              <a:rPr lang="en-US" sz="1100" dirty="0" err="1">
                <a:solidFill>
                  <a:srgbClr val="E8803A"/>
                </a:solidFill>
                <a:latin typeface="Courier New" pitchFamily="34" charset="0"/>
                <a:ea typeface="Courier New" pitchFamily="34" charset="-122"/>
                <a:cs typeface="Courier New" pitchFamily="34" charset="-120"/>
              </a:rPr>
              <a:t>numpy</a:t>
            </a:r>
            <a:endParaRPr lang="en-US" sz="1100" dirty="0">
              <a:solidFill>
                <a:srgbClr val="E8803A"/>
              </a:solidFill>
              <a:latin typeface="Courier New" pitchFamily="34" charset="0"/>
              <a:ea typeface="Courier New" pitchFamily="34" charset="-122"/>
              <a:cs typeface="Courier New" pitchFamily="34" charset="-120"/>
            </a:endParaRPr>
          </a:p>
          <a:p>
            <a:pPr>
              <a:lnSpc>
                <a:spcPct val="120000"/>
              </a:lnSpc>
            </a:pPr>
            <a:r>
              <a:rPr lang="en-US" sz="1100" dirty="0">
                <a:solidFill>
                  <a:srgbClr val="E8803A"/>
                </a:solidFill>
                <a:latin typeface="Courier New" pitchFamily="34" charset="0"/>
                <a:ea typeface="Courier New" pitchFamily="34" charset="-122"/>
                <a:cs typeface="Courier New" pitchFamily="34" charset="-120"/>
              </a:rPr>
              <a:t>  </a:t>
            </a:r>
            <a:r>
              <a:rPr lang="en-US" sz="1100" dirty="0" err="1">
                <a:solidFill>
                  <a:srgbClr val="E8803A"/>
                </a:solidFill>
                <a:latin typeface="Courier New" pitchFamily="34" charset="0"/>
                <a:ea typeface="Courier New" pitchFamily="34" charset="-122"/>
                <a:cs typeface="Courier New" pitchFamily="34" charset="-120"/>
              </a:rPr>
              <a:t>pyzbar</a:t>
            </a:r>
            <a:r>
              <a:rPr lang="en-US" sz="1100" dirty="0">
                <a:solidFill>
                  <a:srgbClr val="E8803A"/>
                </a:solidFill>
                <a:latin typeface="Courier New" pitchFamily="34" charset="0"/>
                <a:ea typeface="Courier New" pitchFamily="34" charset="-122"/>
                <a:cs typeface="Courier New" pitchFamily="34" charset="-120"/>
              </a:rPr>
              <a:t> requests</a:t>
            </a:r>
          </a:p>
        </p:txBody>
      </p:sp>
      <p:sp>
        <p:nvSpPr>
          <p:cNvPr id="20"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txBody>
          <a:bodyPr/>
          <a:lstStyle/>
          <a:p>
            <a:endParaRPr lang="en-US"/>
          </a:p>
        </p:txBody>
      </p:sp>
      <p:sp>
        <p:nvSpPr>
          <p:cNvPr id="21" name="Text 19"/>
          <p:cNvSpPr txBox="1"/>
          <p:nvPr/>
        </p:nvSpPr>
        <p:spPr>
          <a:xfrm>
            <a:off x="777240" y="5248656"/>
            <a:ext cx="10607040" cy="274320"/>
          </a:xfrm>
          <a:prstGeom prst="rect">
            <a:avLst/>
          </a:prstGeom>
          <a:noFill/>
          <a:ln/>
        </p:spPr>
        <p:txBody>
          <a:bodyPr wrap="square" lIns="0" tIns="0" rIns="0" bIns="0" rtlCol="0" anchor="t"/>
          <a:lstStyle/>
          <a:p>
            <a:pPr marL="0" indent="0" algn="l">
              <a:buNone/>
            </a:pPr>
            <a:r>
              <a:rPr lang="en-US" sz="1400" b="1" dirty="0">
                <a:solidFill>
                  <a:srgbClr val="B3261E"/>
                </a:solidFill>
              </a:rPr>
              <a:t>Two different controllers hide behind identical-looking OLED modules</a:t>
            </a:r>
            <a:endParaRPr lang="en-US" sz="1400" dirty="0"/>
          </a:p>
        </p:txBody>
      </p:sp>
      <p:sp>
        <p:nvSpPr>
          <p:cNvPr id="22" name="Text 20"/>
          <p:cNvSpPr txBox="1"/>
          <p:nvPr/>
        </p:nvSpPr>
        <p:spPr>
          <a:xfrm>
            <a:off x="777240" y="5559552"/>
            <a:ext cx="10607040" cy="2560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This robot has the SH1106. Drive it with the SSD1306 library and the whole frame lands in the top strip of the panel, with power-on noise below it.</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6</a:t>
            </a:fld>
            <a:endParaRPr lang="en-US"/>
          </a:p>
        </p:txBody>
      </p:sp>
      <p:sp>
        <p:nvSpPr>
          <p:cNvPr id="24" name="Text 17">
            <a:extLst>
              <a:ext uri="{FF2B5EF4-FFF2-40B4-BE49-F238E27FC236}">
                <a16:creationId xmlns:a16="http://schemas.microsoft.com/office/drawing/2014/main" id="{067D4627-4850-0E4F-DD82-8D6D5711F03D}"/>
              </a:ext>
            </a:extLst>
          </p:cNvPr>
          <p:cNvSpPr txBox="1"/>
          <p:nvPr/>
        </p:nvSpPr>
        <p:spPr>
          <a:xfrm>
            <a:off x="8406384" y="3255264"/>
            <a:ext cx="2932176" cy="1005840"/>
          </a:xfrm>
          <a:prstGeom prst="rect">
            <a:avLst/>
          </a:prstGeom>
          <a:noFill/>
          <a:ln/>
        </p:spPr>
        <p:txBody>
          <a:bodyPr wrap="square" lIns="0" tIns="0" rIns="0" bIns="0" rtlCol="0" anchor="t"/>
          <a:lstStyle/>
          <a:p>
            <a:pPr>
              <a:lnSpc>
                <a:spcPct val="120000"/>
              </a:lnSpc>
            </a:pPr>
            <a:r>
              <a:rPr lang="en-US" sz="1100" dirty="0">
                <a:solidFill>
                  <a:srgbClr val="E8803A"/>
                </a:solidFill>
                <a:latin typeface="Courier New" pitchFamily="34" charset="0"/>
                <a:ea typeface="Courier New" pitchFamily="34" charset="-122"/>
                <a:cs typeface="Courier New" pitchFamily="34" charset="-120"/>
              </a:rPr>
              <a:t>You should create environment for install library it will secure for your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Wiring the STM32</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2176272"/>
        </p:xfrm>
        <a:graphic>
          <a:graphicData uri="http://schemas.openxmlformats.org/drawingml/2006/table">
            <a:tbl>
              <a:tblPr/>
              <a:tblGrid>
                <a:gridCol w="3931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Function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Pin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16202E"/>
                          </a:solidFill>
                        </a:rPr>
                        <a:t>Left motor  AIN1 / AIN2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PA0 / PA1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b="1" dirty="0">
                          <a:solidFill>
                            <a:srgbClr val="16202E"/>
                          </a:solidFill>
                        </a:rPr>
                        <a:t>Right motor  BIN1 / BIN2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PB0 / PB1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dirty="0">
                          <a:solidFill>
                            <a:srgbClr val="16202E"/>
                          </a:solidFill>
                        </a:rPr>
                        <a:t>Line sensors L2 L1 C R1 R2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PB9 PB8 PB7 PB6 PB5</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b="1" dirty="0">
                          <a:solidFill>
                            <a:srgbClr val="16202E"/>
                          </a:solidFill>
                        </a:rPr>
                        <a:t>Serial2  from the ESP32 remote</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PA2 TX / PA3 RX</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16202E"/>
                          </a:solidFill>
                        </a:rPr>
                        <a:t>Serial3  from the ESP32-CAM</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PB10 TX / PB11 RX</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3794760"/>
            <a:ext cx="6583680" cy="548640"/>
          </a:xfrm>
          <a:prstGeom prst="rect">
            <a:avLst/>
          </a:prstGeom>
          <a:noFill/>
          <a:ln/>
        </p:spPr>
        <p:txBody>
          <a:bodyPr wrap="square" lIns="0" tIns="0" rIns="0" bIns="0" rtlCol="0" anchor="t"/>
          <a:lstStyle/>
          <a:p>
            <a:pPr marL="0" indent="0" algn="l">
              <a:lnSpc>
                <a:spcPct val="120000"/>
              </a:lnSpc>
              <a:buNone/>
            </a:pPr>
            <a:r>
              <a:rPr lang="en-US" sz="1200" dirty="0">
                <a:solidFill>
                  <a:srgbClr val="6B7E93"/>
                </a:solidFill>
              </a:rPr>
              <a:t>The physical pins behind Serial2 and Serial3 depend on the board and the core, so check them before cutting wire.</a:t>
            </a:r>
            <a:endParaRPr lang="en-US" sz="1200" dirty="0"/>
          </a:p>
        </p:txBody>
      </p:sp>
      <p:sp>
        <p:nvSpPr>
          <p:cNvPr id="5" name="card-Cross the data"/>
          <p:cNvSpPr/>
          <p:nvPr/>
        </p:nvSpPr>
        <p:spPr>
          <a:xfrm>
            <a:off x="7406640" y="1371600"/>
            <a:ext cx="4206240" cy="1554480"/>
          </a:xfrm>
          <a:prstGeom prst="roundRect">
            <a:avLst>
              <a:gd name="adj" fmla="val 5882"/>
            </a:avLst>
          </a:prstGeom>
          <a:solidFill>
            <a:schemeClr val="bg2"/>
          </a:solidFill>
          <a:ln w="12700">
            <a:solidFill>
              <a:srgbClr val="D9E0E8"/>
            </a:solidFill>
            <a:prstDash val="solid"/>
          </a:ln>
        </p:spPr>
        <p:txBody>
          <a:bodyPr/>
          <a:lstStyle/>
          <a:p>
            <a:endParaRPr lang="en-US"/>
          </a:p>
        </p:txBody>
      </p:sp>
      <p:sp>
        <p:nvSpPr>
          <p:cNvPr id="6" name="Text 3"/>
          <p:cNvSpPr txBox="1"/>
          <p:nvPr/>
        </p:nvSpPr>
        <p:spPr>
          <a:xfrm>
            <a:off x="7662672" y="1554480"/>
            <a:ext cx="3694176" cy="365760"/>
          </a:xfrm>
          <a:prstGeom prst="rect">
            <a:avLst/>
          </a:prstGeom>
          <a:noFill/>
          <a:ln/>
        </p:spPr>
        <p:txBody>
          <a:bodyPr wrap="square" lIns="0" tIns="0" rIns="0" bIns="0" rtlCol="0" anchor="t"/>
          <a:lstStyle/>
          <a:p>
            <a:pPr marL="0" indent="0" algn="l">
              <a:buNone/>
            </a:pPr>
            <a:r>
              <a:rPr lang="en-US" sz="1600" b="1" dirty="0">
                <a:solidFill>
                  <a:srgbClr val="E8803A"/>
                </a:solidFill>
              </a:rPr>
              <a:t>Cross the data lines</a:t>
            </a:r>
            <a:endParaRPr lang="en-US" sz="1600" dirty="0"/>
          </a:p>
        </p:txBody>
      </p:sp>
      <p:sp>
        <p:nvSpPr>
          <p:cNvPr id="7" name="Text 4"/>
          <p:cNvSpPr txBox="1"/>
          <p:nvPr/>
        </p:nvSpPr>
        <p:spPr>
          <a:xfrm>
            <a:off x="7662672" y="2029968"/>
            <a:ext cx="3694176" cy="68580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One side’s TX always goes to the other side’s RX, and the grounds must be joined or the signal has no reference.</a:t>
            </a:r>
            <a:endParaRPr lang="en-US" sz="1300" dirty="0"/>
          </a:p>
        </p:txBody>
      </p:sp>
      <p:sp>
        <p:nvSpPr>
          <p:cNvPr id="3" name="card-Sensors run le"/>
          <p:cNvSpPr/>
          <p:nvPr/>
        </p:nvSpPr>
        <p:spPr>
          <a:xfrm>
            <a:off x="7406640" y="3154680"/>
            <a:ext cx="4206240" cy="1417320"/>
          </a:xfrm>
          <a:prstGeom prst="roundRect">
            <a:avLst>
              <a:gd name="adj" fmla="val 6452"/>
            </a:avLst>
          </a:prstGeom>
          <a:solidFill>
            <a:schemeClr val="bg2"/>
          </a:solidFill>
          <a:ln w="12700">
            <a:solidFill>
              <a:srgbClr val="D9E0E8"/>
            </a:solidFill>
            <a:prstDash val="solid"/>
          </a:ln>
        </p:spPr>
        <p:txBody>
          <a:bodyPr/>
          <a:lstStyle/>
          <a:p>
            <a:endParaRPr lang="en-US"/>
          </a:p>
        </p:txBody>
      </p:sp>
      <p:sp>
        <p:nvSpPr>
          <p:cNvPr id="9" name="Text 6"/>
          <p:cNvSpPr txBox="1"/>
          <p:nvPr/>
        </p:nvSpPr>
        <p:spPr>
          <a:xfrm>
            <a:off x="7662672" y="3337560"/>
            <a:ext cx="3694176" cy="365760"/>
          </a:xfrm>
          <a:prstGeom prst="rect">
            <a:avLst/>
          </a:prstGeom>
          <a:noFill/>
          <a:ln/>
        </p:spPr>
        <p:txBody>
          <a:bodyPr wrap="square" lIns="0" tIns="0" rIns="0" bIns="0" rtlCol="0" anchor="t"/>
          <a:lstStyle/>
          <a:p>
            <a:pPr marL="0" indent="0" algn="l">
              <a:buNone/>
            </a:pPr>
            <a:r>
              <a:rPr lang="en-US" sz="1600" b="1" dirty="0">
                <a:solidFill>
                  <a:srgbClr val="1C7293"/>
                </a:solidFill>
              </a:rPr>
              <a:t>Sensors run left to right</a:t>
            </a:r>
            <a:endParaRPr lang="en-US" sz="1600" dirty="0"/>
          </a:p>
        </p:txBody>
      </p:sp>
      <p:sp>
        <p:nvSpPr>
          <p:cNvPr id="10" name="Text 7"/>
          <p:cNvSpPr txBox="1"/>
          <p:nvPr/>
        </p:nvSpPr>
        <p:spPr>
          <a:xfrm>
            <a:off x="7662672" y="3813048"/>
            <a:ext cx="3694176" cy="5486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L2 is leftmost, R2 rightmost. Reverse the order and the robot steers away from the line instead of onto it.</a:t>
            </a:r>
            <a:endParaRPr lang="en-US" sz="1300" dirty="0"/>
          </a:p>
        </p:txBody>
      </p:sp>
      <p:sp>
        <p:nvSpPr>
          <p:cNvPr id="11"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txBody>
          <a:bodyPr/>
          <a:lstStyle/>
          <a:p>
            <a:endParaRPr lang="en-US"/>
          </a:p>
        </p:txBody>
      </p:sp>
      <p:sp>
        <p:nvSpPr>
          <p:cNvPr id="12" name="Text 9"/>
          <p:cNvSpPr txBox="1"/>
          <p:nvPr/>
        </p:nvSpPr>
        <p:spPr>
          <a:xfrm>
            <a:off x="777240" y="5248656"/>
            <a:ext cx="10607040" cy="274320"/>
          </a:xfrm>
          <a:prstGeom prst="rect">
            <a:avLst/>
          </a:prstGeom>
          <a:noFill/>
          <a:ln/>
        </p:spPr>
        <p:txBody>
          <a:bodyPr wrap="square" lIns="0" tIns="0" rIns="0" bIns="0" rtlCol="0" anchor="t"/>
          <a:lstStyle/>
          <a:p>
            <a:pPr marL="0" indent="0" algn="l">
              <a:buNone/>
            </a:pPr>
            <a:r>
              <a:rPr lang="en-US" sz="1400" b="1" dirty="0">
                <a:solidFill>
                  <a:srgbClr val="B3261E"/>
                </a:solidFill>
              </a:rPr>
              <a:t>Do not swap the motor pin pairs in setSpeed()</a:t>
            </a:r>
            <a:endParaRPr lang="en-US" sz="1400" dirty="0"/>
          </a:p>
        </p:txBody>
      </p:sp>
      <p:sp>
        <p:nvSpPr>
          <p:cNvPr id="13" name="Text 10"/>
          <p:cNvSpPr txBox="1"/>
          <p:nvPr/>
        </p:nvSpPr>
        <p:spPr>
          <a:xfrm>
            <a:off x="777240" y="5559552"/>
            <a:ext cx="10607040" cy="2560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It reverses both motors: forward becomes backward, left becomes right, and line following drives the robot off the course.</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Wiring the ESP32 and the camera</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Function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Pin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16202E"/>
                          </a:solidFill>
                        </a:rPr>
                        <a:t>OLED  SDA</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GPIO21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b="1" dirty="0">
                          <a:solidFill>
                            <a:srgbClr val="16202E"/>
                          </a:solidFill>
                        </a:rPr>
                        <a:t>OLED  SCL</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GPIO22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dirty="0">
                          <a:solidFill>
                            <a:srgbClr val="16202E"/>
                          </a:solidFill>
                        </a:rPr>
                        <a:t>To STM32 Serial2 RX (PA3)</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GPIO17 TX</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b="1" dirty="0">
                          <a:solidFill>
                            <a:srgbClr val="16202E"/>
                          </a:solidFill>
                        </a:rPr>
                        <a:t>From STM32 Serial2 TX (PA2)</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GPIO16 RX</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16202E"/>
                          </a:solidFill>
                        </a:rPr>
                        <a:t>CAM to STM32 Serial3 RX (PB11)</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GPIO14 TX</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3794760"/>
            <a:ext cx="6583680" cy="548640"/>
          </a:xfrm>
          <a:prstGeom prst="rect">
            <a:avLst/>
          </a:prstGeom>
          <a:noFill/>
          <a:ln/>
        </p:spPr>
        <p:txBody>
          <a:bodyPr wrap="square" lIns="0" tIns="0" rIns="0" bIns="0" rtlCol="0" anchor="t"/>
          <a:lstStyle/>
          <a:p>
            <a:pPr marL="0" indent="0" algn="l">
              <a:lnSpc>
                <a:spcPct val="120000"/>
              </a:lnSpc>
              <a:buNone/>
            </a:pPr>
            <a:r>
              <a:rPr lang="en-US" sz="1200" dirty="0">
                <a:solidFill>
                  <a:srgbClr val="6B7E93"/>
                </a:solidFill>
              </a:rPr>
              <a:t>The camera reaches the STM32 on Serial3, a different port from the remote, so both can command the robot at once.</a:t>
            </a:r>
            <a:endParaRPr lang="en-US" sz="1200" dirty="0"/>
          </a:p>
        </p:txBody>
      </p:sp>
      <p:sp>
        <p:nvSpPr>
          <p:cNvPr id="5" name="card-The OLED sits "/>
          <p:cNvSpPr/>
          <p:nvPr/>
        </p:nvSpPr>
        <p:spPr>
          <a:xfrm>
            <a:off x="7406640" y="1371600"/>
            <a:ext cx="4206240" cy="1554480"/>
          </a:xfrm>
          <a:prstGeom prst="roundRect">
            <a:avLst>
              <a:gd name="adj" fmla="val 5882"/>
            </a:avLst>
          </a:prstGeom>
          <a:solidFill>
            <a:schemeClr val="bg2"/>
          </a:solidFill>
          <a:ln w="12700">
            <a:solidFill>
              <a:srgbClr val="D9E0E8"/>
            </a:solidFill>
            <a:prstDash val="solid"/>
          </a:ln>
        </p:spPr>
        <p:txBody>
          <a:bodyPr/>
          <a:lstStyle/>
          <a:p>
            <a:endParaRPr lang="en-US"/>
          </a:p>
        </p:txBody>
      </p:sp>
      <p:sp>
        <p:nvSpPr>
          <p:cNvPr id="6" name="Text 3"/>
          <p:cNvSpPr txBox="1"/>
          <p:nvPr/>
        </p:nvSpPr>
        <p:spPr>
          <a:xfrm>
            <a:off x="7662672" y="1554480"/>
            <a:ext cx="3694176" cy="365760"/>
          </a:xfrm>
          <a:prstGeom prst="rect">
            <a:avLst/>
          </a:prstGeom>
          <a:noFill/>
          <a:ln/>
        </p:spPr>
        <p:txBody>
          <a:bodyPr wrap="square" lIns="0" tIns="0" rIns="0" bIns="0" rtlCol="0" anchor="t"/>
          <a:lstStyle/>
          <a:p>
            <a:pPr marL="0" indent="0" algn="l">
              <a:buNone/>
            </a:pPr>
            <a:r>
              <a:rPr lang="en-US" sz="1600" b="1" dirty="0">
                <a:solidFill>
                  <a:srgbClr val="E8803A"/>
                </a:solidFill>
              </a:rPr>
              <a:t>The OLED sits at 0x3C</a:t>
            </a:r>
            <a:endParaRPr lang="en-US" sz="1600" dirty="0"/>
          </a:p>
        </p:txBody>
      </p:sp>
      <p:sp>
        <p:nvSpPr>
          <p:cNvPr id="7" name="Text 4"/>
          <p:cNvSpPr txBox="1"/>
          <p:nvPr/>
        </p:nvSpPr>
        <p:spPr>
          <a:xfrm>
            <a:off x="7662672" y="2029968"/>
            <a:ext cx="3694176" cy="68580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 128x64 I2C module. Change OLED_ADDR in the sketch if yours answers at 0x3D instead.</a:t>
            </a:r>
            <a:endParaRPr lang="en-US" sz="1300" dirty="0"/>
          </a:p>
        </p:txBody>
      </p:sp>
      <p:sp>
        <p:nvSpPr>
          <p:cNvPr id="8" name="card-A missing scre"/>
          <p:cNvSpPr/>
          <p:nvPr/>
        </p:nvSpPr>
        <p:spPr>
          <a:xfrm>
            <a:off x="7406640" y="3154680"/>
            <a:ext cx="4206240" cy="1417320"/>
          </a:xfrm>
          <a:prstGeom prst="roundRect">
            <a:avLst>
              <a:gd name="adj" fmla="val 6452"/>
            </a:avLst>
          </a:prstGeom>
          <a:solidFill>
            <a:schemeClr val="bg2"/>
          </a:solidFill>
          <a:ln w="12700">
            <a:solidFill>
              <a:srgbClr val="D9E0E8"/>
            </a:solidFill>
            <a:prstDash val="solid"/>
          </a:ln>
        </p:spPr>
        <p:txBody>
          <a:bodyPr/>
          <a:lstStyle/>
          <a:p>
            <a:endParaRPr lang="en-US"/>
          </a:p>
        </p:txBody>
      </p:sp>
      <p:sp>
        <p:nvSpPr>
          <p:cNvPr id="3" name="Text 6"/>
          <p:cNvSpPr txBox="1"/>
          <p:nvPr/>
        </p:nvSpPr>
        <p:spPr>
          <a:xfrm>
            <a:off x="7662672" y="3337560"/>
            <a:ext cx="3694176" cy="365760"/>
          </a:xfrm>
          <a:prstGeom prst="rect">
            <a:avLst/>
          </a:prstGeom>
          <a:noFill/>
          <a:ln/>
        </p:spPr>
        <p:txBody>
          <a:bodyPr wrap="square" lIns="0" tIns="0" rIns="0" bIns="0" rtlCol="0" anchor="t"/>
          <a:lstStyle/>
          <a:p>
            <a:pPr marL="0" indent="0" algn="l">
              <a:buNone/>
            </a:pPr>
            <a:r>
              <a:rPr lang="en-US" sz="1600" b="1" dirty="0">
                <a:solidFill>
                  <a:srgbClr val="1C7293"/>
                </a:solidFill>
              </a:rPr>
              <a:t>A missing screen is survivable</a:t>
            </a:r>
            <a:endParaRPr lang="en-US" sz="1600" dirty="0"/>
          </a:p>
        </p:txBody>
      </p:sp>
      <p:sp>
        <p:nvSpPr>
          <p:cNvPr id="10" name="Text 7"/>
          <p:cNvSpPr txBox="1"/>
          <p:nvPr/>
        </p:nvSpPr>
        <p:spPr>
          <a:xfrm>
            <a:off x="7662672" y="3813048"/>
            <a:ext cx="3694176" cy="54864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If the display is not found the sketch skips every draw and everything else keeps running.</a:t>
            </a:r>
            <a:endParaRPr lang="en-US" sz="1300" dirty="0"/>
          </a:p>
        </p:txBody>
      </p:sp>
      <p:sp>
        <p:nvSpPr>
          <p:cNvPr id="11" name="callout"/>
          <p:cNvSpPr/>
          <p:nvPr/>
        </p:nvSpPr>
        <p:spPr>
          <a:xfrm>
            <a:off x="548640" y="5120640"/>
            <a:ext cx="11064240" cy="822960"/>
          </a:xfrm>
          <a:prstGeom prst="roundRect">
            <a:avLst>
              <a:gd name="adj" fmla="val 8889"/>
            </a:avLst>
          </a:prstGeom>
          <a:solidFill>
            <a:srgbClr val="FBEEEC"/>
          </a:solidFill>
          <a:ln w="12700">
            <a:solidFill>
              <a:srgbClr val="F0D3CE"/>
            </a:solidFill>
            <a:prstDash val="solid"/>
          </a:ln>
        </p:spPr>
        <p:txBody>
          <a:bodyPr/>
          <a:lstStyle/>
          <a:p>
            <a:endParaRPr lang="en-US"/>
          </a:p>
        </p:txBody>
      </p:sp>
      <p:sp>
        <p:nvSpPr>
          <p:cNvPr id="12" name="Text 9"/>
          <p:cNvSpPr txBox="1"/>
          <p:nvPr/>
        </p:nvSpPr>
        <p:spPr>
          <a:xfrm>
            <a:off x="777240" y="5248656"/>
            <a:ext cx="10607040" cy="274320"/>
          </a:xfrm>
          <a:prstGeom prst="rect">
            <a:avLst/>
          </a:prstGeom>
          <a:noFill/>
          <a:ln/>
        </p:spPr>
        <p:txBody>
          <a:bodyPr wrap="square" lIns="0" tIns="0" rIns="0" bIns="0" rtlCol="0" anchor="t"/>
          <a:lstStyle/>
          <a:p>
            <a:pPr marL="0" indent="0" algn="l">
              <a:buNone/>
            </a:pPr>
            <a:r>
              <a:rPr lang="en-US" sz="1400" b="1" dirty="0">
                <a:solidFill>
                  <a:srgbClr val="B3261E"/>
                </a:solidFill>
              </a:rPr>
              <a:t>Solder the four screen wires rather than pushing them on</a:t>
            </a:r>
            <a:endParaRPr lang="en-US" sz="1400" dirty="0"/>
          </a:p>
        </p:txBody>
      </p:sp>
      <p:sp>
        <p:nvSpPr>
          <p:cNvPr id="13" name="Text 10"/>
          <p:cNvSpPr txBox="1"/>
          <p:nvPr/>
        </p:nvSpPr>
        <p:spPr>
          <a:xfrm>
            <a:off x="777240" y="5559552"/>
            <a:ext cx="10607040" cy="2560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A loose contact cuts a frame mid-transfer and the panel stays dark while the code runs perfectly. It is the hardest fault here to track down.</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Setting up ST-Link for the STM32</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txBody>
          <a:bodyPr/>
          <a:lstStyle/>
          <a:p>
            <a:endParaRPr lang="en-US"/>
          </a:p>
        </p:txBody>
      </p:sp>
      <p:sp>
        <p:nvSpPr>
          <p:cNvPr id="4" name="Text 2"/>
          <p:cNvSpPr txBox="1"/>
          <p:nvPr/>
        </p:nvSpPr>
        <p:spPr>
          <a:xfrm>
            <a:off x="548640" y="14630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Install STM32CubeProgrammer</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 free download from ST, account required. Keep the default path, and it brings the ST-Link driver with it.</a:t>
            </a:r>
            <a:endParaRPr lang="en-US" sz="1300" dirty="0"/>
          </a:p>
        </p:txBody>
      </p:sp>
      <p:sp>
        <p:nvSpPr>
          <p:cNvPr id="7" name="dot-2"/>
          <p:cNvSpPr/>
          <p:nvPr/>
        </p:nvSpPr>
        <p:spPr>
          <a:xfrm>
            <a:off x="548640" y="2697480"/>
            <a:ext cx="475488" cy="475488"/>
          </a:xfrm>
          <a:prstGeom prst="ellipse">
            <a:avLst/>
          </a:prstGeom>
          <a:solidFill>
            <a:srgbClr val="E8803A"/>
          </a:solidFill>
          <a:ln w="12700">
            <a:solidFill>
              <a:srgbClr val="E8803A"/>
            </a:solidFill>
            <a:prstDash val="solid"/>
          </a:ln>
        </p:spPr>
        <p:txBody>
          <a:bodyPr/>
          <a:lstStyle/>
          <a:p>
            <a:endParaRPr lang="en-US"/>
          </a:p>
        </p:txBody>
      </p:sp>
      <p:sp>
        <p:nvSpPr>
          <p:cNvPr id="8" name="Text 6"/>
          <p:cNvSpPr txBox="1"/>
          <p:nvPr/>
        </p:nvSpPr>
        <p:spPr>
          <a:xfrm>
            <a:off x="548640" y="269748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9" name="Text 7"/>
          <p:cNvSpPr txBox="1"/>
          <p:nvPr/>
        </p:nvSpPr>
        <p:spPr>
          <a:xfrm>
            <a:off x="1207008" y="267919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Connect four wires</a:t>
            </a:r>
            <a:endParaRPr lang="en-US" sz="1600" dirty="0"/>
          </a:p>
        </p:txBody>
      </p:sp>
      <p:sp>
        <p:nvSpPr>
          <p:cNvPr id="10" name="Text 8"/>
          <p:cNvSpPr txBox="1"/>
          <p:nvPr/>
        </p:nvSpPr>
        <p:spPr>
          <a:xfrm>
            <a:off x="1207008" y="300837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As in the table. Match them by the names printed on the dongle, never by pin number: the clones do not agree on a layout.</a:t>
            </a:r>
            <a:endParaRPr lang="en-US" sz="1300" dirty="0"/>
          </a:p>
        </p:txBody>
      </p:sp>
      <p:sp>
        <p:nvSpPr>
          <p:cNvPr id="11" name="dot-3"/>
          <p:cNvSpPr/>
          <p:nvPr/>
        </p:nvSpPr>
        <p:spPr>
          <a:xfrm>
            <a:off x="548640" y="3931920"/>
            <a:ext cx="475488" cy="475488"/>
          </a:xfrm>
          <a:prstGeom prst="ellipse">
            <a:avLst/>
          </a:prstGeom>
          <a:solidFill>
            <a:srgbClr val="E8803A"/>
          </a:solidFill>
          <a:ln w="12700">
            <a:solidFill>
              <a:srgbClr val="E8803A"/>
            </a:solidFill>
            <a:prstDash val="solid"/>
          </a:ln>
        </p:spPr>
        <p:txBody>
          <a:bodyPr/>
          <a:lstStyle/>
          <a:p>
            <a:endParaRPr lang="en-US"/>
          </a:p>
        </p:txBody>
      </p:sp>
      <p:sp>
        <p:nvSpPr>
          <p:cNvPr id="12" name="Text 10"/>
          <p:cNvSpPr txBox="1"/>
          <p:nvPr/>
        </p:nvSpPr>
        <p:spPr>
          <a:xfrm>
            <a:off x="548640" y="393192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3" name="Text 11"/>
          <p:cNvSpPr txBox="1"/>
          <p:nvPr/>
        </p:nvSpPr>
        <p:spPr>
          <a:xfrm>
            <a:off x="1207008" y="391363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Set it in the IDE</a:t>
            </a:r>
            <a:endParaRPr lang="en-US" sz="1600" dirty="0"/>
          </a:p>
        </p:txBody>
      </p:sp>
      <p:sp>
        <p:nvSpPr>
          <p:cNvPr id="14" name="Text 12"/>
          <p:cNvSpPr txBox="1"/>
          <p:nvPr/>
        </p:nvSpPr>
        <p:spPr>
          <a:xfrm>
            <a:off x="1207008" y="424281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Upload method becomes STM32CubeProgrammer (SWD), and Port stays empty. Every other setting is on the next slide.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03520" cy="1783080"/>
        </p:xfrm>
        <a:graphic>
          <a:graphicData uri="http://schemas.openxmlformats.org/drawingml/2006/table">
            <a:tbl>
              <a:tblPr/>
              <a:tblGrid>
                <a:gridCol w="19202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ST-Link</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Blue Pill</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6202E"/>
                          </a:solidFill>
                        </a:rPr>
                        <a:t>SWDIO</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DIO   (PA13)</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6202E"/>
                          </a:solidFill>
                        </a:rPr>
                        <a:t>SWCLK</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DCLK  (PA14)</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6202E"/>
                          </a:solidFill>
                        </a:rPr>
                        <a:t>GND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GND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6202E"/>
                          </a:solidFill>
                        </a:rPr>
                        <a:t>3.3V</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3V3  only if unpowered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callout"/>
          <p:cNvSpPr/>
          <p:nvPr/>
        </p:nvSpPr>
        <p:spPr>
          <a:xfrm>
            <a:off x="6309360" y="3383280"/>
            <a:ext cx="5303520" cy="1280160"/>
          </a:xfrm>
          <a:prstGeom prst="roundRect">
            <a:avLst>
              <a:gd name="adj" fmla="val 5714"/>
            </a:avLst>
          </a:prstGeom>
          <a:solidFill>
            <a:srgbClr val="FBEEEC"/>
          </a:solidFill>
          <a:ln w="12700">
            <a:solidFill>
              <a:srgbClr val="F0D3CE"/>
            </a:solidFill>
            <a:prstDash val="solid"/>
          </a:ln>
        </p:spPr>
        <p:txBody>
          <a:bodyPr/>
          <a:lstStyle/>
          <a:p>
            <a:endParaRPr lang="en-US"/>
          </a:p>
        </p:txBody>
      </p:sp>
      <p:sp>
        <p:nvSpPr>
          <p:cNvPr id="17" name="Text 14"/>
          <p:cNvSpPr txBox="1"/>
          <p:nvPr/>
        </p:nvSpPr>
        <p:spPr>
          <a:xfrm>
            <a:off x="6537960" y="3511296"/>
            <a:ext cx="4846320" cy="274320"/>
          </a:xfrm>
          <a:prstGeom prst="rect">
            <a:avLst/>
          </a:prstGeom>
          <a:noFill/>
          <a:ln/>
        </p:spPr>
        <p:txBody>
          <a:bodyPr wrap="square" lIns="0" tIns="0" rIns="0" bIns="0" rtlCol="0" anchor="t"/>
          <a:lstStyle/>
          <a:p>
            <a:pPr marL="0" indent="0" algn="l">
              <a:buNone/>
            </a:pPr>
            <a:r>
              <a:rPr lang="en-US" sz="1400" b="1" dirty="0">
                <a:solidFill>
                  <a:srgbClr val="B3261E"/>
                </a:solidFill>
              </a:rPr>
              <a:t>PA13 and PA14 are not on the side headers</a:t>
            </a:r>
            <a:endParaRPr lang="en-US" sz="1400" dirty="0"/>
          </a:p>
        </p:txBody>
      </p:sp>
      <p:sp>
        <p:nvSpPr>
          <p:cNvPr id="18" name="Text 15"/>
          <p:cNvSpPr txBox="1"/>
          <p:nvPr/>
        </p:nvSpPr>
        <p:spPr>
          <a:xfrm>
            <a:off x="6537960" y="3822192"/>
            <a:ext cx="4846320" cy="7132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Follow the numbering and it jumps from A12 to A15. Both are on the 4-pin header at the far end from the USB socket, labelled DIO and DCLK.</a:t>
            </a:r>
            <a:endParaRPr lang="en-US" sz="1250" dirty="0"/>
          </a:p>
        </p:txBody>
      </p:sp>
      <p:sp>
        <p:nvSpPr>
          <p:cNvPr id="19" name="callout"/>
          <p:cNvSpPr/>
          <p:nvPr/>
        </p:nvSpPr>
        <p:spPr>
          <a:xfrm>
            <a:off x="548640" y="5303520"/>
            <a:ext cx="11064240" cy="777240"/>
          </a:xfrm>
          <a:prstGeom prst="roundRect">
            <a:avLst>
              <a:gd name="adj" fmla="val 9412"/>
            </a:avLst>
          </a:prstGeom>
          <a:solidFill>
            <a:srgbClr val="E8F1F5"/>
          </a:solidFill>
          <a:ln w="12700">
            <a:solidFill>
              <a:srgbClr val="CBE0E9"/>
            </a:solidFill>
            <a:prstDash val="solid"/>
          </a:ln>
        </p:spPr>
        <p:txBody>
          <a:bodyPr/>
          <a:lstStyle/>
          <a:p>
            <a:endParaRPr lang="en-US"/>
          </a:p>
        </p:txBody>
      </p:sp>
      <p:sp>
        <p:nvSpPr>
          <p:cNvPr id="20" name="Text 17"/>
          <p:cNvSpPr txBox="1"/>
          <p:nvPr/>
        </p:nvSpPr>
        <p:spPr>
          <a:xfrm>
            <a:off x="777240" y="543153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What switching to ST-Link buys you</a:t>
            </a:r>
            <a:endParaRPr lang="en-US" sz="1400" dirty="0"/>
          </a:p>
        </p:txBody>
      </p:sp>
      <p:sp>
        <p:nvSpPr>
          <p:cNvPr id="21" name="Text 18"/>
          <p:cNvSpPr txBox="1"/>
          <p:nvPr/>
        </p:nvSpPr>
        <p:spPr>
          <a:xfrm>
            <a:off x="777240" y="5742432"/>
            <a:ext cx="10607040" cy="21031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BOOT0 never moves again, and no COM port is tied up, because the upload does not travel over one.</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BE9ABE8-570B-21E2-A51E-444C1431DB18}"/>
              </a:ext>
            </a:extLst>
          </p:cNvPr>
          <p:cNvPicPr>
            <a:picLocks noChangeAspect="1"/>
          </p:cNvPicPr>
          <p:nvPr/>
        </p:nvPicPr>
        <p:blipFill>
          <a:blip r:embed="rId2"/>
          <a:stretch>
            <a:fillRect/>
          </a:stretch>
        </p:blipFill>
        <p:spPr>
          <a:xfrm>
            <a:off x="8207864" y="1328467"/>
            <a:ext cx="3780541" cy="4503965"/>
          </a:xfrm>
          <a:prstGeom prst="rect">
            <a:avLst/>
          </a:prstGeom>
        </p:spPr>
      </p:pic>
      <p:pic>
        <p:nvPicPr>
          <p:cNvPr id="14" name="Picture 13">
            <a:extLst>
              <a:ext uri="{FF2B5EF4-FFF2-40B4-BE49-F238E27FC236}">
                <a16:creationId xmlns:a16="http://schemas.microsoft.com/office/drawing/2014/main" id="{EE6A27E0-2B56-A81A-45F7-27E53938DF83}"/>
              </a:ext>
            </a:extLst>
          </p:cNvPr>
          <p:cNvPicPr>
            <a:picLocks noChangeAspect="1"/>
          </p:cNvPicPr>
          <p:nvPr/>
        </p:nvPicPr>
        <p:blipFill>
          <a:blip r:embed="rId2"/>
          <a:stretch>
            <a:fillRect/>
          </a:stretch>
        </p:blipFill>
        <p:spPr>
          <a:xfrm>
            <a:off x="3855010" y="1328467"/>
            <a:ext cx="4308551" cy="3916393"/>
          </a:xfrm>
          <a:prstGeom prst="rect">
            <a:avLst/>
          </a:prstGeom>
        </p:spPr>
      </p:pic>
      <p:pic>
        <p:nvPicPr>
          <p:cNvPr id="12" name="Picture 11">
            <a:extLst>
              <a:ext uri="{FF2B5EF4-FFF2-40B4-BE49-F238E27FC236}">
                <a16:creationId xmlns:a16="http://schemas.microsoft.com/office/drawing/2014/main" id="{5DA809ED-F62F-1BE2-5FBD-0A68241CA4A3}"/>
              </a:ext>
            </a:extLst>
          </p:cNvPr>
          <p:cNvPicPr>
            <a:picLocks noChangeAspect="1"/>
          </p:cNvPicPr>
          <p:nvPr/>
        </p:nvPicPr>
        <p:blipFill>
          <a:blip r:embed="rId2"/>
          <a:stretch>
            <a:fillRect/>
          </a:stretch>
        </p:blipFill>
        <p:spPr>
          <a:xfrm>
            <a:off x="250734" y="1182672"/>
            <a:ext cx="3515669" cy="4492655"/>
          </a:xfrm>
          <a:prstGeom prst="rect">
            <a:avLst/>
          </a:prstGeom>
        </p:spPr>
      </p:pic>
      <p:sp>
        <p:nvSpPr>
          <p:cNvPr id="2" name="Title 1">
            <a:extLst>
              <a:ext uri="{FF2B5EF4-FFF2-40B4-BE49-F238E27FC236}">
                <a16:creationId xmlns:a16="http://schemas.microsoft.com/office/drawing/2014/main" id="{4282830E-70BE-05DF-483A-C01703B00889}"/>
              </a:ext>
            </a:extLst>
          </p:cNvPr>
          <p:cNvSpPr>
            <a:spLocks noGrp="1"/>
          </p:cNvSpPr>
          <p:nvPr>
            <p:ph type="title" idx="100"/>
          </p:nvPr>
        </p:nvSpPr>
        <p:spPr>
          <a:xfrm>
            <a:off x="563880" y="384048"/>
            <a:ext cx="11064240" cy="685800"/>
          </a:xfrm>
        </p:spPr>
        <p:txBody>
          <a:bodyPr/>
          <a:lstStyle/>
          <a:p>
            <a:r>
              <a:rPr lang="en-US" dirty="0"/>
              <a:t>Configuration and wire</a:t>
            </a:r>
          </a:p>
        </p:txBody>
      </p:sp>
      <p:pic>
        <p:nvPicPr>
          <p:cNvPr id="4" name="Picture 3">
            <a:extLst>
              <a:ext uri="{FF2B5EF4-FFF2-40B4-BE49-F238E27FC236}">
                <a16:creationId xmlns:a16="http://schemas.microsoft.com/office/drawing/2014/main" id="{1FE1BF96-03C5-43DA-E57B-54D586E7F734}"/>
              </a:ext>
            </a:extLst>
          </p:cNvPr>
          <p:cNvPicPr>
            <a:picLocks noChangeAspect="1"/>
          </p:cNvPicPr>
          <p:nvPr/>
        </p:nvPicPr>
        <p:blipFill>
          <a:blip r:embed="rId3"/>
          <a:stretch>
            <a:fillRect/>
          </a:stretch>
        </p:blipFill>
        <p:spPr>
          <a:xfrm>
            <a:off x="339341" y="1440611"/>
            <a:ext cx="3130166" cy="3589257"/>
          </a:xfrm>
          <a:prstGeom prst="rect">
            <a:avLst/>
          </a:prstGeom>
        </p:spPr>
      </p:pic>
      <p:pic>
        <p:nvPicPr>
          <p:cNvPr id="6" name="Picture 5">
            <a:extLst>
              <a:ext uri="{FF2B5EF4-FFF2-40B4-BE49-F238E27FC236}">
                <a16:creationId xmlns:a16="http://schemas.microsoft.com/office/drawing/2014/main" id="{4FD6BD93-75FE-2E66-3568-A99AEE581A47}"/>
              </a:ext>
            </a:extLst>
          </p:cNvPr>
          <p:cNvPicPr>
            <a:picLocks noChangeAspect="1"/>
          </p:cNvPicPr>
          <p:nvPr/>
        </p:nvPicPr>
        <p:blipFill>
          <a:blip r:embed="rId4"/>
          <a:stretch>
            <a:fillRect/>
          </a:stretch>
        </p:blipFill>
        <p:spPr>
          <a:xfrm>
            <a:off x="3899313" y="1486190"/>
            <a:ext cx="4219944" cy="3643385"/>
          </a:xfrm>
          <a:prstGeom prst="rect">
            <a:avLst/>
          </a:prstGeom>
        </p:spPr>
      </p:pic>
      <p:pic>
        <p:nvPicPr>
          <p:cNvPr id="8" name="Picture 7">
            <a:extLst>
              <a:ext uri="{FF2B5EF4-FFF2-40B4-BE49-F238E27FC236}">
                <a16:creationId xmlns:a16="http://schemas.microsoft.com/office/drawing/2014/main" id="{26882EA9-20B0-1325-8C15-E0F2455C59CB}"/>
              </a:ext>
            </a:extLst>
          </p:cNvPr>
          <p:cNvPicPr>
            <a:picLocks noChangeAspect="1"/>
          </p:cNvPicPr>
          <p:nvPr/>
        </p:nvPicPr>
        <p:blipFill>
          <a:blip r:embed="rId5"/>
          <a:srcRect b="31056"/>
          <a:stretch>
            <a:fillRect/>
          </a:stretch>
        </p:blipFill>
        <p:spPr>
          <a:xfrm>
            <a:off x="8329806" y="1440611"/>
            <a:ext cx="3375953" cy="4298977"/>
          </a:xfrm>
          <a:prstGeom prst="rect">
            <a:avLst/>
          </a:prstGeom>
        </p:spPr>
      </p:pic>
      <p:cxnSp>
        <p:nvCxnSpPr>
          <p:cNvPr id="18" name="Straight Arrow Connector 17">
            <a:extLst>
              <a:ext uri="{FF2B5EF4-FFF2-40B4-BE49-F238E27FC236}">
                <a16:creationId xmlns:a16="http://schemas.microsoft.com/office/drawing/2014/main" id="{7C57985D-5051-2847-3FB2-4A097A208140}"/>
              </a:ext>
            </a:extLst>
          </p:cNvPr>
          <p:cNvCxnSpPr>
            <a:cxnSpLocks/>
          </p:cNvCxnSpPr>
          <p:nvPr/>
        </p:nvCxnSpPr>
        <p:spPr>
          <a:xfrm flipV="1">
            <a:off x="5345430" y="2197100"/>
            <a:ext cx="953770" cy="607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B7F0CBD-655C-2C76-F6F0-52E668A15D3F}"/>
              </a:ext>
            </a:extLst>
          </p:cNvPr>
          <p:cNvCxnSpPr>
            <a:cxnSpLocks/>
          </p:cNvCxnSpPr>
          <p:nvPr/>
        </p:nvCxnSpPr>
        <p:spPr>
          <a:xfrm flipV="1">
            <a:off x="5358765" y="2519680"/>
            <a:ext cx="1161415" cy="412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C4981BA-A447-A07C-5C3E-EC85CCAD21CC}"/>
              </a:ext>
            </a:extLst>
          </p:cNvPr>
          <p:cNvCxnSpPr>
            <a:cxnSpLocks/>
            <a:endCxn id="38" idx="1"/>
          </p:cNvCxnSpPr>
          <p:nvPr/>
        </p:nvCxnSpPr>
        <p:spPr>
          <a:xfrm flipV="1">
            <a:off x="5396865" y="2843524"/>
            <a:ext cx="1161414" cy="166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72F6F9B-0C96-A6E7-549C-A404C6B1205C}"/>
              </a:ext>
            </a:extLst>
          </p:cNvPr>
          <p:cNvCxnSpPr>
            <a:cxnSpLocks/>
          </p:cNvCxnSpPr>
          <p:nvPr/>
        </p:nvCxnSpPr>
        <p:spPr>
          <a:xfrm>
            <a:off x="5396865" y="3097530"/>
            <a:ext cx="1123315" cy="386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32F1A2A-CD6F-66A0-BC7D-D4CFAEE772F6}"/>
              </a:ext>
            </a:extLst>
          </p:cNvPr>
          <p:cNvSpPr txBox="1"/>
          <p:nvPr/>
        </p:nvSpPr>
        <p:spPr>
          <a:xfrm>
            <a:off x="6233159" y="2076339"/>
            <a:ext cx="711200" cy="261610"/>
          </a:xfrm>
          <a:prstGeom prst="rect">
            <a:avLst/>
          </a:prstGeom>
          <a:noFill/>
        </p:spPr>
        <p:txBody>
          <a:bodyPr wrap="square" rtlCol="0">
            <a:spAutoFit/>
          </a:bodyPr>
          <a:lstStyle/>
          <a:p>
            <a:r>
              <a:rPr lang="en-US" sz="1050" b="1" dirty="0">
                <a:ln w="6600">
                  <a:solidFill>
                    <a:schemeClr val="accent2"/>
                  </a:solidFill>
                  <a:prstDash val="solid"/>
                </a:ln>
                <a:solidFill>
                  <a:srgbClr val="FFFFFF"/>
                </a:solidFill>
                <a:effectLst>
                  <a:outerShdw dist="38100" dir="2700000" algn="tl" rotWithShape="0">
                    <a:schemeClr val="accent2"/>
                  </a:outerShdw>
                </a:effectLst>
              </a:rPr>
              <a:t>3v3</a:t>
            </a:r>
          </a:p>
        </p:txBody>
      </p:sp>
      <p:sp>
        <p:nvSpPr>
          <p:cNvPr id="34" name="TextBox 33">
            <a:extLst>
              <a:ext uri="{FF2B5EF4-FFF2-40B4-BE49-F238E27FC236}">
                <a16:creationId xmlns:a16="http://schemas.microsoft.com/office/drawing/2014/main" id="{A9388A68-24AF-CE77-58C3-C4E4C2BF25CB}"/>
              </a:ext>
            </a:extLst>
          </p:cNvPr>
          <p:cNvSpPr txBox="1"/>
          <p:nvPr/>
        </p:nvSpPr>
        <p:spPr>
          <a:xfrm>
            <a:off x="6506210" y="2372879"/>
            <a:ext cx="881380" cy="261610"/>
          </a:xfrm>
          <a:prstGeom prst="rect">
            <a:avLst/>
          </a:prstGeom>
          <a:noFill/>
        </p:spPr>
        <p:txBody>
          <a:bodyPr wrap="square" rtlCol="0">
            <a:spAutoFit/>
          </a:bodyPr>
          <a:lstStyle/>
          <a:p>
            <a:r>
              <a:rPr lang="en-US" sz="1100" b="1" dirty="0">
                <a:ln w="6600">
                  <a:solidFill>
                    <a:schemeClr val="accent2"/>
                  </a:solidFill>
                  <a:prstDash val="solid"/>
                </a:ln>
                <a:solidFill>
                  <a:srgbClr val="FFFFFF"/>
                </a:solidFill>
                <a:effectLst>
                  <a:outerShdw dist="38100" dir="2700000" algn="tl" rotWithShape="0">
                    <a:schemeClr val="accent2"/>
                  </a:outerShdw>
                </a:effectLst>
              </a:rPr>
              <a:t>DIO</a:t>
            </a:r>
          </a:p>
        </p:txBody>
      </p:sp>
      <p:sp>
        <p:nvSpPr>
          <p:cNvPr id="38" name="TextBox 37">
            <a:extLst>
              <a:ext uri="{FF2B5EF4-FFF2-40B4-BE49-F238E27FC236}">
                <a16:creationId xmlns:a16="http://schemas.microsoft.com/office/drawing/2014/main" id="{28B806BE-18BE-6DA7-DDA2-91AEF9C18199}"/>
              </a:ext>
            </a:extLst>
          </p:cNvPr>
          <p:cNvSpPr txBox="1"/>
          <p:nvPr/>
        </p:nvSpPr>
        <p:spPr>
          <a:xfrm>
            <a:off x="6558279" y="2712719"/>
            <a:ext cx="736601" cy="261610"/>
          </a:xfrm>
          <a:prstGeom prst="rect">
            <a:avLst/>
          </a:prstGeom>
          <a:noFill/>
        </p:spPr>
        <p:txBody>
          <a:bodyPr wrap="square" rtlCol="0">
            <a:spAutoFit/>
          </a:bodyPr>
          <a:lstStyle/>
          <a:p>
            <a:r>
              <a:rPr lang="en-US" sz="1100" b="1" dirty="0">
                <a:ln w="6600">
                  <a:solidFill>
                    <a:schemeClr val="accent2"/>
                  </a:solidFill>
                  <a:prstDash val="solid"/>
                </a:ln>
                <a:solidFill>
                  <a:srgbClr val="FFFFFF"/>
                </a:solidFill>
                <a:effectLst>
                  <a:outerShdw dist="38100" dir="2700000" algn="tl" rotWithShape="0">
                    <a:schemeClr val="accent2"/>
                  </a:outerShdw>
                </a:effectLst>
              </a:rPr>
              <a:t>CLK</a:t>
            </a:r>
          </a:p>
        </p:txBody>
      </p:sp>
      <p:sp>
        <p:nvSpPr>
          <p:cNvPr id="41" name="TextBox 40">
            <a:extLst>
              <a:ext uri="{FF2B5EF4-FFF2-40B4-BE49-F238E27FC236}">
                <a16:creationId xmlns:a16="http://schemas.microsoft.com/office/drawing/2014/main" id="{F8D211FB-8880-9691-8138-65AF40912449}"/>
              </a:ext>
            </a:extLst>
          </p:cNvPr>
          <p:cNvSpPr txBox="1"/>
          <p:nvPr/>
        </p:nvSpPr>
        <p:spPr>
          <a:xfrm>
            <a:off x="6506210" y="3298173"/>
            <a:ext cx="769621" cy="369332"/>
          </a:xfrm>
          <a:prstGeom prst="rect">
            <a:avLst/>
          </a:prstGeom>
          <a:noFill/>
        </p:spPr>
        <p:txBody>
          <a:bodyPr wrap="square" rtlCol="0">
            <a:spAutoFit/>
          </a:bodyPr>
          <a:lstStyle/>
          <a:p>
            <a:r>
              <a:rPr lang="en-US" b="1" dirty="0">
                <a:ln w="6600">
                  <a:solidFill>
                    <a:schemeClr val="accent2"/>
                  </a:solidFill>
                  <a:prstDash val="solid"/>
                </a:ln>
                <a:solidFill>
                  <a:srgbClr val="FFFFFF"/>
                </a:solidFill>
                <a:effectLst>
                  <a:outerShdw dist="38100" dir="2700000" algn="tl" rotWithShape="0">
                    <a:schemeClr val="accent2"/>
                  </a:outerShdw>
                </a:effectLst>
              </a:rPr>
              <a:t>GND</a:t>
            </a:r>
            <a:endParaRPr lang="en-US" dirty="0"/>
          </a:p>
        </p:txBody>
      </p:sp>
    </p:spTree>
    <p:extLst>
      <p:ext uri="{BB962C8B-B14F-4D97-AF65-F5344CB8AC3E}">
        <p14:creationId xmlns:p14="http://schemas.microsoft.com/office/powerpoint/2010/main" val="212106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Every Tools setting for the STM32</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038856"/>
        </p:xfrm>
        <a:graphic>
          <a:graphicData uri="http://schemas.openxmlformats.org/drawingml/2006/table">
            <a:tbl>
              <a:tblPr/>
              <a:tblGrid>
                <a:gridCol w="29260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Tools menu</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Set to</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What a wrong value looks like</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6202E"/>
                          </a:solidFill>
                        </a:rPr>
                        <a:t>Board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Generic STM32F1 series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No Upload method entry in the menu at all</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6202E"/>
                          </a:solidFill>
                        </a:rPr>
                        <a:t>Board part number</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BluePill F103C8</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6202E"/>
                          </a:solidFill>
                        </a:rPr>
                        <a:t>Upload method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STM32CubeProgrammer (SWD)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Upload fails, it is calling another route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6202E"/>
                          </a:solidFill>
                        </a:rPr>
                        <a:t>U(S)ART support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Enabled (generic 'Serial')</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No Serial at all, and the log goes with it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6202E"/>
                          </a:solidFill>
                        </a:rPr>
                        <a:t>USB support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None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Serial moves to the USB socket, so the PA9 log falls silent with no error</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50" b="1" dirty="0">
                          <a:solidFill>
                            <a:srgbClr val="16202E"/>
                          </a:solidFill>
                        </a:rPr>
                        <a:t>Optimize, Debug, C Runtime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Leave every default alone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50" b="1" dirty="0">
                          <a:solidFill>
                            <a:srgbClr val="16202E"/>
                          </a:solidFill>
                        </a:rPr>
                        <a:t>Port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Leave it empty</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callout"/>
          <p:cNvSpPr/>
          <p:nvPr/>
        </p:nvSpPr>
        <p:spPr>
          <a:xfrm>
            <a:off x="548640" y="4983480"/>
            <a:ext cx="11064240" cy="960120"/>
          </a:xfrm>
          <a:prstGeom prst="roundRect">
            <a:avLst>
              <a:gd name="adj" fmla="val 7619"/>
            </a:avLst>
          </a:prstGeom>
          <a:solidFill>
            <a:srgbClr val="E8F1F5"/>
          </a:solidFill>
          <a:ln w="12700">
            <a:solidFill>
              <a:srgbClr val="CBE0E9"/>
            </a:solidFill>
            <a:prstDash val="solid"/>
          </a:ln>
        </p:spPr>
        <p:txBody>
          <a:bodyPr/>
          <a:lstStyle/>
          <a:p>
            <a:endParaRPr lang="en-US"/>
          </a:p>
        </p:txBody>
      </p:sp>
      <p:sp>
        <p:nvSpPr>
          <p:cNvPr id="5" name="Text 2"/>
          <p:cNvSpPr txBox="1"/>
          <p:nvPr/>
        </p:nvSpPr>
        <p:spPr>
          <a:xfrm>
            <a:off x="777240" y="511149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The three rows with a note in the last column are the three worth checking twice</a:t>
            </a:r>
            <a:endParaRPr lang="en-US" sz="1400" dirty="0"/>
          </a:p>
        </p:txBody>
      </p:sp>
      <p:sp>
        <p:nvSpPr>
          <p:cNvPr id="6" name="Text 3"/>
          <p:cNvSpPr txBox="1"/>
          <p:nvPr/>
        </p:nvSpPr>
        <p:spPr>
          <a:xfrm>
            <a:off x="777240" y="5422392"/>
            <a:ext cx="10607040" cy="39319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The rest still compile and run if you get them wrong.</a:t>
            </a:r>
            <a:endParaRPr lang="en-US" sz="1250" dirty="0"/>
          </a:p>
          <a:p>
            <a:pPr marL="0" indent="0" algn="l">
              <a:lnSpc>
                <a:spcPct val="120000"/>
              </a:lnSpc>
              <a:buNone/>
            </a:pPr>
            <a:r>
              <a:rPr lang="en-US" sz="1250" dirty="0">
                <a:solidFill>
                  <a:srgbClr val="4A5568"/>
                </a:solidFill>
              </a:rPr>
              <a:t>An empty Port is correct, not a fault: an ST-Link never appears as a COM port in the first place.</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Flashing each board</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txBody>
          <a:bodyPr/>
          <a:lstStyle/>
          <a:p>
            <a:endParaRPr lang="en-US"/>
          </a:p>
        </p:txBody>
      </p:sp>
      <p:sp>
        <p:nvSpPr>
          <p:cNvPr id="4" name="Text 2"/>
          <p:cNvSpPr txBox="1"/>
          <p:nvPr/>
        </p:nvSpPr>
        <p:spPr>
          <a:xfrm>
            <a:off x="548640" y="14630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STM32  over ST-Link</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Open stm32_robot_controller, pick Generic STM32F1 series and press Upload. No BOOT0, no port to choose.</a:t>
            </a:r>
            <a:endParaRPr lang="en-US" sz="1300" dirty="0"/>
          </a:p>
        </p:txBody>
      </p:sp>
      <p:sp>
        <p:nvSpPr>
          <p:cNvPr id="7" name="dot-2"/>
          <p:cNvSpPr/>
          <p:nvPr/>
        </p:nvSpPr>
        <p:spPr>
          <a:xfrm>
            <a:off x="548640" y="2834640"/>
            <a:ext cx="475488" cy="475488"/>
          </a:xfrm>
          <a:prstGeom prst="ellipse">
            <a:avLst/>
          </a:prstGeom>
          <a:solidFill>
            <a:srgbClr val="E8803A"/>
          </a:solidFill>
          <a:ln w="12700">
            <a:solidFill>
              <a:srgbClr val="E8803A"/>
            </a:solidFill>
            <a:prstDash val="solid"/>
          </a:ln>
        </p:spPr>
        <p:txBody>
          <a:bodyPr/>
          <a:lstStyle/>
          <a:p>
            <a:endParaRPr lang="en-US"/>
          </a:p>
        </p:txBody>
      </p:sp>
      <p:sp>
        <p:nvSpPr>
          <p:cNvPr id="8" name="Text 6"/>
          <p:cNvSpPr txBox="1"/>
          <p:nvPr/>
        </p:nvSpPr>
        <p:spPr>
          <a:xfrm>
            <a:off x="548640" y="28346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9" name="Text 7"/>
          <p:cNvSpPr txBox="1"/>
          <p:nvPr/>
        </p:nvSpPr>
        <p:spPr>
          <a:xfrm>
            <a:off x="1207008" y="28163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ESP32 remote  over its own USB</a:t>
            </a:r>
            <a:endParaRPr lang="en-US" sz="1600" dirty="0"/>
          </a:p>
        </p:txBody>
      </p:sp>
      <p:sp>
        <p:nvSpPr>
          <p:cNvPr id="10" name="Text 8"/>
          <p:cNvSpPr txBox="1"/>
          <p:nvPr/>
        </p:nvSpPr>
        <p:spPr>
          <a:xfrm>
            <a:off x="1207008" y="31455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Open esp32_remote_controller and pick ESP32 Dev Module. Adafruit GFX and Adafruit SH110X must be installed or it will not compile.</a:t>
            </a:r>
            <a:endParaRPr lang="en-US" sz="1300" dirty="0"/>
          </a:p>
        </p:txBody>
      </p:sp>
      <p:sp>
        <p:nvSpPr>
          <p:cNvPr id="11" name="dot-3"/>
          <p:cNvSpPr/>
          <p:nvPr/>
        </p:nvSpPr>
        <p:spPr>
          <a:xfrm>
            <a:off x="548640" y="4206240"/>
            <a:ext cx="475488" cy="475488"/>
          </a:xfrm>
          <a:prstGeom prst="ellipse">
            <a:avLst/>
          </a:prstGeom>
          <a:solidFill>
            <a:srgbClr val="E8803A"/>
          </a:solidFill>
          <a:ln w="12700">
            <a:solidFill>
              <a:srgbClr val="E8803A"/>
            </a:solidFill>
            <a:prstDash val="solid"/>
          </a:ln>
        </p:spPr>
        <p:txBody>
          <a:bodyPr/>
          <a:lstStyle/>
          <a:p>
            <a:endParaRPr lang="en-US"/>
          </a:p>
        </p:txBody>
      </p:sp>
      <p:sp>
        <p:nvSpPr>
          <p:cNvPr id="12" name="Text 10"/>
          <p:cNvSpPr txBox="1"/>
          <p:nvPr/>
        </p:nvSpPr>
        <p:spPr>
          <a:xfrm>
            <a:off x="548640" y="42062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3" name="Text 11"/>
          <p:cNvSpPr txBox="1"/>
          <p:nvPr/>
        </p:nvSpPr>
        <p:spPr>
          <a:xfrm>
            <a:off x="1207008" y="41879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ESP32-CAM  over USB-TTL</a:t>
            </a:r>
            <a:endParaRPr lang="en-US" sz="1600" dirty="0"/>
          </a:p>
        </p:txBody>
      </p:sp>
      <p:sp>
        <p:nvSpPr>
          <p:cNvPr id="14" name="Text 12"/>
          <p:cNvSpPr txBox="1"/>
          <p:nvPr/>
        </p:nvSpPr>
        <p:spPr>
          <a:xfrm>
            <a:off x="1207008" y="45171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This board has no USB socket. Tie IO0 to GND before uploading and release it afterwards. Pick AI Thinker ESP32-CAM.</a:t>
            </a:r>
            <a:endParaRPr lang="en-US" sz="1300" dirty="0"/>
          </a:p>
        </p:txBody>
      </p:sp>
      <p:sp>
        <p:nvSpPr>
          <p:cNvPr id="15" name="callout"/>
          <p:cNvSpPr/>
          <p:nvPr/>
        </p:nvSpPr>
        <p:spPr>
          <a:xfrm>
            <a:off x="6309360" y="1463040"/>
            <a:ext cx="5303520" cy="1371600"/>
          </a:xfrm>
          <a:prstGeom prst="roundRect">
            <a:avLst>
              <a:gd name="adj" fmla="val 5333"/>
            </a:avLst>
          </a:prstGeom>
          <a:solidFill>
            <a:srgbClr val="FBEEEC"/>
          </a:solidFill>
          <a:ln w="12700">
            <a:solidFill>
              <a:srgbClr val="F0D3CE"/>
            </a:solidFill>
            <a:prstDash val="solid"/>
          </a:ln>
        </p:spPr>
        <p:txBody>
          <a:bodyPr/>
          <a:lstStyle/>
          <a:p>
            <a:endParaRPr lang="en-US"/>
          </a:p>
        </p:txBody>
      </p:sp>
      <p:sp>
        <p:nvSpPr>
          <p:cNvPr id="16" name="Text 14"/>
          <p:cNvSpPr txBox="1"/>
          <p:nvPr/>
        </p:nvSpPr>
        <p:spPr>
          <a:xfrm>
            <a:off x="6537960" y="1591056"/>
            <a:ext cx="4846320" cy="274320"/>
          </a:xfrm>
          <a:prstGeom prst="rect">
            <a:avLst/>
          </a:prstGeom>
          <a:noFill/>
          <a:ln/>
        </p:spPr>
        <p:txBody>
          <a:bodyPr wrap="square" lIns="0" tIns="0" rIns="0" bIns="0" rtlCol="0" anchor="t"/>
          <a:lstStyle/>
          <a:p>
            <a:pPr marL="0" indent="0" algn="l">
              <a:buNone/>
            </a:pPr>
            <a:r>
              <a:rPr lang="en-US" sz="1400" b="1" dirty="0">
                <a:solidFill>
                  <a:srgbClr val="B3261E"/>
                </a:solidFill>
              </a:rPr>
              <a:t>undefined reference to 'Serial2'</a:t>
            </a:r>
            <a:endParaRPr lang="en-US" sz="1400" dirty="0"/>
          </a:p>
        </p:txBody>
      </p:sp>
      <p:sp>
        <p:nvSpPr>
          <p:cNvPr id="17" name="Text 15"/>
          <p:cNvSpPr txBox="1"/>
          <p:nvPr/>
        </p:nvSpPr>
        <p:spPr>
          <a:xfrm>
            <a:off x="6537960" y="1901952"/>
            <a:ext cx="4846320" cy="80467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Not a mistake in the sketch. The official STM32 core does not create Serial2 and Serial3, so the sketch creates them itself in two lines at the top. Do not delete them.</a:t>
            </a:r>
            <a:endParaRPr lang="en-US" sz="1250" dirty="0"/>
          </a:p>
        </p:txBody>
      </p:sp>
      <p:sp>
        <p:nvSpPr>
          <p:cNvPr id="18" name="callout"/>
          <p:cNvSpPr/>
          <p:nvPr/>
        </p:nvSpPr>
        <p:spPr>
          <a:xfrm>
            <a:off x="6309360" y="3017520"/>
            <a:ext cx="5303520" cy="1828800"/>
          </a:xfrm>
          <a:prstGeom prst="roundRect">
            <a:avLst>
              <a:gd name="adj" fmla="val 4000"/>
            </a:avLst>
          </a:prstGeom>
          <a:solidFill>
            <a:srgbClr val="E8F1F5"/>
          </a:solidFill>
          <a:ln w="12700">
            <a:solidFill>
              <a:srgbClr val="CBE0E9"/>
            </a:solidFill>
            <a:prstDash val="solid"/>
          </a:ln>
        </p:spPr>
        <p:txBody>
          <a:bodyPr/>
          <a:lstStyle/>
          <a:p>
            <a:endParaRPr lang="en-US"/>
          </a:p>
        </p:txBody>
      </p:sp>
      <p:sp>
        <p:nvSpPr>
          <p:cNvPr id="19" name="Text 17"/>
          <p:cNvSpPr txBox="1"/>
          <p:nvPr/>
        </p:nvSpPr>
        <p:spPr>
          <a:xfrm>
            <a:off x="6537960" y="3145536"/>
            <a:ext cx="4846320" cy="274320"/>
          </a:xfrm>
          <a:prstGeom prst="rect">
            <a:avLst/>
          </a:prstGeom>
          <a:noFill/>
          <a:ln/>
        </p:spPr>
        <p:txBody>
          <a:bodyPr wrap="square" lIns="0" tIns="0" rIns="0" bIns="0" rtlCol="0" anchor="t"/>
          <a:lstStyle/>
          <a:p>
            <a:pPr marL="0" indent="0" algn="l">
              <a:buNone/>
            </a:pPr>
            <a:r>
              <a:rPr lang="en-US" sz="1400" b="1" dirty="0">
                <a:solidFill>
                  <a:srgbClr val="1C7293"/>
                </a:solidFill>
              </a:rPr>
              <a:t>Knowing the upload took</a:t>
            </a:r>
            <a:endParaRPr lang="en-US" sz="1400" dirty="0"/>
          </a:p>
        </p:txBody>
      </p:sp>
      <p:sp>
        <p:nvSpPr>
          <p:cNvPr id="20" name="Text 18"/>
          <p:cNvSpPr txBox="1"/>
          <p:nvPr/>
        </p:nvSpPr>
        <p:spPr>
          <a:xfrm>
            <a:off x="6537960" y="3456432"/>
            <a:ext cx="4846320" cy="126187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ST-Link prints Download verified successfully, which it only does after reading the flash back and comparing it to the file.</a:t>
            </a:r>
            <a:endParaRPr lang="en-US" sz="1250" dirty="0"/>
          </a:p>
          <a:p>
            <a:pPr marL="0" indent="0" algn="l">
              <a:lnSpc>
                <a:spcPct val="120000"/>
              </a:lnSpc>
              <a:buNone/>
            </a:pPr>
            <a:endParaRPr lang="en-US" sz="1250" dirty="0"/>
          </a:p>
          <a:p>
            <a:pPr marL="0" indent="0" algn="l">
              <a:lnSpc>
                <a:spcPct val="120000"/>
              </a:lnSpc>
              <a:buNone/>
            </a:pPr>
            <a:r>
              <a:rPr lang="en-US" sz="1250" dirty="0">
                <a:solidFill>
                  <a:srgbClr val="4A5568"/>
                </a:solidFill>
              </a:rPr>
              <a:t>Otherwise open the Serial Monitor at 115200, reset, and check the compile timestamp against the upload you just made.</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Flashing without the IDE</a:t>
            </a:r>
            <a:endParaRPr lang="en-US" sz="3200" dirty="0"/>
          </a:p>
        </p:txBody>
      </p:sp>
      <p:sp>
        <p:nvSpPr>
          <p:cNvPr id="3" name="dot-1"/>
          <p:cNvSpPr/>
          <p:nvPr/>
        </p:nvSpPr>
        <p:spPr>
          <a:xfrm>
            <a:off x="548640" y="1417320"/>
            <a:ext cx="475488" cy="475488"/>
          </a:xfrm>
          <a:prstGeom prst="ellipse">
            <a:avLst/>
          </a:prstGeom>
          <a:solidFill>
            <a:srgbClr val="E8803A"/>
          </a:solidFill>
          <a:ln w="12700">
            <a:solidFill>
              <a:srgbClr val="E8803A"/>
            </a:solidFill>
            <a:prstDash val="solid"/>
          </a:ln>
        </p:spPr>
        <p:txBody>
          <a:bodyPr/>
          <a:lstStyle/>
          <a:p>
            <a:endParaRPr lang="en-US"/>
          </a:p>
        </p:txBody>
      </p:sp>
      <p:sp>
        <p:nvSpPr>
          <p:cNvPr id="4" name="Text 2"/>
          <p:cNvSpPr txBox="1"/>
          <p:nvPr/>
        </p:nvSpPr>
        <p:spPr>
          <a:xfrm>
            <a:off x="548640" y="141732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5" name="Text 3"/>
          <p:cNvSpPr txBox="1"/>
          <p:nvPr/>
        </p:nvSpPr>
        <p:spPr>
          <a:xfrm>
            <a:off x="1207008" y="139903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Export the binary first</a:t>
            </a:r>
            <a:endParaRPr lang="en-US" sz="1600" dirty="0"/>
          </a:p>
        </p:txBody>
      </p:sp>
      <p:sp>
        <p:nvSpPr>
          <p:cNvPr id="6" name="Text 4"/>
          <p:cNvSpPr txBox="1"/>
          <p:nvPr/>
        </p:nvSpPr>
        <p:spPr>
          <a:xfrm>
            <a:off x="1207008" y="172821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Sketch &gt; Export Compiled Binary. STM32CubeProgrammer cannot compile; it only writes a finished file to the chip.</a:t>
            </a:r>
            <a:endParaRPr lang="en-US" sz="1300" dirty="0"/>
          </a:p>
        </p:txBody>
      </p:sp>
      <p:sp>
        <p:nvSpPr>
          <p:cNvPr id="7" name="Text 5"/>
          <p:cNvSpPr txBox="1"/>
          <p:nvPr/>
        </p:nvSpPr>
        <p:spPr>
          <a:xfrm>
            <a:off x="1207008" y="2606040"/>
            <a:ext cx="4572000" cy="548640"/>
          </a:xfrm>
          <a:prstGeom prst="rect">
            <a:avLst/>
          </a:prstGeom>
          <a:noFill/>
          <a:ln/>
        </p:spPr>
        <p:txBody>
          <a:bodyPr wrap="square" lIns="0" tIns="0" rIns="0" bIns="0" rtlCol="0" anchor="t"/>
          <a:lstStyle/>
          <a:p>
            <a:pPr marL="0" indent="0" algn="l">
              <a:lnSpc>
                <a:spcPct val="120000"/>
              </a:lnSpc>
              <a:buNone/>
            </a:pPr>
            <a:r>
              <a:rPr lang="en-US" sz="1050" dirty="0">
                <a:solidFill>
                  <a:srgbClr val="1C7293"/>
                </a:solidFill>
                <a:latin typeface="Courier New" pitchFamily="34" charset="0"/>
                <a:ea typeface="Courier New" pitchFamily="34" charset="-122"/>
                <a:cs typeface="Courier New" pitchFamily="34" charset="-120"/>
              </a:rPr>
              <a:t>stm32_robot_controller\build\</a:t>
            </a:r>
            <a:endParaRPr lang="en-US" sz="1050" dirty="0"/>
          </a:p>
          <a:p>
            <a:pPr marL="0" indent="0" algn="l">
              <a:lnSpc>
                <a:spcPct val="120000"/>
              </a:lnSpc>
              <a:buNone/>
            </a:pPr>
            <a:r>
              <a:rPr lang="en-US" sz="1050" dirty="0">
                <a:solidFill>
                  <a:srgbClr val="1C7293"/>
                </a:solidFill>
                <a:latin typeface="Courier New" pitchFamily="34" charset="0"/>
                <a:ea typeface="Courier New" pitchFamily="34" charset="-122"/>
                <a:cs typeface="Courier New" pitchFamily="34" charset="-120"/>
              </a:rPr>
              <a:t>STMicroelectronics.stm32.GenF1\</a:t>
            </a:r>
            <a:endParaRPr lang="en-US" sz="1050" dirty="0"/>
          </a:p>
        </p:txBody>
      </p:sp>
      <p:sp>
        <p:nvSpPr>
          <p:cNvPr id="8" name="dot-2"/>
          <p:cNvSpPr/>
          <p:nvPr/>
        </p:nvSpPr>
        <p:spPr>
          <a:xfrm>
            <a:off x="548640" y="3291840"/>
            <a:ext cx="475488" cy="475488"/>
          </a:xfrm>
          <a:prstGeom prst="ellipse">
            <a:avLst/>
          </a:prstGeom>
          <a:solidFill>
            <a:srgbClr val="E8803A"/>
          </a:solidFill>
          <a:ln w="12700">
            <a:solidFill>
              <a:srgbClr val="E8803A"/>
            </a:solidFill>
            <a:prstDash val="solid"/>
          </a:ln>
        </p:spPr>
        <p:txBody>
          <a:bodyPr/>
          <a:lstStyle/>
          <a:p>
            <a:endParaRPr lang="en-US"/>
          </a:p>
        </p:txBody>
      </p:sp>
      <p:sp>
        <p:nvSpPr>
          <p:cNvPr id="9" name="Text 7"/>
          <p:cNvSpPr txBox="1"/>
          <p:nvPr/>
        </p:nvSpPr>
        <p:spPr>
          <a:xfrm>
            <a:off x="548640" y="32918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0" name="Text 8"/>
          <p:cNvSpPr txBox="1"/>
          <p:nvPr/>
        </p:nvSpPr>
        <p:spPr>
          <a:xfrm>
            <a:off x="1207008" y="32735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Then write it to the chip</a:t>
            </a:r>
            <a:endParaRPr lang="en-US" sz="1600" dirty="0"/>
          </a:p>
        </p:txBody>
      </p:sp>
      <p:sp>
        <p:nvSpPr>
          <p:cNvPr id="11" name="Text 9"/>
          <p:cNvSpPr txBox="1"/>
          <p:nvPr/>
        </p:nvSpPr>
        <p:spPr>
          <a:xfrm>
            <a:off x="1207008" y="36027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Leave the ST-Link connected as usual and run the command below.</a:t>
            </a:r>
            <a:endParaRPr lang="en-US" sz="1300" dirty="0"/>
          </a:p>
        </p:txBody>
      </p:sp>
      <p:sp>
        <p:nvSpPr>
          <p:cNvPr id="12" name="cmd-box"/>
          <p:cNvSpPr/>
          <p:nvPr/>
        </p:nvSpPr>
        <p:spPr>
          <a:xfrm>
            <a:off x="548640" y="4069080"/>
            <a:ext cx="5212080" cy="1051560"/>
          </a:xfrm>
          <a:prstGeom prst="roundRect">
            <a:avLst>
              <a:gd name="adj" fmla="val 8696"/>
            </a:avLst>
          </a:prstGeom>
          <a:solidFill>
            <a:schemeClr val="tx1"/>
          </a:solidFill>
          <a:ln w="12700">
            <a:solidFill>
              <a:schemeClr val="tx1"/>
            </a:solidFill>
            <a:prstDash val="solid"/>
          </a:ln>
        </p:spPr>
        <p:txBody>
          <a:bodyPr/>
          <a:lstStyle/>
          <a:p>
            <a:endParaRPr lang="en-US"/>
          </a:p>
        </p:txBody>
      </p:sp>
      <p:sp>
        <p:nvSpPr>
          <p:cNvPr id="13" name="Text 11"/>
          <p:cNvSpPr txBox="1"/>
          <p:nvPr/>
        </p:nvSpPr>
        <p:spPr>
          <a:xfrm>
            <a:off x="804672" y="4224528"/>
            <a:ext cx="4700016" cy="740664"/>
          </a:xfrm>
          <a:prstGeom prst="rect">
            <a:avLst/>
          </a:prstGeom>
          <a:noFill/>
          <a:ln/>
        </p:spPr>
        <p:txBody>
          <a:bodyPr wrap="square" lIns="0" tIns="0" rIns="0" bIns="0" rtlCol="0" anchor="t"/>
          <a:lstStyle/>
          <a:p>
            <a:pPr marL="0" indent="0" algn="l">
              <a:lnSpc>
                <a:spcPct val="120000"/>
              </a:lnSpc>
              <a:buNone/>
            </a:pPr>
            <a:r>
              <a:rPr lang="en-US" sz="1100" dirty="0">
                <a:solidFill>
                  <a:srgbClr val="E8803A"/>
                </a:solidFill>
                <a:latin typeface="Courier New" pitchFamily="34" charset="0"/>
                <a:ea typeface="Courier New" pitchFamily="34" charset="-122"/>
                <a:cs typeface="Courier New" pitchFamily="34" charset="-120"/>
              </a:rPr>
              <a:t>STM32_Programmer_CLI.exe -c port=SWD</a:t>
            </a:r>
            <a:endParaRPr lang="en-US" sz="1100" dirty="0"/>
          </a:p>
          <a:p>
            <a:pPr marL="0" indent="0" algn="l">
              <a:lnSpc>
                <a:spcPct val="120000"/>
              </a:lnSpc>
              <a:buNone/>
            </a:pPr>
            <a:r>
              <a:rPr lang="en-US" sz="1100" dirty="0">
                <a:solidFill>
                  <a:srgbClr val="E8803A"/>
                </a:solidFill>
                <a:latin typeface="Courier New" pitchFamily="34" charset="0"/>
                <a:ea typeface="Courier New" pitchFamily="34" charset="-122"/>
                <a:cs typeface="Courier New" pitchFamily="34" charset="-120"/>
              </a:rPr>
              <a:t>   mode=UR -w firmware.bin 0x08000000</a:t>
            </a:r>
            <a:endParaRPr lang="en-US" sz="1100" dirty="0"/>
          </a:p>
          <a:p>
            <a:pPr marL="0" indent="0" algn="l">
              <a:lnSpc>
                <a:spcPct val="120000"/>
              </a:lnSpc>
              <a:buNone/>
            </a:pPr>
            <a:r>
              <a:rPr lang="en-US" sz="1100" dirty="0">
                <a:solidFill>
                  <a:srgbClr val="E8803A"/>
                </a:solidFill>
                <a:latin typeface="Courier New" pitchFamily="34" charset="0"/>
                <a:ea typeface="Courier New" pitchFamily="34" charset="-122"/>
                <a:cs typeface="Courier New" pitchFamily="34" charset="-120"/>
              </a:rPr>
              <a:t>   -v -rst</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175260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Part of the command</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What it does</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6202E"/>
                          </a:solidFill>
                        </a:rPr>
                        <a:t>-c port=SWD mode=UR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Connect through ST-Link</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6202E"/>
                          </a:solidFill>
                        </a:rPr>
                        <a:t>-w file 0x08000000</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Write to the start of flash</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6202E"/>
                          </a:solidFill>
                        </a:rPr>
                        <a:t>-v</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Read it back and compare</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6202E"/>
                          </a:solidFill>
                        </a:rPr>
                        <a:t>-rst</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Reset so it runs straight away</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callout"/>
          <p:cNvSpPr/>
          <p:nvPr/>
        </p:nvSpPr>
        <p:spPr>
          <a:xfrm>
            <a:off x="6309360" y="3291840"/>
            <a:ext cx="5303520" cy="1325880"/>
          </a:xfrm>
          <a:prstGeom prst="roundRect">
            <a:avLst>
              <a:gd name="adj" fmla="val 5517"/>
            </a:avLst>
          </a:prstGeom>
          <a:solidFill>
            <a:srgbClr val="FBEEEC"/>
          </a:solidFill>
          <a:ln w="12700">
            <a:solidFill>
              <a:srgbClr val="F0D3CE"/>
            </a:solidFill>
            <a:prstDash val="solid"/>
          </a:ln>
        </p:spPr>
        <p:txBody>
          <a:bodyPr/>
          <a:lstStyle/>
          <a:p>
            <a:endParaRPr lang="en-US"/>
          </a:p>
        </p:txBody>
      </p:sp>
      <p:sp>
        <p:nvSpPr>
          <p:cNvPr id="16" name="Text 13"/>
          <p:cNvSpPr txBox="1"/>
          <p:nvPr/>
        </p:nvSpPr>
        <p:spPr>
          <a:xfrm>
            <a:off x="6537960" y="3419856"/>
            <a:ext cx="4846320" cy="274320"/>
          </a:xfrm>
          <a:prstGeom prst="rect">
            <a:avLst/>
          </a:prstGeom>
          <a:noFill/>
          <a:ln/>
        </p:spPr>
        <p:txBody>
          <a:bodyPr wrap="square" lIns="0" tIns="0" rIns="0" bIns="0" rtlCol="0" anchor="t"/>
          <a:lstStyle/>
          <a:p>
            <a:pPr marL="0" indent="0" algn="l">
              <a:buNone/>
            </a:pPr>
            <a:r>
              <a:rPr lang="en-US" sz="1400" b="1" dirty="0">
                <a:solidFill>
                  <a:srgbClr val="B3261E"/>
                </a:solidFill>
              </a:rPr>
              <a:t>The address belongs to .bin only</a:t>
            </a:r>
            <a:endParaRPr lang="en-US" sz="1400" dirty="0"/>
          </a:p>
        </p:txBody>
      </p:sp>
      <p:sp>
        <p:nvSpPr>
          <p:cNvPr id="17" name="Text 14"/>
          <p:cNvSpPr txBox="1"/>
          <p:nvPr/>
        </p:nvSpPr>
        <p:spPr>
          <a:xfrm>
            <a:off x="6537960" y="3730752"/>
            <a:ext cx="4846320" cy="75895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A .hex carries its own address, so pass it as -w file.hex with no number after it, or the file lands in the wrong place.</a:t>
            </a:r>
            <a:endParaRPr lang="en-US" sz="1250" dirty="0"/>
          </a:p>
        </p:txBody>
      </p:sp>
      <p:sp>
        <p:nvSpPr>
          <p:cNvPr id="18" name="callout"/>
          <p:cNvSpPr/>
          <p:nvPr/>
        </p:nvSpPr>
        <p:spPr>
          <a:xfrm>
            <a:off x="548640" y="5303520"/>
            <a:ext cx="11064240" cy="777240"/>
          </a:xfrm>
          <a:prstGeom prst="roundRect">
            <a:avLst>
              <a:gd name="adj" fmla="val 9412"/>
            </a:avLst>
          </a:prstGeom>
          <a:solidFill>
            <a:srgbClr val="E8F1F5"/>
          </a:solidFill>
          <a:ln w="12700">
            <a:solidFill>
              <a:srgbClr val="CBE0E9"/>
            </a:solidFill>
            <a:prstDash val="solid"/>
          </a:ln>
        </p:spPr>
        <p:txBody>
          <a:bodyPr/>
          <a:lstStyle/>
          <a:p>
            <a:endParaRPr lang="en-US"/>
          </a:p>
        </p:txBody>
      </p:sp>
      <p:sp>
        <p:nvSpPr>
          <p:cNvPr id="19" name="Text 16"/>
          <p:cNvSpPr txBox="1"/>
          <p:nvPr/>
        </p:nvSpPr>
        <p:spPr>
          <a:xfrm>
            <a:off x="777240" y="543153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When this is worth it</a:t>
            </a:r>
            <a:endParaRPr lang="en-US" sz="1400" dirty="0"/>
          </a:p>
        </p:txBody>
      </p:sp>
      <p:sp>
        <p:nvSpPr>
          <p:cNvPr id="20" name="Text 17"/>
          <p:cNvSpPr txBox="1"/>
          <p:nvPr/>
        </p:nvSpPr>
        <p:spPr>
          <a:xfrm>
            <a:off x="777240" y="5742432"/>
            <a:ext cx="10607040" cy="21031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Putting one build on several boards, or handing a build to someone who should not need the whole toolchain.  For one edit and one upload, the IDE button is quicker.</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377440"/>
            <a:ext cx="11064240" cy="457200"/>
          </a:xfrm>
          <a:prstGeom prst="rect">
            <a:avLst/>
          </a:prstGeom>
          <a:noFill/>
          <a:ln/>
        </p:spPr>
        <p:txBody>
          <a:bodyPr wrap="square" rtlCol="0"/>
          <a:lstStyle/>
          <a:p>
            <a:pPr marL="0" indent="0" algn="l">
              <a:buNone/>
            </a:pPr>
            <a:r>
              <a:rPr lang="en-US" sz="6000" b="1" dirty="0">
                <a:solidFill>
                  <a:srgbClr val="E8803A"/>
                </a:solidFill>
              </a:rPr>
              <a:t>02</a:t>
            </a:r>
            <a:endParaRPr lang="en-US" sz="6000" dirty="0"/>
          </a:p>
        </p:txBody>
      </p:sp>
      <p:sp>
        <p:nvSpPr>
          <p:cNvPr id="3" name="Text 0"/>
          <p:cNvSpPr>
            <a:spLocks noGrp="1"/>
          </p:cNvSpPr>
          <p:nvPr>
            <p:ph type="title" idx="101" hasCustomPrompt="1"/>
          </p:nvPr>
        </p:nvSpPr>
        <p:spPr>
          <a:xfrm>
            <a:off x="548640" y="3200400"/>
            <a:ext cx="11064240" cy="914400"/>
          </a:xfrm>
          <a:prstGeom prst="rect">
            <a:avLst/>
          </a:prstGeom>
          <a:noFill/>
          <a:ln/>
        </p:spPr>
        <p:txBody>
          <a:bodyPr wrap="square" rtlCol="0"/>
          <a:lstStyle/>
          <a:p>
            <a:pPr marL="0" indent="0" algn="l">
              <a:buNone/>
            </a:pPr>
            <a:r>
              <a:rPr lang="en-US" sz="4000" b="1" dirty="0">
                <a:solidFill>
                  <a:schemeClr val="bg1"/>
                </a:solidFill>
              </a:rPr>
              <a:t>Running it</a:t>
            </a:r>
            <a:endParaRPr lang="en-US" sz="4000" dirty="0"/>
          </a:p>
        </p:txBody>
      </p:sp>
      <p:sp>
        <p:nvSpPr>
          <p:cNvPr id="4" name="Text 0"/>
          <p:cNvSpPr>
            <a:spLocks noGrp="1"/>
          </p:cNvSpPr>
          <p:nvPr>
            <p:ph type="body" idx="102" hasCustomPrompt="1"/>
          </p:nvPr>
        </p:nvSpPr>
        <p:spPr>
          <a:xfrm>
            <a:off x="548640" y="4206240"/>
            <a:ext cx="8686800" cy="914400"/>
          </a:xfrm>
          <a:prstGeom prst="rect">
            <a:avLst/>
          </a:prstGeom>
          <a:noFill/>
          <a:ln/>
        </p:spPr>
        <p:txBody>
          <a:bodyPr wrap="square" rtlCol="0"/>
          <a:lstStyle/>
          <a:p>
            <a:pPr marL="0" indent="0" algn="l">
              <a:buNone/>
            </a:pPr>
            <a:r>
              <a:rPr lang="en-US" sz="1600" dirty="0">
                <a:solidFill>
                  <a:srgbClr val="B9C6D4"/>
                </a:solidFill>
              </a:rPr>
              <a:t>The order to switch things on, what the screen says, and what gets logged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Six steps to a first run</a:t>
            </a:r>
            <a:endParaRPr lang="en-US" sz="3200" dirty="0"/>
          </a:p>
        </p:txBody>
      </p:sp>
      <p:sp>
        <p:nvSpPr>
          <p:cNvPr id="3" name="dot-1"/>
          <p:cNvSpPr/>
          <p:nvPr/>
        </p:nvSpPr>
        <p:spPr>
          <a:xfrm>
            <a:off x="548640" y="1463040"/>
            <a:ext cx="475488" cy="475488"/>
          </a:xfrm>
          <a:prstGeom prst="ellipse">
            <a:avLst/>
          </a:prstGeom>
          <a:solidFill>
            <a:srgbClr val="E8803A"/>
          </a:solidFill>
          <a:ln w="12700">
            <a:solidFill>
              <a:srgbClr val="E8803A"/>
            </a:solidFill>
            <a:prstDash val="solid"/>
          </a:ln>
        </p:spPr>
        <p:txBody>
          <a:bodyPr/>
          <a:lstStyle/>
          <a:p>
            <a:endParaRPr lang="en-US"/>
          </a:p>
        </p:txBody>
      </p:sp>
      <p:sp>
        <p:nvSpPr>
          <p:cNvPr id="4" name="Text 2"/>
          <p:cNvSpPr txBox="1"/>
          <p:nvPr/>
        </p:nvSpPr>
        <p:spPr>
          <a:xfrm>
            <a:off x="548640" y="14630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5" name="Text 3"/>
          <p:cNvSpPr txBox="1"/>
          <p:nvPr/>
        </p:nvSpPr>
        <p:spPr>
          <a:xfrm>
            <a:off x="1207008" y="14447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Power the robot</a:t>
            </a:r>
            <a:endParaRPr lang="en-US" sz="1600" dirty="0"/>
          </a:p>
        </p:txBody>
      </p:sp>
      <p:sp>
        <p:nvSpPr>
          <p:cNvPr id="6" name="Text 4"/>
          <p:cNvSpPr txBox="1"/>
          <p:nvPr/>
        </p:nvSpPr>
        <p:spPr>
          <a:xfrm>
            <a:off x="1207008" y="17739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The welcome screen holds for 2.5 seconds, then the status screen takes over</a:t>
            </a:r>
            <a:endParaRPr lang="en-US" sz="1300" dirty="0"/>
          </a:p>
        </p:txBody>
      </p:sp>
      <p:sp>
        <p:nvSpPr>
          <p:cNvPr id="7" name="dot-2"/>
          <p:cNvSpPr/>
          <p:nvPr/>
        </p:nvSpPr>
        <p:spPr>
          <a:xfrm>
            <a:off x="6400800" y="1463040"/>
            <a:ext cx="475488" cy="475488"/>
          </a:xfrm>
          <a:prstGeom prst="ellipse">
            <a:avLst/>
          </a:prstGeom>
          <a:solidFill>
            <a:srgbClr val="E8803A"/>
          </a:solidFill>
          <a:ln w="12700">
            <a:solidFill>
              <a:srgbClr val="E8803A"/>
            </a:solidFill>
            <a:prstDash val="solid"/>
          </a:ln>
        </p:spPr>
        <p:txBody>
          <a:bodyPr/>
          <a:lstStyle/>
          <a:p>
            <a:endParaRPr lang="en-US"/>
          </a:p>
        </p:txBody>
      </p:sp>
      <p:sp>
        <p:nvSpPr>
          <p:cNvPr id="8" name="Text 6"/>
          <p:cNvSpPr txBox="1"/>
          <p:nvPr/>
        </p:nvSpPr>
        <p:spPr>
          <a:xfrm>
            <a:off x="6400800" y="146304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9" name="Text 7"/>
          <p:cNvSpPr txBox="1"/>
          <p:nvPr/>
        </p:nvSpPr>
        <p:spPr>
          <a:xfrm>
            <a:off x="7059168" y="1444752"/>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Join the robot’s Wi-Fi</a:t>
            </a:r>
            <a:endParaRPr lang="en-US" sz="1600" dirty="0"/>
          </a:p>
        </p:txBody>
      </p:sp>
      <p:sp>
        <p:nvSpPr>
          <p:cNvPr id="10" name="Text 8"/>
          <p:cNvSpPr txBox="1"/>
          <p:nvPr/>
        </p:nvSpPr>
        <p:spPr>
          <a:xfrm>
            <a:off x="7059168" y="1773936"/>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My_Robot2, password1234. Both the phone and the PC need to be on it</a:t>
            </a:r>
            <a:endParaRPr lang="en-US" sz="1300" dirty="0"/>
          </a:p>
        </p:txBody>
      </p:sp>
      <p:sp>
        <p:nvSpPr>
          <p:cNvPr id="11" name="dot-3"/>
          <p:cNvSpPr/>
          <p:nvPr/>
        </p:nvSpPr>
        <p:spPr>
          <a:xfrm>
            <a:off x="548640" y="2761488"/>
            <a:ext cx="475488" cy="475488"/>
          </a:xfrm>
          <a:prstGeom prst="ellipse">
            <a:avLst/>
          </a:prstGeom>
          <a:solidFill>
            <a:srgbClr val="E8803A"/>
          </a:solidFill>
          <a:ln w="12700">
            <a:solidFill>
              <a:srgbClr val="E8803A"/>
            </a:solidFill>
            <a:prstDash val="solid"/>
          </a:ln>
        </p:spPr>
        <p:txBody>
          <a:bodyPr/>
          <a:lstStyle/>
          <a:p>
            <a:endParaRPr lang="en-US"/>
          </a:p>
        </p:txBody>
      </p:sp>
      <p:sp>
        <p:nvSpPr>
          <p:cNvPr id="12" name="Text 10"/>
          <p:cNvSpPr txBox="1"/>
          <p:nvPr/>
        </p:nvSpPr>
        <p:spPr>
          <a:xfrm>
            <a:off x="548640" y="276148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3" name="Text 11"/>
          <p:cNvSpPr txBox="1"/>
          <p:nvPr/>
        </p:nvSpPr>
        <p:spPr>
          <a:xfrm>
            <a:off x="1207008" y="2743200"/>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Open the web page</a:t>
            </a:r>
            <a:endParaRPr lang="en-US" sz="1600" dirty="0"/>
          </a:p>
        </p:txBody>
      </p:sp>
      <p:sp>
        <p:nvSpPr>
          <p:cNvPr id="14" name="Text 12"/>
          <p:cNvSpPr txBox="1"/>
          <p:nvPr/>
        </p:nvSpPr>
        <p:spPr>
          <a:xfrm>
            <a:off x="1207008" y="3072384"/>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Browse to 192.168.4.1. The camera image appears once the ESP32-CAM has joined</a:t>
            </a:r>
            <a:endParaRPr lang="en-US" sz="1300" dirty="0"/>
          </a:p>
        </p:txBody>
      </p:sp>
      <p:sp>
        <p:nvSpPr>
          <p:cNvPr id="15" name="dot-4"/>
          <p:cNvSpPr/>
          <p:nvPr/>
        </p:nvSpPr>
        <p:spPr>
          <a:xfrm>
            <a:off x="6400800" y="2761488"/>
            <a:ext cx="475488" cy="475488"/>
          </a:xfrm>
          <a:prstGeom prst="ellipse">
            <a:avLst/>
          </a:prstGeom>
          <a:solidFill>
            <a:srgbClr val="E8803A"/>
          </a:solidFill>
          <a:ln w="12700">
            <a:solidFill>
              <a:srgbClr val="E8803A"/>
            </a:solidFill>
            <a:prstDash val="solid"/>
          </a:ln>
        </p:spPr>
        <p:txBody>
          <a:bodyPr/>
          <a:lstStyle/>
          <a:p>
            <a:endParaRPr lang="en-US"/>
          </a:p>
        </p:txBody>
      </p:sp>
      <p:sp>
        <p:nvSpPr>
          <p:cNvPr id="16" name="Text 14"/>
          <p:cNvSpPr txBox="1"/>
          <p:nvPr/>
        </p:nvSpPr>
        <p:spPr>
          <a:xfrm>
            <a:off x="6400800" y="276148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7" name="Text 15"/>
          <p:cNvSpPr txBox="1"/>
          <p:nvPr/>
        </p:nvSpPr>
        <p:spPr>
          <a:xfrm>
            <a:off x="7059168" y="2743200"/>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Raise the speed slider</a:t>
            </a:r>
            <a:endParaRPr lang="en-US" sz="1600" dirty="0"/>
          </a:p>
        </p:txBody>
      </p:sp>
      <p:sp>
        <p:nvSpPr>
          <p:cNvPr id="18" name="Text 16"/>
          <p:cNvSpPr txBox="1"/>
          <p:nvPr/>
        </p:nvSpPr>
        <p:spPr>
          <a:xfrm>
            <a:off x="7059168" y="3072384"/>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It starts at 0 every time. Leave it there and the robot will not move, auto or not</a:t>
            </a:r>
            <a:endParaRPr lang="en-US" sz="1300" dirty="0"/>
          </a:p>
        </p:txBody>
      </p:sp>
      <p:sp>
        <p:nvSpPr>
          <p:cNvPr id="19" name="dot-5"/>
          <p:cNvSpPr/>
          <p:nvPr/>
        </p:nvSpPr>
        <p:spPr>
          <a:xfrm>
            <a:off x="548640" y="4059936"/>
            <a:ext cx="475488" cy="475488"/>
          </a:xfrm>
          <a:prstGeom prst="ellipse">
            <a:avLst/>
          </a:prstGeom>
          <a:solidFill>
            <a:srgbClr val="E8803A"/>
          </a:solidFill>
          <a:ln w="12700">
            <a:solidFill>
              <a:srgbClr val="E8803A"/>
            </a:solidFill>
            <a:prstDash val="solid"/>
          </a:ln>
        </p:spPr>
        <p:txBody>
          <a:bodyPr/>
          <a:lstStyle/>
          <a:p>
            <a:endParaRPr lang="en-US"/>
          </a:p>
        </p:txBody>
      </p:sp>
      <p:sp>
        <p:nvSpPr>
          <p:cNvPr id="20" name="Text 18"/>
          <p:cNvSpPr txBox="1"/>
          <p:nvPr/>
        </p:nvSpPr>
        <p:spPr>
          <a:xfrm>
            <a:off x="548640" y="4059936"/>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1" name="Text 19"/>
          <p:cNvSpPr txBox="1"/>
          <p:nvPr/>
        </p:nvSpPr>
        <p:spPr>
          <a:xfrm>
            <a:off x="1207008" y="4041648"/>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Start the PC script</a:t>
            </a:r>
            <a:endParaRPr lang="en-US" sz="1600" dirty="0"/>
          </a:p>
        </p:txBody>
      </p:sp>
      <p:sp>
        <p:nvSpPr>
          <p:cNvPr id="22" name="Text 20"/>
          <p:cNvSpPr txBox="1"/>
          <p:nvPr/>
        </p:nvSpPr>
        <p:spPr>
          <a:xfrm>
            <a:off x="1207008" y="4370832"/>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py pc_qr_scanner/qr_scanner.py. It finds the camera on the network by itself</a:t>
            </a:r>
            <a:endParaRPr lang="en-US" sz="1300" dirty="0"/>
          </a:p>
        </p:txBody>
      </p:sp>
      <p:sp>
        <p:nvSpPr>
          <p:cNvPr id="23" name="dot-6"/>
          <p:cNvSpPr/>
          <p:nvPr/>
        </p:nvSpPr>
        <p:spPr>
          <a:xfrm>
            <a:off x="6400800" y="4059936"/>
            <a:ext cx="475488" cy="475488"/>
          </a:xfrm>
          <a:prstGeom prst="ellipse">
            <a:avLst/>
          </a:prstGeom>
          <a:solidFill>
            <a:srgbClr val="E8803A"/>
          </a:solidFill>
          <a:ln w="12700">
            <a:solidFill>
              <a:srgbClr val="E8803A"/>
            </a:solidFill>
            <a:prstDash val="solid"/>
          </a:ln>
        </p:spPr>
        <p:txBody>
          <a:bodyPr/>
          <a:lstStyle/>
          <a:p>
            <a:endParaRPr lang="en-US"/>
          </a:p>
        </p:txBody>
      </p:sp>
      <p:sp>
        <p:nvSpPr>
          <p:cNvPr id="24" name="Text 22"/>
          <p:cNvSpPr txBox="1"/>
          <p:nvPr/>
        </p:nvSpPr>
        <p:spPr>
          <a:xfrm>
            <a:off x="6400800" y="4059936"/>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6</a:t>
            </a:r>
            <a:endParaRPr lang="en-US" sz="1500" dirty="0"/>
          </a:p>
        </p:txBody>
      </p:sp>
      <p:sp>
        <p:nvSpPr>
          <p:cNvPr id="25" name="Text 23"/>
          <p:cNvSpPr txBox="1"/>
          <p:nvPr/>
        </p:nvSpPr>
        <p:spPr>
          <a:xfrm>
            <a:off x="7059168" y="4041648"/>
            <a:ext cx="4553712" cy="301752"/>
          </a:xfrm>
          <a:prstGeom prst="rect">
            <a:avLst/>
          </a:prstGeom>
          <a:noFill/>
          <a:ln/>
        </p:spPr>
        <p:txBody>
          <a:bodyPr wrap="square" lIns="0" tIns="0" rIns="0" bIns="0" rtlCol="0" anchor="t"/>
          <a:lstStyle/>
          <a:p>
            <a:pPr marL="0" indent="0" algn="l">
              <a:buNone/>
            </a:pPr>
            <a:r>
              <a:rPr lang="en-US" sz="1600" b="1" dirty="0">
                <a:solidFill>
                  <a:schemeClr val="tx1"/>
                </a:solidFill>
              </a:rPr>
              <a:t>Place it on the line</a:t>
            </a:r>
            <a:endParaRPr lang="en-US" sz="1600" dirty="0"/>
          </a:p>
        </p:txBody>
      </p:sp>
      <p:sp>
        <p:nvSpPr>
          <p:cNvPr id="26" name="Text 24"/>
          <p:cNvSpPr txBox="1"/>
          <p:nvPr/>
        </p:nvSpPr>
        <p:spPr>
          <a:xfrm>
            <a:off x="7059168" y="4370832"/>
            <a:ext cx="4553712" cy="82296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Centre sensor over the black, then switch to Auto</a:t>
            </a:r>
            <a:endParaRPr lang="en-US" sz="1300" dirty="0"/>
          </a:p>
        </p:txBody>
      </p:sp>
      <p:sp>
        <p:nvSpPr>
          <p:cNvPr id="27" name="callout"/>
          <p:cNvSpPr/>
          <p:nvPr/>
        </p:nvSpPr>
        <p:spPr>
          <a:xfrm>
            <a:off x="548640" y="5257800"/>
            <a:ext cx="11064240" cy="822960"/>
          </a:xfrm>
          <a:prstGeom prst="roundRect">
            <a:avLst>
              <a:gd name="adj" fmla="val 8889"/>
            </a:avLst>
          </a:prstGeom>
          <a:solidFill>
            <a:srgbClr val="E8F1F5"/>
          </a:solidFill>
          <a:ln w="12700">
            <a:solidFill>
              <a:srgbClr val="CBE0E9"/>
            </a:solidFill>
            <a:prstDash val="solid"/>
          </a:ln>
        </p:spPr>
        <p:txBody>
          <a:bodyPr/>
          <a:lstStyle/>
          <a:p>
            <a:endParaRPr lang="en-US"/>
          </a:p>
        </p:txBody>
      </p:sp>
      <p:sp>
        <p:nvSpPr>
          <p:cNvPr id="28" name="Text 26"/>
          <p:cNvSpPr txBox="1"/>
          <p:nvPr/>
        </p:nvSpPr>
        <p:spPr>
          <a:xfrm>
            <a:off x="777240" y="538581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The script runs fine without a camera</a:t>
            </a:r>
            <a:endParaRPr lang="en-US" sz="1400" dirty="0"/>
          </a:p>
        </p:txBody>
      </p:sp>
      <p:sp>
        <p:nvSpPr>
          <p:cNvPr id="29" name="Text 27"/>
          <p:cNvSpPr txBox="1"/>
          <p:nvPr/>
        </p:nvSpPr>
        <p:spPr>
          <a:xfrm>
            <a:off x="777240" y="5696712"/>
            <a:ext cx="10607040" cy="2560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If it cannot find one it carries on without QR reading, and still logs the whole run to the CSV exactly as before.</a:t>
            </a:r>
            <a:endParaRPr lang="en-US" sz="1250" dirty="0"/>
          </a:p>
        </p:txBody>
      </p:sp>
      <p:sp>
        <p:nvSpPr>
          <p:cNvPr id="30"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What the screen is telling you</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Screen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When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What it means</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6202E"/>
                          </a:solidFill>
                        </a:rPr>
                        <a:t>Welcome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First 2.5 seconds after power</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The board booted, and the screen and its wires are fine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6202E"/>
                          </a:solidFill>
                        </a:rPr>
                        <a:t>Status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Whenever the robot is stopped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Shows the mode, the speed and the camera IP</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6202E"/>
                          </a:solidFill>
                        </a:rPr>
                        <a:t>Eyes glancing</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The whole time it is moving</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Hunting for a QR code: 600 ms ahead, then 450 ms each side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6202E"/>
                          </a:solidFill>
                        </a:rPr>
                        <a:t>Found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First second after a code is read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A code got through and the stop is coming</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6202E"/>
                          </a:solidFill>
                        </a:rPr>
                        <a:t>Animal</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The rest of the five-second stop</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Which animal the code turned out to be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callout"/>
          <p:cNvSpPr/>
          <p:nvPr/>
        </p:nvSpPr>
        <p:spPr>
          <a:xfrm>
            <a:off x="548640" y="5029200"/>
            <a:ext cx="11064240" cy="914400"/>
          </a:xfrm>
          <a:prstGeom prst="roundRect">
            <a:avLst>
              <a:gd name="adj" fmla="val 8000"/>
            </a:avLst>
          </a:prstGeom>
          <a:solidFill>
            <a:srgbClr val="E8F1F5"/>
          </a:solidFill>
          <a:ln w="12700">
            <a:solidFill>
              <a:srgbClr val="CBE0E9"/>
            </a:solidFill>
            <a:prstDash val="solid"/>
          </a:ln>
        </p:spPr>
        <p:txBody>
          <a:bodyPr/>
          <a:lstStyle/>
          <a:p>
            <a:endParaRPr lang="en-US"/>
          </a:p>
        </p:txBody>
      </p:sp>
      <p:sp>
        <p:nvSpPr>
          <p:cNvPr id="5" name="Text 2"/>
          <p:cNvSpPr txBox="1"/>
          <p:nvPr/>
        </p:nvSpPr>
        <p:spPr>
          <a:xfrm>
            <a:off x="777240" y="515721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The screen is the best diagnostic tool on the robot</a:t>
            </a:r>
            <a:endParaRPr lang="en-US" sz="1400" dirty="0"/>
          </a:p>
        </p:txBody>
      </p:sp>
      <p:sp>
        <p:nvSpPr>
          <p:cNvPr id="6" name="Text 3"/>
          <p:cNvSpPr txBox="1"/>
          <p:nvPr/>
        </p:nvSpPr>
        <p:spPr>
          <a:xfrm>
            <a:off x="777240" y="5468112"/>
            <a:ext cx="10607040" cy="34747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It says how far the board got without a laptop attached.  A welcome screen that never changes means the program hung during boot, which is not a Wi-Fi problem.</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The web remote</a:t>
            </a:r>
            <a:endParaRPr lang="en-US" sz="3200" dirty="0"/>
          </a:p>
        </p:txBody>
      </p:sp>
      <p:sp>
        <p:nvSpPr>
          <p:cNvPr id="3" name="card-Direction butt"/>
          <p:cNvSpPr/>
          <p:nvPr/>
        </p:nvSpPr>
        <p:spPr>
          <a:xfrm>
            <a:off x="548640" y="1417320"/>
            <a:ext cx="3444240" cy="1572768"/>
          </a:xfrm>
          <a:prstGeom prst="roundRect">
            <a:avLst>
              <a:gd name="adj" fmla="val 5814"/>
            </a:avLst>
          </a:prstGeom>
          <a:solidFill>
            <a:schemeClr val="bg2"/>
          </a:solidFill>
          <a:ln w="12700">
            <a:solidFill>
              <a:srgbClr val="D9E0E8"/>
            </a:solidFill>
            <a:prstDash val="solid"/>
          </a:ln>
        </p:spPr>
        <p:txBody>
          <a:bodyPr/>
          <a:lstStyle/>
          <a:p>
            <a:endParaRPr lang="en-US"/>
          </a:p>
        </p:txBody>
      </p:sp>
      <p:sp>
        <p:nvSpPr>
          <p:cNvPr id="4" name="Text 2"/>
          <p:cNvSpPr txBox="1"/>
          <p:nvPr/>
        </p:nvSpPr>
        <p:spPr>
          <a:xfrm>
            <a:off x="804672" y="160020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Direction buttons</a:t>
            </a:r>
            <a:endParaRPr lang="en-US" sz="1600" dirty="0"/>
          </a:p>
        </p:txBody>
      </p:sp>
      <p:sp>
        <p:nvSpPr>
          <p:cNvPr id="5" name="Text 3"/>
          <p:cNvSpPr txBox="1"/>
          <p:nvPr/>
        </p:nvSpPr>
        <p:spPr>
          <a:xfrm>
            <a:off x="804672" y="2075688"/>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Forward, back, left, right and stop. Manual mode only</a:t>
            </a:r>
            <a:endParaRPr lang="en-US" sz="1300" dirty="0"/>
          </a:p>
        </p:txBody>
      </p:sp>
      <p:sp>
        <p:nvSpPr>
          <p:cNvPr id="6" name="card-Speed slider"/>
          <p:cNvSpPr/>
          <p:nvPr/>
        </p:nvSpPr>
        <p:spPr>
          <a:xfrm>
            <a:off x="4358640" y="1417320"/>
            <a:ext cx="3444240" cy="1572768"/>
          </a:xfrm>
          <a:prstGeom prst="roundRect">
            <a:avLst>
              <a:gd name="adj" fmla="val 5814"/>
            </a:avLst>
          </a:prstGeom>
          <a:solidFill>
            <a:schemeClr val="bg2"/>
          </a:solidFill>
          <a:ln w="12700">
            <a:solidFill>
              <a:srgbClr val="D9E0E8"/>
            </a:solidFill>
            <a:prstDash val="solid"/>
          </a:ln>
        </p:spPr>
        <p:txBody>
          <a:bodyPr/>
          <a:lstStyle/>
          <a:p>
            <a:endParaRPr lang="en-US"/>
          </a:p>
        </p:txBody>
      </p:sp>
      <p:sp>
        <p:nvSpPr>
          <p:cNvPr id="7" name="Text 5"/>
          <p:cNvSpPr txBox="1"/>
          <p:nvPr/>
        </p:nvSpPr>
        <p:spPr>
          <a:xfrm>
            <a:off x="4614672" y="160020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Speed slider</a:t>
            </a:r>
            <a:endParaRPr lang="en-US" sz="1600" dirty="0"/>
          </a:p>
        </p:txBody>
      </p:sp>
      <p:sp>
        <p:nvSpPr>
          <p:cNvPr id="8" name="Text 6"/>
          <p:cNvSpPr txBox="1"/>
          <p:nvPr/>
        </p:nvSpPr>
        <p:spPr>
          <a:xfrm>
            <a:off x="4614672" y="2075688"/>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Starts at 0. What you set is what the motors get, with nothing rounded up</a:t>
            </a:r>
            <a:endParaRPr lang="en-US" sz="1300" dirty="0"/>
          </a:p>
        </p:txBody>
      </p:sp>
      <p:sp>
        <p:nvSpPr>
          <p:cNvPr id="9" name="card-Trim slider"/>
          <p:cNvSpPr/>
          <p:nvPr/>
        </p:nvSpPr>
        <p:spPr>
          <a:xfrm>
            <a:off x="8168640" y="1417320"/>
            <a:ext cx="3444240" cy="1572768"/>
          </a:xfrm>
          <a:prstGeom prst="roundRect">
            <a:avLst>
              <a:gd name="adj" fmla="val 5814"/>
            </a:avLst>
          </a:prstGeom>
          <a:solidFill>
            <a:schemeClr val="bg2"/>
          </a:solidFill>
          <a:ln w="12700">
            <a:solidFill>
              <a:srgbClr val="D9E0E8"/>
            </a:solidFill>
            <a:prstDash val="solid"/>
          </a:ln>
        </p:spPr>
        <p:txBody>
          <a:bodyPr/>
          <a:lstStyle/>
          <a:p>
            <a:endParaRPr lang="en-US"/>
          </a:p>
        </p:txBody>
      </p:sp>
      <p:sp>
        <p:nvSpPr>
          <p:cNvPr id="10" name="Text 8"/>
          <p:cNvSpPr txBox="1"/>
          <p:nvPr/>
        </p:nvSpPr>
        <p:spPr>
          <a:xfrm>
            <a:off x="8424672" y="1600200"/>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Trim slider</a:t>
            </a:r>
            <a:endParaRPr lang="en-US" sz="1600" dirty="0"/>
          </a:p>
        </p:txBody>
      </p:sp>
      <p:sp>
        <p:nvSpPr>
          <p:cNvPr id="11" name="Text 9"/>
          <p:cNvSpPr txBox="1"/>
          <p:nvPr/>
        </p:nvSpPr>
        <p:spPr>
          <a:xfrm>
            <a:off x="8424672" y="2075688"/>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Corrects a robot that pulls to one side, live, while it drives. No reflash</a:t>
            </a:r>
            <a:endParaRPr lang="en-US" sz="1300" dirty="0"/>
          </a:p>
        </p:txBody>
      </p:sp>
      <p:sp>
        <p:nvSpPr>
          <p:cNvPr id="12" name="card-Auto / Manual "/>
          <p:cNvSpPr/>
          <p:nvPr/>
        </p:nvSpPr>
        <p:spPr>
          <a:xfrm>
            <a:off x="548640" y="3282696"/>
            <a:ext cx="3444240" cy="1572768"/>
          </a:xfrm>
          <a:prstGeom prst="roundRect">
            <a:avLst>
              <a:gd name="adj" fmla="val 5814"/>
            </a:avLst>
          </a:prstGeom>
          <a:solidFill>
            <a:schemeClr val="bg2"/>
          </a:solidFill>
          <a:ln w="12700">
            <a:solidFill>
              <a:srgbClr val="D9E0E8"/>
            </a:solidFill>
            <a:prstDash val="solid"/>
          </a:ln>
        </p:spPr>
        <p:txBody>
          <a:bodyPr/>
          <a:lstStyle/>
          <a:p>
            <a:endParaRPr lang="en-US"/>
          </a:p>
        </p:txBody>
      </p:sp>
      <p:sp>
        <p:nvSpPr>
          <p:cNvPr id="13" name="Text 11"/>
          <p:cNvSpPr txBox="1"/>
          <p:nvPr/>
        </p:nvSpPr>
        <p:spPr>
          <a:xfrm>
            <a:off x="804672" y="3465576"/>
            <a:ext cx="2932176" cy="365760"/>
          </a:xfrm>
          <a:prstGeom prst="rect">
            <a:avLst/>
          </a:prstGeom>
          <a:noFill/>
          <a:ln/>
        </p:spPr>
        <p:txBody>
          <a:bodyPr wrap="square" lIns="0" tIns="0" rIns="0" bIns="0" rtlCol="0" anchor="t"/>
          <a:lstStyle/>
          <a:p>
            <a:pPr marL="0" indent="0" algn="l">
              <a:buNone/>
            </a:pPr>
            <a:r>
              <a:rPr lang="en-US" sz="1600" b="1" dirty="0">
                <a:solidFill>
                  <a:srgbClr val="1C7293"/>
                </a:solidFill>
              </a:rPr>
              <a:t>Auto / Manual switch</a:t>
            </a:r>
            <a:endParaRPr lang="en-US" sz="1600" dirty="0"/>
          </a:p>
        </p:txBody>
      </p:sp>
      <p:sp>
        <p:nvSpPr>
          <p:cNvPr id="14" name="Text 12"/>
          <p:cNvSpPr txBox="1"/>
          <p:nvPr/>
        </p:nvSpPr>
        <p:spPr>
          <a:xfrm>
            <a:off x="804672" y="3941064"/>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Auto follows the line, Manual takes the buttons. Switch any time</a:t>
            </a:r>
            <a:endParaRPr lang="en-US" sz="1300" dirty="0"/>
          </a:p>
        </p:txBody>
      </p:sp>
      <p:sp>
        <p:nvSpPr>
          <p:cNvPr id="15" name="card-Camera image"/>
          <p:cNvSpPr/>
          <p:nvPr/>
        </p:nvSpPr>
        <p:spPr>
          <a:xfrm>
            <a:off x="4358640" y="3282696"/>
            <a:ext cx="3444240" cy="1572768"/>
          </a:xfrm>
          <a:prstGeom prst="roundRect">
            <a:avLst>
              <a:gd name="adj" fmla="val 5814"/>
            </a:avLst>
          </a:prstGeom>
          <a:solidFill>
            <a:schemeClr val="bg2"/>
          </a:solidFill>
          <a:ln w="12700">
            <a:solidFill>
              <a:srgbClr val="D9E0E8"/>
            </a:solidFill>
            <a:prstDash val="solid"/>
          </a:ln>
        </p:spPr>
        <p:txBody>
          <a:bodyPr/>
          <a:lstStyle/>
          <a:p>
            <a:endParaRPr lang="en-US"/>
          </a:p>
        </p:txBody>
      </p:sp>
      <p:sp>
        <p:nvSpPr>
          <p:cNvPr id="16" name="Text 14"/>
          <p:cNvSpPr txBox="1"/>
          <p:nvPr/>
        </p:nvSpPr>
        <p:spPr>
          <a:xfrm>
            <a:off x="4614672" y="3465576"/>
            <a:ext cx="2932176" cy="365760"/>
          </a:xfrm>
          <a:prstGeom prst="rect">
            <a:avLst/>
          </a:prstGeom>
          <a:noFill/>
          <a:ln/>
        </p:spPr>
        <p:txBody>
          <a:bodyPr wrap="square" lIns="0" tIns="0" rIns="0" bIns="0" rtlCol="0" anchor="t"/>
          <a:lstStyle/>
          <a:p>
            <a:pPr marL="0" indent="0" algn="l">
              <a:buNone/>
            </a:pPr>
            <a:r>
              <a:rPr lang="en-US" sz="1600" b="1" dirty="0">
                <a:solidFill>
                  <a:srgbClr val="1C7293"/>
                </a:solidFill>
              </a:rPr>
              <a:t>Camera image</a:t>
            </a:r>
            <a:endParaRPr lang="en-US" sz="1600" dirty="0"/>
          </a:p>
        </p:txBody>
      </p:sp>
      <p:sp>
        <p:nvSpPr>
          <p:cNvPr id="17" name="Text 15"/>
          <p:cNvSpPr txBox="1"/>
          <p:nvPr/>
        </p:nvSpPr>
        <p:spPr>
          <a:xfrm>
            <a:off x="4614672" y="3941064"/>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Appears once the camera joins, and disappears if it goes quiet</a:t>
            </a:r>
            <a:endParaRPr lang="en-US" sz="1300" dirty="0"/>
          </a:p>
        </p:txBody>
      </p:sp>
      <p:sp>
        <p:nvSpPr>
          <p:cNvPr id="18" name="card-No numbers her"/>
          <p:cNvSpPr/>
          <p:nvPr/>
        </p:nvSpPr>
        <p:spPr>
          <a:xfrm>
            <a:off x="8168640" y="3282696"/>
            <a:ext cx="3444240" cy="1572768"/>
          </a:xfrm>
          <a:prstGeom prst="roundRect">
            <a:avLst>
              <a:gd name="adj" fmla="val 5814"/>
            </a:avLst>
          </a:prstGeom>
          <a:solidFill>
            <a:schemeClr val="tx1"/>
          </a:solidFill>
          <a:ln w="12700">
            <a:solidFill>
              <a:schemeClr val="tx1"/>
            </a:solidFill>
            <a:prstDash val="solid"/>
          </a:ln>
        </p:spPr>
        <p:txBody>
          <a:bodyPr/>
          <a:lstStyle/>
          <a:p>
            <a:endParaRPr lang="en-US"/>
          </a:p>
        </p:txBody>
      </p:sp>
      <p:sp>
        <p:nvSpPr>
          <p:cNvPr id="19" name="Text 17"/>
          <p:cNvSpPr txBox="1"/>
          <p:nvPr/>
        </p:nvSpPr>
        <p:spPr>
          <a:xfrm>
            <a:off x="8424672" y="3465576"/>
            <a:ext cx="2932176" cy="365760"/>
          </a:xfrm>
          <a:prstGeom prst="rect">
            <a:avLst/>
          </a:prstGeom>
          <a:noFill/>
          <a:ln/>
        </p:spPr>
        <p:txBody>
          <a:bodyPr wrap="square" lIns="0" tIns="0" rIns="0" bIns="0" rtlCol="0" anchor="t"/>
          <a:lstStyle/>
          <a:p>
            <a:pPr marL="0" indent="0" algn="l">
              <a:buNone/>
            </a:pPr>
            <a:r>
              <a:rPr lang="en-US" sz="1600" b="1" dirty="0">
                <a:solidFill>
                  <a:srgbClr val="E8803A"/>
                </a:solidFill>
              </a:rPr>
              <a:t>No numbers here</a:t>
            </a:r>
            <a:endParaRPr lang="en-US" sz="1600" dirty="0"/>
          </a:p>
        </p:txBody>
      </p:sp>
      <p:sp>
        <p:nvSpPr>
          <p:cNvPr id="20" name="Text 18"/>
          <p:cNvSpPr txBox="1"/>
          <p:nvPr/>
        </p:nvSpPr>
        <p:spPr>
          <a:xfrm>
            <a:off x="8424672" y="3941064"/>
            <a:ext cx="2932176" cy="704088"/>
          </a:xfrm>
          <a:prstGeom prst="rect">
            <a:avLst/>
          </a:prstGeom>
          <a:noFill/>
          <a:ln/>
        </p:spPr>
        <p:txBody>
          <a:bodyPr wrap="square" lIns="0" tIns="0" rIns="0" bIns="0" rtlCol="0" anchor="t"/>
          <a:lstStyle/>
          <a:p>
            <a:pPr marL="0" indent="0" algn="l">
              <a:lnSpc>
                <a:spcPct val="125000"/>
              </a:lnSpc>
              <a:buNone/>
            </a:pPr>
            <a:r>
              <a:rPr lang="en-US" sz="1300" dirty="0">
                <a:solidFill>
                  <a:srgbClr val="B9C6D4"/>
                </a:solidFill>
              </a:rPr>
              <a:t>Deliberate. This page is for driving; every figure goes to the spreadsheet</a:t>
            </a:r>
            <a:endParaRPr lang="en-US" sz="1300" dirty="0"/>
          </a:p>
        </p:txBody>
      </p:sp>
      <p:sp>
        <p:nvSpPr>
          <p:cNvPr id="21" name="callout"/>
          <p:cNvSpPr/>
          <p:nvPr/>
        </p:nvSpPr>
        <p:spPr>
          <a:xfrm>
            <a:off x="548640" y="5257800"/>
            <a:ext cx="11064240" cy="822960"/>
          </a:xfrm>
          <a:prstGeom prst="roundRect">
            <a:avLst>
              <a:gd name="adj" fmla="val 8889"/>
            </a:avLst>
          </a:prstGeom>
          <a:solidFill>
            <a:srgbClr val="FBEEEC"/>
          </a:solidFill>
          <a:ln w="12700">
            <a:solidFill>
              <a:srgbClr val="F0D3CE"/>
            </a:solidFill>
            <a:prstDash val="solid"/>
          </a:ln>
        </p:spPr>
        <p:txBody>
          <a:bodyPr/>
          <a:lstStyle/>
          <a:p>
            <a:endParaRPr lang="en-US"/>
          </a:p>
        </p:txBody>
      </p:sp>
      <p:sp>
        <p:nvSpPr>
          <p:cNvPr id="22" name="Text 20"/>
          <p:cNvSpPr txBox="1"/>
          <p:nvPr/>
        </p:nvSpPr>
        <p:spPr>
          <a:xfrm>
            <a:off x="777240" y="5385816"/>
            <a:ext cx="10607040" cy="274320"/>
          </a:xfrm>
          <a:prstGeom prst="rect">
            <a:avLst/>
          </a:prstGeom>
          <a:noFill/>
          <a:ln/>
        </p:spPr>
        <p:txBody>
          <a:bodyPr wrap="square" lIns="0" tIns="0" rIns="0" bIns="0" rtlCol="0" anchor="t"/>
          <a:lstStyle/>
          <a:p>
            <a:pPr marL="0" indent="0" algn="l">
              <a:buNone/>
            </a:pPr>
            <a:r>
              <a:rPr lang="en-US" sz="1400" b="1" dirty="0">
                <a:solidFill>
                  <a:srgbClr val="B3261E"/>
                </a:solidFill>
              </a:rPr>
              <a:t>The page hangs even though the Wi-Fi is connected</a:t>
            </a:r>
            <a:endParaRPr lang="en-US" sz="1400" dirty="0"/>
          </a:p>
        </p:txBody>
      </p:sp>
      <p:sp>
        <p:nvSpPr>
          <p:cNvPr id="23" name="Text 21"/>
          <p:cNvSpPr txBox="1"/>
          <p:nvPr/>
        </p:nvSpPr>
        <p:spPr>
          <a:xfrm>
            <a:off x="777240" y="5696712"/>
            <a:ext cx="10607040" cy="25603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Some phones notice the network has no internet and quietly switch back to mobile data. Turn that automatic switching off first.</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What lands in the spreadsheet</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Column</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Holds</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6202E"/>
                          </a:solidFill>
                        </a:rPr>
                        <a:t>Timestamp  Event</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The time, and the kind of row: START, RUN each second, or QR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6202E"/>
                          </a:solidFill>
                        </a:rPr>
                        <a:t>Mode  Action</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The mode, and what it was doing: STRAIGHT, BEND, SEARCH, FINISH</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6202E"/>
                          </a:solidFill>
                        </a:rPr>
                        <a:t>Base_Speed</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What the slider is asking for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6202E"/>
                          </a:solidFill>
                        </a:rPr>
                        <a:t>Left_PWM  Right_PWM</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What the motors were actually handed, after trim</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b="1" dirty="0">
                          <a:solidFill>
                            <a:srgbClr val="16202E"/>
                          </a:solidFill>
                        </a:rPr>
                        <a:t>Turn  Error</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The steering output, and how far off the line it was</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b="1" dirty="0">
                          <a:solidFill>
                            <a:srgbClr val="16202E"/>
                          </a:solidFill>
                        </a:rPr>
                        <a:t>Kp  Kd  Trim</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The gains in force, so an old file explains its own tuning</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00" b="1" dirty="0">
                          <a:solidFill>
                            <a:srgbClr val="16202E"/>
                          </a:solidFill>
                        </a:rPr>
                        <a:t>S_L2 to S_R2</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The five sensors one per column; 1 means that one is over black</a:t>
                      </a:r>
                      <a:endParaRPr lang="en-US" sz="12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4663440"/>
            <a:ext cx="6858000" cy="731520"/>
          </a:xfrm>
          <a:prstGeom prst="rect">
            <a:avLst/>
          </a:prstGeom>
          <a:noFill/>
          <a:ln/>
        </p:spPr>
        <p:txBody>
          <a:bodyPr wrap="square" lIns="0" tIns="0" rIns="0" bIns="0" rtlCol="0" anchor="t"/>
          <a:lstStyle/>
          <a:p>
            <a:pPr marL="0" indent="0" algn="l">
              <a:lnSpc>
                <a:spcPct val="125000"/>
              </a:lnSpc>
              <a:buNone/>
            </a:pPr>
            <a:r>
              <a:rPr lang="en-US" sz="1200" dirty="0">
                <a:solidFill>
                  <a:srgbClr val="6B7E93"/>
                </a:solidFill>
              </a:rPr>
              <a:t>One row a second, plus one per QR hit. Plot Turn against time in Excel and you can see exactly where on the course the robot fights hardest.</a:t>
            </a:r>
            <a:endParaRPr lang="en-US" sz="1200" dirty="0"/>
          </a:p>
        </p:txBody>
      </p:sp>
      <p:sp>
        <p:nvSpPr>
          <p:cNvPr id="5" name="card-Where the file"/>
          <p:cNvSpPr/>
          <p:nvPr/>
        </p:nvSpPr>
        <p:spPr>
          <a:xfrm>
            <a:off x="7680960" y="1371600"/>
            <a:ext cx="3931920" cy="1737360"/>
          </a:xfrm>
          <a:prstGeom prst="roundRect">
            <a:avLst>
              <a:gd name="adj" fmla="val 5263"/>
            </a:avLst>
          </a:prstGeom>
          <a:solidFill>
            <a:schemeClr val="bg2"/>
          </a:solidFill>
          <a:ln w="12700">
            <a:solidFill>
              <a:srgbClr val="D9E0E8"/>
            </a:solidFill>
            <a:prstDash val="solid"/>
          </a:ln>
        </p:spPr>
        <p:txBody>
          <a:bodyPr/>
          <a:lstStyle/>
          <a:p>
            <a:endParaRPr lang="en-US"/>
          </a:p>
        </p:txBody>
      </p:sp>
      <p:sp>
        <p:nvSpPr>
          <p:cNvPr id="6" name="Text 3"/>
          <p:cNvSpPr txBox="1"/>
          <p:nvPr/>
        </p:nvSpPr>
        <p:spPr>
          <a:xfrm>
            <a:off x="7936992" y="1554480"/>
            <a:ext cx="3419856" cy="365760"/>
          </a:xfrm>
          <a:prstGeom prst="rect">
            <a:avLst/>
          </a:prstGeom>
          <a:noFill/>
          <a:ln/>
        </p:spPr>
        <p:txBody>
          <a:bodyPr wrap="square" lIns="0" tIns="0" rIns="0" bIns="0" rtlCol="0" anchor="t"/>
          <a:lstStyle/>
          <a:p>
            <a:pPr marL="0" indent="0" algn="l">
              <a:buNone/>
            </a:pPr>
            <a:r>
              <a:rPr lang="en-US" sz="1600" b="1" dirty="0">
                <a:solidFill>
                  <a:srgbClr val="E8803A"/>
                </a:solidFill>
              </a:rPr>
              <a:t>Where the file goes</a:t>
            </a:r>
            <a:endParaRPr lang="en-US" sz="1600" dirty="0"/>
          </a:p>
        </p:txBody>
      </p:sp>
      <p:sp>
        <p:nvSpPr>
          <p:cNvPr id="7" name="Text 4"/>
          <p:cNvSpPr txBox="1"/>
          <p:nvPr/>
        </p:nvSpPr>
        <p:spPr>
          <a:xfrm>
            <a:off x="7936992" y="2029968"/>
            <a:ext cx="3419856" cy="868680"/>
          </a:xfrm>
          <a:prstGeom prst="rect">
            <a:avLst/>
          </a:prstGeom>
          <a:noFill/>
          <a:ln/>
        </p:spPr>
        <p:txBody>
          <a:bodyPr wrap="square" lIns="0" tIns="0" rIns="0" bIns="0" rtlCol="0" anchor="t"/>
          <a:lstStyle/>
          <a:p>
            <a:pPr marL="0" indent="0" algn="l">
              <a:lnSpc>
                <a:spcPct val="125000"/>
              </a:lnSpc>
              <a:buNone/>
            </a:pPr>
            <a:r>
              <a:rPr lang="en-US" sz="1300" dirty="0">
                <a:solidFill>
                  <a:srgbClr val="4A5568"/>
                </a:solidFill>
              </a:rPr>
              <a:t>robot_mission_log.csv on the desktop. The script asks Windows where that really is, so OneDrive does not hide it.</a:t>
            </a:r>
            <a:endParaRPr lang="en-US" sz="1300" dirty="0"/>
          </a:p>
        </p:txBody>
      </p:sp>
      <p:sp>
        <p:nvSpPr>
          <p:cNvPr id="8" name="card-Close Excel be"/>
          <p:cNvSpPr/>
          <p:nvPr/>
        </p:nvSpPr>
        <p:spPr>
          <a:xfrm>
            <a:off x="7680960" y="3291840"/>
            <a:ext cx="3931920" cy="1737360"/>
          </a:xfrm>
          <a:prstGeom prst="roundRect">
            <a:avLst>
              <a:gd name="adj" fmla="val 5263"/>
            </a:avLst>
          </a:prstGeom>
          <a:solidFill>
            <a:schemeClr val="tx1"/>
          </a:solidFill>
          <a:ln w="12700">
            <a:solidFill>
              <a:schemeClr val="tx1"/>
            </a:solidFill>
            <a:prstDash val="solid"/>
          </a:ln>
        </p:spPr>
        <p:txBody>
          <a:bodyPr/>
          <a:lstStyle/>
          <a:p>
            <a:endParaRPr lang="en-US"/>
          </a:p>
        </p:txBody>
      </p:sp>
      <p:sp>
        <p:nvSpPr>
          <p:cNvPr id="9" name="Text 6"/>
          <p:cNvSpPr txBox="1"/>
          <p:nvPr/>
        </p:nvSpPr>
        <p:spPr>
          <a:xfrm>
            <a:off x="7936992" y="3474720"/>
            <a:ext cx="3419856" cy="365760"/>
          </a:xfrm>
          <a:prstGeom prst="rect">
            <a:avLst/>
          </a:prstGeom>
          <a:noFill/>
          <a:ln/>
        </p:spPr>
        <p:txBody>
          <a:bodyPr wrap="square" lIns="0" tIns="0" rIns="0" bIns="0" rtlCol="0" anchor="t"/>
          <a:lstStyle/>
          <a:p>
            <a:pPr marL="0" indent="0" algn="l">
              <a:buNone/>
            </a:pPr>
            <a:r>
              <a:rPr lang="en-US" sz="1600" b="1" dirty="0">
                <a:solidFill>
                  <a:srgbClr val="E8803A"/>
                </a:solidFill>
              </a:rPr>
              <a:t>Close Excel before a run</a:t>
            </a:r>
            <a:endParaRPr lang="en-US" sz="1600" dirty="0"/>
          </a:p>
        </p:txBody>
      </p:sp>
      <p:sp>
        <p:nvSpPr>
          <p:cNvPr id="10" name="Text 7"/>
          <p:cNvSpPr txBox="1"/>
          <p:nvPr/>
        </p:nvSpPr>
        <p:spPr>
          <a:xfrm>
            <a:off x="7936992" y="3950208"/>
            <a:ext cx="3419856" cy="868680"/>
          </a:xfrm>
          <a:prstGeom prst="rect">
            <a:avLst/>
          </a:prstGeom>
          <a:noFill/>
          <a:ln/>
        </p:spPr>
        <p:txBody>
          <a:bodyPr wrap="square" lIns="0" tIns="0" rIns="0" bIns="0" rtlCol="0" anchor="t"/>
          <a:lstStyle/>
          <a:p>
            <a:pPr marL="0" indent="0" algn="l">
              <a:lnSpc>
                <a:spcPct val="125000"/>
              </a:lnSpc>
              <a:buNone/>
            </a:pPr>
            <a:r>
              <a:rPr lang="en-US" sz="1300" dirty="0">
                <a:solidFill>
                  <a:srgbClr val="B9C6D4"/>
                </a:solidFill>
              </a:rPr>
              <a:t>Windows locks an open file outright. If it cannot write, the script falls back to a new name with the time appended.</a:t>
            </a:r>
            <a:endParaRPr lang="en-US" sz="130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377440"/>
            <a:ext cx="11064240" cy="457200"/>
          </a:xfrm>
          <a:prstGeom prst="rect">
            <a:avLst/>
          </a:prstGeom>
          <a:noFill/>
          <a:ln/>
        </p:spPr>
        <p:txBody>
          <a:bodyPr wrap="square" rtlCol="0"/>
          <a:lstStyle/>
          <a:p>
            <a:pPr marL="0" indent="0" algn="l">
              <a:buNone/>
            </a:pPr>
            <a:r>
              <a:rPr lang="en-US" sz="6000" b="1" dirty="0">
                <a:solidFill>
                  <a:srgbClr val="E8803A"/>
                </a:solidFill>
              </a:rPr>
              <a:t>03</a:t>
            </a:r>
            <a:endParaRPr lang="en-US" sz="6000" dirty="0"/>
          </a:p>
        </p:txBody>
      </p:sp>
      <p:sp>
        <p:nvSpPr>
          <p:cNvPr id="3" name="Text 0"/>
          <p:cNvSpPr>
            <a:spLocks noGrp="1"/>
          </p:cNvSpPr>
          <p:nvPr>
            <p:ph type="title" idx="101" hasCustomPrompt="1"/>
          </p:nvPr>
        </p:nvSpPr>
        <p:spPr>
          <a:xfrm>
            <a:off x="548640" y="3200400"/>
            <a:ext cx="11064240" cy="914400"/>
          </a:xfrm>
          <a:prstGeom prst="rect">
            <a:avLst/>
          </a:prstGeom>
          <a:noFill/>
          <a:ln/>
        </p:spPr>
        <p:txBody>
          <a:bodyPr wrap="square" rtlCol="0"/>
          <a:lstStyle/>
          <a:p>
            <a:pPr marL="0" indent="0" algn="l">
              <a:buNone/>
            </a:pPr>
            <a:r>
              <a:rPr lang="en-US" sz="4000" b="1" dirty="0">
                <a:solidFill>
                  <a:schemeClr val="bg1"/>
                </a:solidFill>
              </a:rPr>
              <a:t>Tuning and faults</a:t>
            </a:r>
            <a:endParaRPr lang="en-US" sz="4000" dirty="0"/>
          </a:p>
        </p:txBody>
      </p:sp>
      <p:sp>
        <p:nvSpPr>
          <p:cNvPr id="4" name="Text 0"/>
          <p:cNvSpPr>
            <a:spLocks noGrp="1"/>
          </p:cNvSpPr>
          <p:nvPr>
            <p:ph type="body" idx="102" hasCustomPrompt="1"/>
          </p:nvPr>
        </p:nvSpPr>
        <p:spPr>
          <a:xfrm>
            <a:off x="548640" y="4206240"/>
            <a:ext cx="8686800" cy="914400"/>
          </a:xfrm>
          <a:prstGeom prst="rect">
            <a:avLst/>
          </a:prstGeom>
          <a:noFill/>
          <a:ln/>
        </p:spPr>
        <p:txBody>
          <a:bodyPr wrap="square" rtlCol="0"/>
          <a:lstStyle/>
          <a:p>
            <a:pPr marL="0" indent="0" algn="l">
              <a:buNone/>
            </a:pPr>
            <a:r>
              <a:rPr lang="en-US" sz="1600" dirty="0">
                <a:solidFill>
                  <a:srgbClr val="B9C6D4"/>
                </a:solidFill>
              </a:rPr>
              <a:t>The constants worth touching, how it hunts for a lost line, and what keeps going wrong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The constants worth touching</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704088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Name</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Now</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300" b="1" dirty="0">
                          <a:solidFill>
                            <a:srgbClr val="FFFFFF"/>
                          </a:solidFill>
                        </a:rPr>
                        <a:t>When to change it</a:t>
                      </a:r>
                      <a:endParaRPr lang="en-US" sz="130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6202E"/>
                          </a:solidFill>
                        </a:rPr>
                        <a:t>Kp</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45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Raise it if the robot cuts corners wide, lower it if it weaves on the straights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6202E"/>
                          </a:solidFill>
                        </a:rPr>
                        <a:t>Kd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35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Damping. Raise it when the robot oscillates coming out of a bend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6202E"/>
                          </a:solidFill>
                        </a:rPr>
                        <a:t>leftMotorOffset</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25</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Corrects a pull to one side. The Trim slider sets this live from the web page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6202E"/>
                          </a:solidFill>
                        </a:rPr>
                        <a:t>MIN_PWM</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What you ask for is what the motors get. Set 135 to have low values pushed up instead</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6202E"/>
                          </a:solidFill>
                        </a:rPr>
                        <a:t>LOST_CONFIRM_MS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150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How long the line may be missing before it reacts. Raise it if it lurches on tight bends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50" b="1" dirty="0">
                          <a:solidFill>
                            <a:srgbClr val="16202E"/>
                          </a:solidFill>
                        </a:rPr>
                        <a:t>FINISH_CONFIRM_MS</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40</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50" dirty="0">
                          <a:solidFill>
                            <a:srgbClr val="4A5568"/>
                          </a:solidFill>
                        </a:rPr>
                        <a:t>How long all five black must hold to count as the finish, and not a crossing</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callout"/>
          <p:cNvSpPr/>
          <p:nvPr/>
        </p:nvSpPr>
        <p:spPr>
          <a:xfrm>
            <a:off x="548640" y="4343400"/>
            <a:ext cx="11064240" cy="960120"/>
          </a:xfrm>
          <a:prstGeom prst="roundRect">
            <a:avLst>
              <a:gd name="adj" fmla="val 7619"/>
            </a:avLst>
          </a:prstGeom>
          <a:solidFill>
            <a:srgbClr val="FBEEEC"/>
          </a:solidFill>
          <a:ln w="12700">
            <a:solidFill>
              <a:srgbClr val="F0D3CE"/>
            </a:solidFill>
            <a:prstDash val="solid"/>
          </a:ln>
        </p:spPr>
        <p:txBody>
          <a:bodyPr/>
          <a:lstStyle/>
          <a:p>
            <a:endParaRPr lang="en-US"/>
          </a:p>
        </p:txBody>
      </p:sp>
      <p:sp>
        <p:nvSpPr>
          <p:cNvPr id="5" name="Text 2"/>
          <p:cNvSpPr txBox="1"/>
          <p:nvPr/>
        </p:nvSpPr>
        <p:spPr>
          <a:xfrm>
            <a:off x="777240" y="4471416"/>
            <a:ext cx="10607040" cy="274320"/>
          </a:xfrm>
          <a:prstGeom prst="rect">
            <a:avLst/>
          </a:prstGeom>
          <a:noFill/>
          <a:ln/>
        </p:spPr>
        <p:txBody>
          <a:bodyPr wrap="square" lIns="0" tIns="0" rIns="0" bIns="0" rtlCol="0" anchor="t"/>
          <a:lstStyle/>
          <a:p>
            <a:pPr marL="0" indent="0" algn="l">
              <a:buNone/>
            </a:pPr>
            <a:r>
              <a:rPr lang="en-US" sz="1400" b="1" dirty="0">
                <a:solidFill>
                  <a:srgbClr val="B3261E"/>
                </a:solidFill>
              </a:rPr>
              <a:t>Too much Kp makes the robot spin instead of turn</a:t>
            </a:r>
            <a:endParaRPr lang="en-US" sz="1400" dirty="0"/>
          </a:p>
        </p:txBody>
      </p:sp>
      <p:sp>
        <p:nvSpPr>
          <p:cNvPr id="6" name="Text 3"/>
          <p:cNvSpPr txBox="1"/>
          <p:nvPr/>
        </p:nvSpPr>
        <p:spPr>
          <a:xfrm>
            <a:off x="777240" y="4782312"/>
            <a:ext cx="10607040" cy="39319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Error peaks at 4, so Kp of 80 asks for 320 against the 255 the motors have. The outer wheel saturates, the inner one reverses, and every bend becomes a pivot.</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How it hunts for a lost line</a:t>
            </a:r>
            <a:endParaRPr lang="en-US" sz="32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marL="0" indent="0" algn="l">
              <a:buNone/>
            </a:pPr>
            <a:r>
              <a:rPr lang="en-US" sz="1400" dirty="0">
                <a:solidFill>
                  <a:srgbClr val="4A5568"/>
                </a:solidFill>
              </a:rPr>
              <a:t>No sensor on the line does not mean lost. A tight bend swings the line past the end of the sensor row for a moment, and that is normal.</a:t>
            </a:r>
            <a:endParaRPr lang="en-US" sz="1400" dirty="0"/>
          </a:p>
        </p:txBody>
      </p:sp>
      <p:sp>
        <p:nvSpPr>
          <p:cNvPr id="4" name="stage-0"/>
          <p:cNvSpPr/>
          <p:nvPr/>
        </p:nvSpPr>
        <p:spPr>
          <a:xfrm>
            <a:off x="548640" y="1828800"/>
            <a:ext cx="3444240" cy="2286000"/>
          </a:xfrm>
          <a:prstGeom prst="roundRect">
            <a:avLst>
              <a:gd name="adj" fmla="val 4000"/>
            </a:avLst>
          </a:prstGeom>
          <a:solidFill>
            <a:schemeClr val="bg2"/>
          </a:solidFill>
          <a:ln w="12700">
            <a:solidFill>
              <a:srgbClr val="D9E0E8"/>
            </a:solidFill>
            <a:prstDash val="solid"/>
          </a:ln>
        </p:spPr>
        <p:txBody>
          <a:bodyPr/>
          <a:lstStyle/>
          <a:p>
            <a:endParaRPr lang="en-US"/>
          </a:p>
        </p:txBody>
      </p:sp>
      <p:sp>
        <p:nvSpPr>
          <p:cNvPr id="5" name="dot-1"/>
          <p:cNvSpPr/>
          <p:nvPr/>
        </p:nvSpPr>
        <p:spPr>
          <a:xfrm>
            <a:off x="804672" y="2057400"/>
            <a:ext cx="475488" cy="475488"/>
          </a:xfrm>
          <a:prstGeom prst="ellipse">
            <a:avLst/>
          </a:prstGeom>
          <a:solidFill>
            <a:srgbClr val="E8803A"/>
          </a:solidFill>
          <a:ln w="12700">
            <a:solidFill>
              <a:srgbClr val="E8803A"/>
            </a:solidFill>
            <a:prstDash val="solid"/>
          </a:ln>
        </p:spPr>
        <p:txBody>
          <a:bodyPr/>
          <a:lstStyle/>
          <a:p>
            <a:endParaRPr lang="en-US"/>
          </a:p>
        </p:txBody>
      </p:sp>
      <p:sp>
        <p:nvSpPr>
          <p:cNvPr id="6" name="Text 4"/>
          <p:cNvSpPr txBox="1"/>
          <p:nvPr/>
        </p:nvSpPr>
        <p:spPr>
          <a:xfrm>
            <a:off x="804672" y="20574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7" name="Text 5"/>
          <p:cNvSpPr txBox="1"/>
          <p:nvPr/>
        </p:nvSpPr>
        <p:spPr>
          <a:xfrm>
            <a:off x="804672" y="2670048"/>
            <a:ext cx="2932176" cy="365760"/>
          </a:xfrm>
          <a:prstGeom prst="rect">
            <a:avLst/>
          </a:prstGeom>
          <a:noFill/>
          <a:ln/>
        </p:spPr>
        <p:txBody>
          <a:bodyPr wrap="square" lIns="0" tIns="0" rIns="0" bIns="0" rtlCol="0" anchor="t"/>
          <a:lstStyle/>
          <a:p>
            <a:pPr marL="0" indent="0" algn="l">
              <a:buNone/>
            </a:pPr>
            <a:r>
              <a:rPr lang="en-US" sz="1600" b="1" dirty="0">
                <a:solidFill>
                  <a:schemeClr val="tx1"/>
                </a:solidFill>
              </a:rPr>
              <a:t>Wait  150 ms</a:t>
            </a:r>
            <a:endParaRPr lang="en-US" sz="1600" dirty="0"/>
          </a:p>
        </p:txBody>
      </p:sp>
      <p:sp>
        <p:nvSpPr>
          <p:cNvPr id="8" name="Text 6"/>
          <p:cNvSpPr txBox="1"/>
          <p:nvPr/>
        </p:nvSpPr>
        <p:spPr>
          <a:xfrm>
            <a:off x="804672" y="3090672"/>
            <a:ext cx="2932176" cy="914400"/>
          </a:xfrm>
          <a:prstGeom prst="rect">
            <a:avLst/>
          </a:prstGeom>
          <a:noFill/>
          <a:ln/>
        </p:spPr>
        <p:txBody>
          <a:bodyPr wrap="square" lIns="0" tIns="0" rIns="0" bIns="0" rtlCol="0" anchor="t"/>
          <a:lstStyle/>
          <a:p>
            <a:pPr marL="0" indent="0" algn="l">
              <a:lnSpc>
                <a:spcPct val="125000"/>
              </a:lnSpc>
              <a:buNone/>
            </a:pPr>
            <a:r>
              <a:rPr lang="en-US" sz="1250" dirty="0">
                <a:solidFill>
                  <a:srgbClr val="4A5568"/>
                </a:solidFill>
              </a:rPr>
              <a:t>Decide nothing. Keep turning the way it already was, which is the direction that chases the line. Most bends are over before this timer is</a:t>
            </a:r>
            <a:endParaRPr lang="en-US" sz="1250" dirty="0"/>
          </a:p>
        </p:txBody>
      </p:sp>
      <p:sp>
        <p:nvSpPr>
          <p:cNvPr id="9" name="stage-1"/>
          <p:cNvSpPr/>
          <p:nvPr/>
        </p:nvSpPr>
        <p:spPr>
          <a:xfrm>
            <a:off x="4358640" y="1828800"/>
            <a:ext cx="3444240" cy="2286000"/>
          </a:xfrm>
          <a:prstGeom prst="roundRect">
            <a:avLst>
              <a:gd name="adj" fmla="val 4000"/>
            </a:avLst>
          </a:prstGeom>
          <a:solidFill>
            <a:schemeClr val="bg2"/>
          </a:solidFill>
          <a:ln w="12700">
            <a:solidFill>
              <a:srgbClr val="D9E0E8"/>
            </a:solidFill>
            <a:prstDash val="solid"/>
          </a:ln>
        </p:spPr>
        <p:txBody>
          <a:bodyPr/>
          <a:lstStyle/>
          <a:p>
            <a:endParaRPr lang="en-US"/>
          </a:p>
        </p:txBody>
      </p:sp>
      <p:sp>
        <p:nvSpPr>
          <p:cNvPr id="10" name="dot-2"/>
          <p:cNvSpPr/>
          <p:nvPr/>
        </p:nvSpPr>
        <p:spPr>
          <a:xfrm>
            <a:off x="4614672" y="2057400"/>
            <a:ext cx="475488" cy="475488"/>
          </a:xfrm>
          <a:prstGeom prst="ellipse">
            <a:avLst/>
          </a:prstGeom>
          <a:solidFill>
            <a:srgbClr val="E8803A"/>
          </a:solidFill>
          <a:ln w="12700">
            <a:solidFill>
              <a:srgbClr val="E8803A"/>
            </a:solidFill>
            <a:prstDash val="solid"/>
          </a:ln>
        </p:spPr>
        <p:txBody>
          <a:bodyPr/>
          <a:lstStyle/>
          <a:p>
            <a:endParaRPr lang="en-US"/>
          </a:p>
        </p:txBody>
      </p:sp>
      <p:sp>
        <p:nvSpPr>
          <p:cNvPr id="11" name="Text 9"/>
          <p:cNvSpPr txBox="1"/>
          <p:nvPr/>
        </p:nvSpPr>
        <p:spPr>
          <a:xfrm>
            <a:off x="4614672" y="20574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2" name="Text 10"/>
          <p:cNvSpPr txBox="1"/>
          <p:nvPr/>
        </p:nvSpPr>
        <p:spPr>
          <a:xfrm>
            <a:off x="4614672" y="2670048"/>
            <a:ext cx="2932176" cy="365760"/>
          </a:xfrm>
          <a:prstGeom prst="rect">
            <a:avLst/>
          </a:prstGeom>
          <a:noFill/>
          <a:ln/>
        </p:spPr>
        <p:txBody>
          <a:bodyPr wrap="square" lIns="0" tIns="0" rIns="0" bIns="0" rtlCol="0" anchor="t"/>
          <a:lstStyle/>
          <a:p>
            <a:pPr marL="0" indent="0" algn="l">
              <a:buNone/>
            </a:pPr>
            <a:r>
              <a:rPr lang="en-US" sz="1600" b="1" dirty="0">
                <a:solidFill>
                  <a:schemeClr val="tx1"/>
                </a:solidFill>
              </a:rPr>
              <a:t>Reverse  400 ms</a:t>
            </a:r>
            <a:endParaRPr lang="en-US" sz="1600" dirty="0"/>
          </a:p>
        </p:txBody>
      </p:sp>
      <p:sp>
        <p:nvSpPr>
          <p:cNvPr id="13" name="Text 11"/>
          <p:cNvSpPr txBox="1"/>
          <p:nvPr/>
        </p:nvSpPr>
        <p:spPr>
          <a:xfrm>
            <a:off x="4614672" y="3090672"/>
            <a:ext cx="2932176" cy="914400"/>
          </a:xfrm>
          <a:prstGeom prst="rect">
            <a:avLst/>
          </a:prstGeom>
          <a:noFill/>
          <a:ln/>
        </p:spPr>
        <p:txBody>
          <a:bodyPr wrap="square" lIns="0" tIns="0" rIns="0" bIns="0" rtlCol="0" anchor="t"/>
          <a:lstStyle/>
          <a:p>
            <a:pPr marL="0" indent="0" algn="l">
              <a:lnSpc>
                <a:spcPct val="125000"/>
              </a:lnSpc>
              <a:buNone/>
            </a:pPr>
            <a:r>
              <a:rPr lang="en-US" sz="1250" dirty="0">
                <a:solidFill>
                  <a:srgbClr val="4A5568"/>
                </a:solidFill>
              </a:rPr>
              <a:t>Back up, angled toward the side the line was last seen. Covers taking a bend too fast</a:t>
            </a:r>
            <a:endParaRPr lang="en-US" sz="1250" dirty="0"/>
          </a:p>
        </p:txBody>
      </p:sp>
      <p:sp>
        <p:nvSpPr>
          <p:cNvPr id="14" name="stage-2"/>
          <p:cNvSpPr/>
          <p:nvPr/>
        </p:nvSpPr>
        <p:spPr>
          <a:xfrm>
            <a:off x="8168640" y="1828800"/>
            <a:ext cx="3444240" cy="2286000"/>
          </a:xfrm>
          <a:prstGeom prst="roundRect">
            <a:avLst>
              <a:gd name="adj" fmla="val 4000"/>
            </a:avLst>
          </a:prstGeom>
          <a:solidFill>
            <a:schemeClr val="bg2"/>
          </a:solidFill>
          <a:ln w="12700">
            <a:solidFill>
              <a:srgbClr val="D9E0E8"/>
            </a:solidFill>
            <a:prstDash val="solid"/>
          </a:ln>
        </p:spPr>
        <p:txBody>
          <a:bodyPr/>
          <a:lstStyle/>
          <a:p>
            <a:endParaRPr lang="en-US"/>
          </a:p>
        </p:txBody>
      </p:sp>
      <p:sp>
        <p:nvSpPr>
          <p:cNvPr id="15" name="dot-3"/>
          <p:cNvSpPr/>
          <p:nvPr/>
        </p:nvSpPr>
        <p:spPr>
          <a:xfrm>
            <a:off x="8424672" y="2057400"/>
            <a:ext cx="475488" cy="475488"/>
          </a:xfrm>
          <a:prstGeom prst="ellipse">
            <a:avLst/>
          </a:prstGeom>
          <a:solidFill>
            <a:srgbClr val="E8803A"/>
          </a:solidFill>
          <a:ln w="12700">
            <a:solidFill>
              <a:srgbClr val="E8803A"/>
            </a:solidFill>
            <a:prstDash val="solid"/>
          </a:ln>
        </p:spPr>
        <p:txBody>
          <a:bodyPr/>
          <a:lstStyle/>
          <a:p>
            <a:endParaRPr lang="en-US"/>
          </a:p>
        </p:txBody>
      </p:sp>
      <p:sp>
        <p:nvSpPr>
          <p:cNvPr id="16" name="Text 14"/>
          <p:cNvSpPr txBox="1"/>
          <p:nvPr/>
        </p:nvSpPr>
        <p:spPr>
          <a:xfrm>
            <a:off x="8424672" y="20574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7" name="Text 15"/>
          <p:cNvSpPr txBox="1"/>
          <p:nvPr/>
        </p:nvSpPr>
        <p:spPr>
          <a:xfrm>
            <a:off x="8424672" y="2670048"/>
            <a:ext cx="2932176" cy="365760"/>
          </a:xfrm>
          <a:prstGeom prst="rect">
            <a:avLst/>
          </a:prstGeom>
          <a:noFill/>
          <a:ln/>
        </p:spPr>
        <p:txBody>
          <a:bodyPr wrap="square" lIns="0" tIns="0" rIns="0" bIns="0" rtlCol="0" anchor="t"/>
          <a:lstStyle/>
          <a:p>
            <a:pPr marL="0" indent="0" algn="l">
              <a:buNone/>
            </a:pPr>
            <a:r>
              <a:rPr lang="en-US" sz="1600" b="1" dirty="0">
                <a:solidFill>
                  <a:schemeClr val="tx1"/>
                </a:solidFill>
              </a:rPr>
              <a:t>Sweep  up to 6 s</a:t>
            </a:r>
            <a:endParaRPr lang="en-US" sz="1600" dirty="0"/>
          </a:p>
        </p:txBody>
      </p:sp>
      <p:sp>
        <p:nvSpPr>
          <p:cNvPr id="18" name="Text 16"/>
          <p:cNvSpPr txBox="1"/>
          <p:nvPr/>
        </p:nvSpPr>
        <p:spPr>
          <a:xfrm>
            <a:off x="8424672" y="3090672"/>
            <a:ext cx="2932176" cy="914400"/>
          </a:xfrm>
          <a:prstGeom prst="rect">
            <a:avLst/>
          </a:prstGeom>
          <a:noFill/>
          <a:ln/>
        </p:spPr>
        <p:txBody>
          <a:bodyPr wrap="square" lIns="0" tIns="0" rIns="0" bIns="0" rtlCol="0" anchor="t"/>
          <a:lstStyle/>
          <a:p>
            <a:pPr marL="0" indent="0" algn="l">
              <a:lnSpc>
                <a:spcPct val="125000"/>
              </a:lnSpc>
              <a:buNone/>
            </a:pPr>
            <a:r>
              <a:rPr lang="en-US" sz="1250" dirty="0">
                <a:solidFill>
                  <a:srgbClr val="4A5568"/>
                </a:solidFill>
              </a:rPr>
              <a:t>Pivot on the spot at 55% speed, alternating sides, each leg wider than the last. Only then does it give up</a:t>
            </a:r>
            <a:endParaRPr lang="en-US" sz="1250" dirty="0"/>
          </a:p>
        </p:txBody>
      </p:sp>
      <p:sp>
        <p:nvSpPr>
          <p:cNvPr id="19" name="callout"/>
          <p:cNvSpPr/>
          <p:nvPr/>
        </p:nvSpPr>
        <p:spPr>
          <a:xfrm>
            <a:off x="548640" y="4343400"/>
            <a:ext cx="11064240" cy="1234440"/>
          </a:xfrm>
          <a:prstGeom prst="roundRect">
            <a:avLst>
              <a:gd name="adj" fmla="val 5926"/>
            </a:avLst>
          </a:prstGeom>
          <a:solidFill>
            <a:srgbClr val="E8F1F5"/>
          </a:solidFill>
          <a:ln w="12700">
            <a:solidFill>
              <a:srgbClr val="CBE0E9"/>
            </a:solidFill>
            <a:prstDash val="solid"/>
          </a:ln>
        </p:spPr>
        <p:txBody>
          <a:bodyPr/>
          <a:lstStyle/>
          <a:p>
            <a:endParaRPr lang="en-US"/>
          </a:p>
        </p:txBody>
      </p:sp>
      <p:sp>
        <p:nvSpPr>
          <p:cNvPr id="20" name="Text 18"/>
          <p:cNvSpPr txBox="1"/>
          <p:nvPr/>
        </p:nvSpPr>
        <p:spPr>
          <a:xfrm>
            <a:off x="777240" y="447141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All white and all black are opposite answers, not similar ones</a:t>
            </a:r>
            <a:endParaRPr lang="en-US" sz="1400" dirty="0"/>
          </a:p>
        </p:txBody>
      </p:sp>
      <p:sp>
        <p:nvSpPr>
          <p:cNvPr id="21" name="Text 19"/>
          <p:cNvSpPr txBox="1"/>
          <p:nvPr/>
        </p:nvSpPr>
        <p:spPr>
          <a:xfrm>
            <a:off x="777240" y="4782312"/>
            <a:ext cx="10607040" cy="66751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Nothing on the line means the line is off the row and the robot must move itself until a sensor finds it again.  The reading that stops it is the exact opposite: all five over black, which is the finish bar.</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Faults we actually hit</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753612"/>
        </p:xfrm>
        <a:graphic>
          <a:graphicData uri="http://schemas.openxmlformats.org/drawingml/2006/table">
            <a:tbl>
              <a:tblPr/>
              <a:tblGrid>
                <a:gridCol w="31089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0">
                <a:tc>
                  <a:txBody>
                    <a:bodyPr/>
                    <a:lstStyle/>
                    <a:p>
                      <a:pPr marL="0" indent="0">
                        <a:buNone/>
                      </a:pPr>
                      <a:r>
                        <a:rPr lang="en-US" sz="1250" b="1" dirty="0">
                          <a:solidFill>
                            <a:srgbClr val="FFFFFF"/>
                          </a:solidFill>
                        </a:rPr>
                        <a:t>Symptom</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250" b="1" dirty="0">
                          <a:solidFill>
                            <a:srgbClr val="FFFFFF"/>
                          </a:solidFill>
                        </a:rPr>
                        <a:t>What it turned out to be</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tc>
                  <a:txBody>
                    <a:bodyPr/>
                    <a:lstStyle/>
                    <a:p>
                      <a:pPr marL="0" indent="0">
                        <a:buNone/>
                      </a:pPr>
                      <a:r>
                        <a:rPr lang="en-US" sz="1250" b="1" dirty="0">
                          <a:solidFill>
                            <a:srgbClr val="FFFFFF"/>
                          </a:solidFill>
                        </a:rPr>
                        <a:t>Fix</a:t>
                      </a:r>
                      <a:endParaRPr lang="en-US" sz="12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16202E"/>
                          </a:solidFill>
                        </a:rPr>
                        <a:t>Screen dark on a restart</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The panel still holding the I2C line</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Firmware frees it at boot. If not, unplug power for 10 s</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16202E"/>
                          </a:solidFill>
                        </a:rPr>
                        <a:t>STM32 will not take an upload</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Wrong core selected, or no CubeProgrammer</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Generic STM32F1 series, Upload method SWD</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16202E"/>
                          </a:solidFill>
                        </a:rPr>
                        <a:t>undefined reference to 'Serial2'</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The core does not create Serial2 or Serial3</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The sketch creates them at the top. Keep those lines</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16202E"/>
                          </a:solidFill>
                        </a:rPr>
                        <a:t>Web page will not open</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Not actually joined to My_Robot2</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Join it, then stop the phone switching to mobile data</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50" b="1" dirty="0">
                          <a:solidFill>
                            <a:srgbClr val="16202E"/>
                          </a:solidFill>
                        </a:rPr>
                        <a:t>Robot always pulls one way</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One motor stronger than the other</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Move the Trim slider while it drives. No reflash</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b="1" dirty="0">
                          <a:solidFill>
                            <a:srgbClr val="16202E"/>
                          </a:solidFill>
                        </a:rPr>
                        <a:t>Robot stops mid-course</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Sensor polarity inverted: read as a finish bar</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The black row in Serial must read 0 0 1 0 0 on the line</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150" b="1" dirty="0">
                          <a:solidFill>
                            <a:srgbClr val="16202E"/>
                          </a:solidFill>
                        </a:rPr>
                        <a:t>CSV never updates</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The file is open in Excel</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Close it and run the script again</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50" b="1" dirty="0">
                          <a:solidFill>
                            <a:srgbClr val="16202E"/>
                          </a:solidFill>
                        </a:rPr>
                        <a:t>Stripes across the camera image</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Pixel clock too fast for the board</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Already halved in the firmware. Reflash the camera</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150" b="1" dirty="0">
                          <a:solidFill>
                            <a:srgbClr val="16202E"/>
                          </a:solidFill>
                        </a:rPr>
                        <a:t>Slider raised but nothing moves</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Still at 0, or below what the wheels need</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Go above 135. Below that the motors buzz but do not turn</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150" b="1" dirty="0">
                          <a:solidFill>
                            <a:srgbClr val="16202E"/>
                          </a:solidFill>
                        </a:rPr>
                        <a:t>QR never decodes</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Blurred, or the code is too far away</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rPr>
                        <a:t>Move closer, and light the code instead of shading it</a:t>
                      </a:r>
                      <a:endParaRPr lang="en-US" sz="1150" dirty="0"/>
                    </a:p>
                  </a:txBody>
                  <a:tcPr marL="82296" marR="82296" marT="82296" marB="82296" anchor="ctr">
                    <a:lnL w="12700" cap="flat" cmpd="sng" algn="ctr">
                      <a:solidFill>
                        <a:srgbClr val="D9E0E8"/>
                      </a:solidFill>
                      <a:prstDash val="solid"/>
                      <a:round/>
                      <a:headEnd type="none" w="med" len="med"/>
                      <a:tailEnd type="none" w="med" len="med"/>
                    </a:lnL>
                    <a:lnR w="12700" cap="flat" cmpd="sng" algn="ctr">
                      <a:solidFill>
                        <a:srgbClr val="D9E0E8"/>
                      </a:solidFill>
                      <a:prstDash val="solid"/>
                      <a:round/>
                      <a:headEnd type="none" w="med" len="med"/>
                      <a:tailEnd type="none" w="med" len="med"/>
                    </a:lnR>
                    <a:lnT w="12700" cap="flat" cmpd="sng" algn="ctr">
                      <a:solidFill>
                        <a:srgbClr val="D9E0E8"/>
                      </a:solidFill>
                      <a:prstDash val="solid"/>
                      <a:round/>
                      <a:headEnd type="none" w="med" len="med"/>
                      <a:tailEnd type="none" w="med" len="med"/>
                    </a:lnT>
                    <a:lnB w="12700"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685800"/>
          </a:xfrm>
          <a:prstGeom prst="rect">
            <a:avLst/>
          </a:prstGeom>
          <a:noFill/>
          <a:ln/>
        </p:spPr>
        <p:txBody>
          <a:bodyPr wrap="square" rtlCol="0"/>
          <a:lstStyle/>
          <a:p>
            <a:pPr marL="0" indent="0" algn="l">
              <a:buNone/>
            </a:pPr>
            <a:r>
              <a:rPr lang="en-US" sz="3200" b="1" dirty="0">
                <a:solidFill>
                  <a:schemeClr val="tx1"/>
                </a:solidFill>
              </a:rPr>
              <a:t>Before a real run</a:t>
            </a:r>
            <a:endParaRPr lang="en-US" sz="3200" dirty="0"/>
          </a:p>
        </p:txBody>
      </p:sp>
      <p:sp>
        <p:nvSpPr>
          <p:cNvPr id="3" name="check-0"/>
          <p:cNvSpPr/>
          <p:nvPr/>
        </p:nvSpPr>
        <p:spPr>
          <a:xfrm>
            <a:off x="548640" y="160020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4" name="Text 2"/>
          <p:cNvSpPr txBox="1"/>
          <p:nvPr/>
        </p:nvSpPr>
        <p:spPr>
          <a:xfrm>
            <a:off x="1051560" y="156362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Battery charged, and motor power separate from the boards</a:t>
            </a:r>
            <a:endParaRPr lang="en-US" sz="1350" dirty="0"/>
          </a:p>
        </p:txBody>
      </p:sp>
      <p:sp>
        <p:nvSpPr>
          <p:cNvPr id="5" name="check-1"/>
          <p:cNvSpPr/>
          <p:nvPr/>
        </p:nvSpPr>
        <p:spPr>
          <a:xfrm>
            <a:off x="6400800" y="160020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6" name="Text 4"/>
          <p:cNvSpPr txBox="1"/>
          <p:nvPr/>
        </p:nvSpPr>
        <p:spPr>
          <a:xfrm>
            <a:off x="6903720" y="156362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All four screen wires soldered, not just pushed on</a:t>
            </a:r>
            <a:endParaRPr lang="en-US" sz="1350" dirty="0"/>
          </a:p>
        </p:txBody>
      </p:sp>
      <p:sp>
        <p:nvSpPr>
          <p:cNvPr id="7" name="check-2"/>
          <p:cNvSpPr/>
          <p:nvPr/>
        </p:nvSpPr>
        <p:spPr>
          <a:xfrm>
            <a:off x="548640" y="256032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8" name="Text 6"/>
          <p:cNvSpPr txBox="1"/>
          <p:nvPr/>
        </p:nvSpPr>
        <p:spPr>
          <a:xfrm>
            <a:off x="1051560" y="252374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Data lines crossed correctly, grounds joined</a:t>
            </a:r>
            <a:endParaRPr lang="en-US" sz="1350" dirty="0"/>
          </a:p>
        </p:txBody>
      </p:sp>
      <p:sp>
        <p:nvSpPr>
          <p:cNvPr id="9" name="check-3"/>
          <p:cNvSpPr/>
          <p:nvPr/>
        </p:nvSpPr>
        <p:spPr>
          <a:xfrm>
            <a:off x="6400800" y="256032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10" name="Text 8"/>
          <p:cNvSpPr txBox="1"/>
          <p:nvPr/>
        </p:nvSpPr>
        <p:spPr>
          <a:xfrm>
            <a:off x="6903720" y="252374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Compile timestamp in the Serial Monitor matches the upload</a:t>
            </a:r>
            <a:endParaRPr lang="en-US" sz="1350" dirty="0"/>
          </a:p>
        </p:txBody>
      </p:sp>
      <p:sp>
        <p:nvSpPr>
          <p:cNvPr id="11" name="check-4"/>
          <p:cNvSpPr/>
          <p:nvPr/>
        </p:nvSpPr>
        <p:spPr>
          <a:xfrm>
            <a:off x="548640" y="352044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12" name="Text 10"/>
          <p:cNvSpPr txBox="1"/>
          <p:nvPr/>
        </p:nvSpPr>
        <p:spPr>
          <a:xfrm>
            <a:off x="1051560" y="348386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On the line, the sensors read 0 0 1 0 0</a:t>
            </a:r>
            <a:endParaRPr lang="en-US" sz="1350" dirty="0"/>
          </a:p>
        </p:txBody>
      </p:sp>
      <p:sp>
        <p:nvSpPr>
          <p:cNvPr id="13" name="check-5"/>
          <p:cNvSpPr/>
          <p:nvPr/>
        </p:nvSpPr>
        <p:spPr>
          <a:xfrm>
            <a:off x="6400800" y="352044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14" name="Text 12"/>
          <p:cNvSpPr txBox="1"/>
          <p:nvPr/>
        </p:nvSpPr>
        <p:spPr>
          <a:xfrm>
            <a:off x="6903720" y="348386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Phone and PC both joined to My_Robot2</a:t>
            </a:r>
            <a:endParaRPr lang="en-US" sz="1350" dirty="0"/>
          </a:p>
        </p:txBody>
      </p:sp>
      <p:sp>
        <p:nvSpPr>
          <p:cNvPr id="15" name="check-6"/>
          <p:cNvSpPr/>
          <p:nvPr/>
        </p:nvSpPr>
        <p:spPr>
          <a:xfrm>
            <a:off x="548640" y="448056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16" name="Text 14"/>
          <p:cNvSpPr txBox="1"/>
          <p:nvPr/>
        </p:nvSpPr>
        <p:spPr>
          <a:xfrm>
            <a:off x="1051560" y="444398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The CSV closed in Excel before starting the script</a:t>
            </a:r>
            <a:endParaRPr lang="en-US" sz="1350" dirty="0"/>
          </a:p>
        </p:txBody>
      </p:sp>
      <p:sp>
        <p:nvSpPr>
          <p:cNvPr id="17" name="check-7"/>
          <p:cNvSpPr/>
          <p:nvPr/>
        </p:nvSpPr>
        <p:spPr>
          <a:xfrm>
            <a:off x="6400800" y="4480560"/>
            <a:ext cx="310896" cy="310896"/>
          </a:xfrm>
          <a:prstGeom prst="roundRect">
            <a:avLst>
              <a:gd name="adj" fmla="val 17647"/>
            </a:avLst>
          </a:prstGeom>
          <a:solidFill>
            <a:srgbClr val="FFFFFF"/>
          </a:solidFill>
          <a:ln w="19050">
            <a:solidFill>
              <a:srgbClr val="2F7A4F"/>
            </a:solidFill>
            <a:prstDash val="solid"/>
          </a:ln>
        </p:spPr>
        <p:txBody>
          <a:bodyPr/>
          <a:lstStyle/>
          <a:p>
            <a:endParaRPr lang="en-US"/>
          </a:p>
        </p:txBody>
      </p:sp>
      <p:sp>
        <p:nvSpPr>
          <p:cNvPr id="18" name="Text 16"/>
          <p:cNvSpPr txBox="1"/>
          <p:nvPr/>
        </p:nvSpPr>
        <p:spPr>
          <a:xfrm>
            <a:off x="6903720" y="4443984"/>
            <a:ext cx="4709160" cy="685800"/>
          </a:xfrm>
          <a:prstGeom prst="rect">
            <a:avLst/>
          </a:prstGeom>
          <a:noFill/>
          <a:ln/>
        </p:spPr>
        <p:txBody>
          <a:bodyPr wrap="square" lIns="0" tIns="0" rIns="0" bIns="0" rtlCol="0" anchor="t"/>
          <a:lstStyle/>
          <a:p>
            <a:pPr marL="0" indent="0" algn="l">
              <a:lnSpc>
                <a:spcPct val="120000"/>
              </a:lnSpc>
              <a:buNone/>
            </a:pPr>
            <a:r>
              <a:rPr lang="en-US" sz="1350" dirty="0">
                <a:solidFill>
                  <a:schemeClr val="tx1"/>
                </a:solidFill>
              </a:rPr>
              <a:t>Manual mode drives forward and back before switching to Auto</a:t>
            </a:r>
            <a:endParaRPr lang="en-US" sz="1350" dirty="0"/>
          </a:p>
        </p:txBody>
      </p:sp>
      <p:sp>
        <p:nvSpPr>
          <p:cNvPr id="19" name="callout"/>
          <p:cNvSpPr/>
          <p:nvPr/>
        </p:nvSpPr>
        <p:spPr>
          <a:xfrm>
            <a:off x="548640" y="5349240"/>
            <a:ext cx="11064240" cy="777240"/>
          </a:xfrm>
          <a:prstGeom prst="roundRect">
            <a:avLst>
              <a:gd name="adj" fmla="val 9412"/>
            </a:avLst>
          </a:prstGeom>
          <a:solidFill>
            <a:srgbClr val="E8F1F5"/>
          </a:solidFill>
          <a:ln w="12700">
            <a:solidFill>
              <a:srgbClr val="CBE0E9"/>
            </a:solidFill>
            <a:prstDash val="solid"/>
          </a:ln>
        </p:spPr>
        <p:txBody>
          <a:bodyPr/>
          <a:lstStyle/>
          <a:p>
            <a:endParaRPr lang="en-US"/>
          </a:p>
        </p:txBody>
      </p:sp>
      <p:sp>
        <p:nvSpPr>
          <p:cNvPr id="20" name="Text 18"/>
          <p:cNvSpPr txBox="1"/>
          <p:nvPr/>
        </p:nvSpPr>
        <p:spPr>
          <a:xfrm>
            <a:off x="777240" y="5477256"/>
            <a:ext cx="10607040" cy="274320"/>
          </a:xfrm>
          <a:prstGeom prst="rect">
            <a:avLst/>
          </a:prstGeom>
          <a:noFill/>
          <a:ln/>
        </p:spPr>
        <p:txBody>
          <a:bodyPr wrap="square" lIns="0" tIns="0" rIns="0" bIns="0" rtlCol="0" anchor="t"/>
          <a:lstStyle/>
          <a:p>
            <a:pPr marL="0" indent="0" algn="l">
              <a:buNone/>
            </a:pPr>
            <a:r>
              <a:rPr lang="en-US" sz="1400" b="1" dirty="0">
                <a:solidFill>
                  <a:srgbClr val="1C7293"/>
                </a:solidFill>
              </a:rPr>
              <a:t>Top to bottom, every time</a:t>
            </a:r>
            <a:endParaRPr lang="en-US" sz="1400" dirty="0"/>
          </a:p>
        </p:txBody>
      </p:sp>
      <p:sp>
        <p:nvSpPr>
          <p:cNvPr id="21" name="Text 19"/>
          <p:cNvSpPr txBox="1"/>
          <p:nvPr/>
        </p:nvSpPr>
        <p:spPr>
          <a:xfrm>
            <a:off x="777240" y="5788152"/>
            <a:ext cx="10607040" cy="210312"/>
          </a:xfrm>
          <a:prstGeom prst="rect">
            <a:avLst/>
          </a:prstGeom>
          <a:noFill/>
          <a:ln/>
        </p:spPr>
        <p:txBody>
          <a:bodyPr wrap="square" lIns="0" tIns="0" rIns="0" bIns="0" rtlCol="0" anchor="t"/>
          <a:lstStyle/>
          <a:p>
            <a:pPr marL="0" indent="0" algn="l">
              <a:lnSpc>
                <a:spcPct val="120000"/>
              </a:lnSpc>
              <a:buNone/>
            </a:pPr>
            <a:r>
              <a:rPr lang="en-US" sz="1250" dirty="0">
                <a:solidFill>
                  <a:srgbClr val="4A5568"/>
                </a:solidFill>
              </a:rPr>
              <a:t>Eight checks take under two minutes and rule out almost everything that otherwise costs a whole day.</a:t>
            </a:r>
            <a:endParaRPr lang="en-US" sz="1250" dirty="0"/>
          </a:p>
        </p:txBody>
      </p:sp>
      <p:sp>
        <p:nvSpPr>
          <p:cNvPr id="25" name="Slide Number Placeholder 0"/>
          <p:cNvSpPr>
            <a:spLocks noGrp="1"/>
          </p:cNvSpPr>
          <p:nvPr>
            <p:ph type="sldNum" sz="quarter" idx="4294967295"/>
          </p:nvPr>
        </p:nvSpPr>
        <p:spPr>
          <a:xfrm>
            <a:off x="11338560"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E93"/>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828800"/>
            <a:ext cx="11064240" cy="365760"/>
          </a:xfrm>
          <a:prstGeom prst="rect">
            <a:avLst/>
          </a:prstGeom>
          <a:noFill/>
          <a:ln/>
        </p:spPr>
        <p:txBody>
          <a:bodyPr wrap="square" rtlCol="0"/>
          <a:lstStyle/>
          <a:p>
            <a:pPr marL="0" indent="0" algn="l">
              <a:buNone/>
            </a:pPr>
            <a:r>
              <a:rPr lang="en-US" sz="1500" b="1" dirty="0">
                <a:solidFill>
                  <a:srgbClr val="E8803A"/>
                </a:solidFill>
              </a:rPr>
              <a:t>Where to read further</a:t>
            </a:r>
            <a:endParaRPr lang="en-US" sz="1500" dirty="0"/>
          </a:p>
        </p:txBody>
      </p:sp>
      <p:sp>
        <p:nvSpPr>
          <p:cNvPr id="3" name="Text 0"/>
          <p:cNvSpPr>
            <a:spLocks noGrp="1"/>
          </p:cNvSpPr>
          <p:nvPr>
            <p:ph type="title" idx="101" hasCustomPrompt="1"/>
          </p:nvPr>
        </p:nvSpPr>
        <p:spPr>
          <a:xfrm>
            <a:off x="548640" y="2286000"/>
            <a:ext cx="11064240" cy="1371600"/>
          </a:xfrm>
          <a:prstGeom prst="rect">
            <a:avLst/>
          </a:prstGeom>
          <a:noFill/>
          <a:ln/>
        </p:spPr>
        <p:txBody>
          <a:bodyPr wrap="square" rtlCol="0"/>
          <a:lstStyle/>
          <a:p>
            <a:pPr marL="0" indent="0" algn="l">
              <a:buNone/>
            </a:pPr>
            <a:r>
              <a:rPr lang="en-US" sz="5400" b="1" dirty="0">
                <a:solidFill>
                  <a:schemeClr val="bg1"/>
                </a:solidFill>
              </a:rPr>
              <a:t>Go and build it</a:t>
            </a:r>
            <a:endParaRPr lang="en-US" sz="5400" dirty="0"/>
          </a:p>
        </p:txBody>
      </p:sp>
      <p:sp>
        <p:nvSpPr>
          <p:cNvPr id="4" name="Text 0"/>
          <p:cNvSpPr>
            <a:spLocks noGrp="1"/>
          </p:cNvSpPr>
          <p:nvPr>
            <p:ph type="body" idx="102" hasCustomPrompt="1"/>
          </p:nvPr>
        </p:nvSpPr>
        <p:spPr>
          <a:xfrm>
            <a:off x="548640" y="3749040"/>
            <a:ext cx="9509760" cy="1371600"/>
          </a:xfrm>
          <a:prstGeom prst="rect">
            <a:avLst/>
          </a:prstGeom>
          <a:noFill/>
          <a:ln/>
        </p:spPr>
        <p:txBody>
          <a:bodyPr wrap="square" rtlCol="0"/>
          <a:lstStyle/>
          <a:p>
            <a:pPr marL="0" indent="0" algn="l">
              <a:buNone/>
            </a:pPr>
            <a:r>
              <a:rPr lang="en-US" sz="1800" dirty="0">
                <a:solidFill>
                  <a:srgbClr val="B9C6D4"/>
                </a:solidFill>
              </a:rPr>
              <a:t>Everything in this deck is written out in full in the project README, together with the reasoning behind every constant.</a:t>
            </a:r>
            <a:endParaRPr lang="en-US" sz="1800" dirty="0"/>
          </a:p>
        </p:txBody>
      </p:sp>
      <p:sp>
        <p:nvSpPr>
          <p:cNvPr id="5" name="Text 3"/>
          <p:cNvSpPr txBox="1"/>
          <p:nvPr/>
        </p:nvSpPr>
        <p:spPr>
          <a:xfrm>
            <a:off x="548640" y="5074920"/>
            <a:ext cx="3444240" cy="320040"/>
          </a:xfrm>
          <a:prstGeom prst="rect">
            <a:avLst/>
          </a:prstGeom>
          <a:noFill/>
          <a:ln/>
        </p:spPr>
        <p:txBody>
          <a:bodyPr wrap="square" lIns="0" tIns="0" rIns="0" bIns="0" rtlCol="0" anchor="t"/>
          <a:lstStyle/>
          <a:p>
            <a:pPr marL="0" indent="0" algn="l">
              <a:buNone/>
            </a:pPr>
            <a:r>
              <a:rPr lang="en-US" sz="1500" b="1" dirty="0">
                <a:solidFill>
                  <a:srgbClr val="E8803A"/>
                </a:solidFill>
                <a:latin typeface="Courier New" pitchFamily="34" charset="0"/>
                <a:ea typeface="Courier New" pitchFamily="34" charset="-122"/>
                <a:cs typeface="Courier New" pitchFamily="34" charset="-120"/>
              </a:rPr>
              <a:t>README.md</a:t>
            </a:r>
            <a:endParaRPr lang="en-US" sz="1500" dirty="0"/>
          </a:p>
        </p:txBody>
      </p:sp>
      <p:sp>
        <p:nvSpPr>
          <p:cNvPr id="6" name="Text 4"/>
          <p:cNvSpPr txBox="1"/>
          <p:nvPr/>
        </p:nvSpPr>
        <p:spPr>
          <a:xfrm>
            <a:off x="548640" y="5440680"/>
            <a:ext cx="3444240" cy="731520"/>
          </a:xfrm>
          <a:prstGeom prst="rect">
            <a:avLst/>
          </a:prstGeom>
          <a:noFill/>
          <a:ln/>
        </p:spPr>
        <p:txBody>
          <a:bodyPr wrap="square" lIns="0" tIns="0" rIns="0" bIns="0" rtlCol="0" anchor="t"/>
          <a:lstStyle/>
          <a:p>
            <a:pPr marL="0" indent="0" algn="l">
              <a:lnSpc>
                <a:spcPct val="120000"/>
              </a:lnSpc>
              <a:buNone/>
            </a:pPr>
            <a:r>
              <a:rPr lang="en-US" sz="1200" dirty="0">
                <a:solidFill>
                  <a:srgbClr val="B9C6D4"/>
                </a:solidFill>
              </a:rPr>
              <a:t>The full guide: every constant and why it is what it is</a:t>
            </a:r>
            <a:endParaRPr lang="en-US" sz="1200" dirty="0"/>
          </a:p>
        </p:txBody>
      </p:sp>
      <p:sp>
        <p:nvSpPr>
          <p:cNvPr id="7" name="Text 5"/>
          <p:cNvSpPr txBox="1"/>
          <p:nvPr/>
        </p:nvSpPr>
        <p:spPr>
          <a:xfrm>
            <a:off x="4358640" y="5074920"/>
            <a:ext cx="3444240" cy="320040"/>
          </a:xfrm>
          <a:prstGeom prst="rect">
            <a:avLst/>
          </a:prstGeom>
          <a:noFill/>
          <a:ln/>
        </p:spPr>
        <p:txBody>
          <a:bodyPr wrap="square" lIns="0" tIns="0" rIns="0" bIns="0" rtlCol="0" anchor="t"/>
          <a:lstStyle/>
          <a:p>
            <a:pPr marL="0" indent="0" algn="l">
              <a:buNone/>
            </a:pPr>
            <a:r>
              <a:rPr lang="en-US" sz="1500" b="1" dirty="0">
                <a:solidFill>
                  <a:srgbClr val="E8803A"/>
                </a:solidFill>
                <a:latin typeface="Courier New" pitchFamily="34" charset="0"/>
                <a:ea typeface="Courier New" pitchFamily="34" charset="-122"/>
                <a:cs typeface="Courier New" pitchFamily="34" charset="-120"/>
              </a:rPr>
              <a:t>tests/</a:t>
            </a:r>
            <a:endParaRPr lang="en-US" sz="1500" dirty="0"/>
          </a:p>
        </p:txBody>
      </p:sp>
      <p:sp>
        <p:nvSpPr>
          <p:cNvPr id="8" name="Text 6"/>
          <p:cNvSpPr txBox="1"/>
          <p:nvPr/>
        </p:nvSpPr>
        <p:spPr>
          <a:xfrm>
            <a:off x="4358640" y="5440680"/>
            <a:ext cx="3444240" cy="731520"/>
          </a:xfrm>
          <a:prstGeom prst="rect">
            <a:avLst/>
          </a:prstGeom>
          <a:noFill/>
          <a:ln/>
        </p:spPr>
        <p:txBody>
          <a:bodyPr wrap="square" lIns="0" tIns="0" rIns="0" bIns="0" rtlCol="0" anchor="t"/>
          <a:lstStyle/>
          <a:p>
            <a:pPr marL="0" indent="0" algn="l">
              <a:lnSpc>
                <a:spcPct val="120000"/>
              </a:lnSpc>
              <a:buNone/>
            </a:pPr>
            <a:r>
              <a:rPr lang="en-US" sz="1200" dirty="0">
                <a:solidFill>
                  <a:srgbClr val="B9C6D4"/>
                </a:solidFill>
              </a:rPr>
              <a:t>Sketches that isolate the screen and the I2C bus from the wiring</a:t>
            </a:r>
            <a:endParaRPr lang="en-US" sz="1200" dirty="0"/>
          </a:p>
        </p:txBody>
      </p:sp>
      <p:sp>
        <p:nvSpPr>
          <p:cNvPr id="9" name="Text 7"/>
          <p:cNvSpPr txBox="1"/>
          <p:nvPr/>
        </p:nvSpPr>
        <p:spPr>
          <a:xfrm>
            <a:off x="8168640" y="5074920"/>
            <a:ext cx="3444240" cy="320040"/>
          </a:xfrm>
          <a:prstGeom prst="rect">
            <a:avLst/>
          </a:prstGeom>
          <a:noFill/>
          <a:ln/>
        </p:spPr>
        <p:txBody>
          <a:bodyPr wrap="square" lIns="0" tIns="0" rIns="0" bIns="0" rtlCol="0" anchor="t"/>
          <a:lstStyle/>
          <a:p>
            <a:pPr marL="0" indent="0" algn="l">
              <a:buNone/>
            </a:pPr>
            <a:r>
              <a:rPr lang="en-US" sz="1500" b="1" dirty="0">
                <a:solidFill>
                  <a:srgbClr val="E8803A"/>
                </a:solidFill>
                <a:latin typeface="Courier New" pitchFamily="34" charset="0"/>
                <a:ea typeface="Courier New" pitchFamily="34" charset="-122"/>
                <a:cs typeface="Courier New" pitchFamily="34" charset="-120"/>
              </a:rPr>
              <a:t>assets/oled/</a:t>
            </a:r>
            <a:endParaRPr lang="en-US" sz="1500" dirty="0"/>
          </a:p>
        </p:txBody>
      </p:sp>
      <p:sp>
        <p:nvSpPr>
          <p:cNvPr id="10" name="Text 8"/>
          <p:cNvSpPr txBox="1"/>
          <p:nvPr/>
        </p:nvSpPr>
        <p:spPr>
          <a:xfrm>
            <a:off x="8168640" y="5440680"/>
            <a:ext cx="3444240" cy="731520"/>
          </a:xfrm>
          <a:prstGeom prst="rect">
            <a:avLst/>
          </a:prstGeom>
          <a:noFill/>
          <a:ln/>
        </p:spPr>
        <p:txBody>
          <a:bodyPr wrap="square" lIns="0" tIns="0" rIns="0" bIns="0" rtlCol="0" anchor="t"/>
          <a:lstStyle/>
          <a:p>
            <a:pPr marL="0" indent="0" algn="l">
              <a:lnSpc>
                <a:spcPct val="120000"/>
              </a:lnSpc>
              <a:buNone/>
            </a:pPr>
            <a:r>
              <a:rPr lang="en-US" sz="1200" dirty="0">
                <a:solidFill>
                  <a:srgbClr val="B9C6D4"/>
                </a:solidFill>
              </a:rPr>
              <a:t>Source artwork for every screen; edit and regenerate</a:t>
            </a:r>
            <a:endParaRPr lang="en-US" sz="1200" dirty="0"/>
          </a:p>
        </p:txBody>
      </p:sp>
    </p:spTree>
  </p:cSld>
  <p:clrMapOvr>
    <a:masterClrMapping/>
  </p:clrMapOvr>
</p:sld>
</file>

<file path=ppt/theme/theme1.xml><?xml version="1.0" encoding="utf-8"?>
<a:theme xmlns:a="http://schemas.openxmlformats.org/drawingml/2006/main" name="Tiny Robot">
  <a:themeElements>
    <a:clrScheme name="Tiny Robot">
      <a:dk1>
        <a:srgbClr val="16202E"/>
      </a:dk1>
      <a:lt1>
        <a:srgbClr val="FFFFFF"/>
      </a:lt1>
      <a:dk2>
        <a:srgbClr val="27405C"/>
      </a:dk2>
      <a:lt2>
        <a:srgbClr val="EEF2F6"/>
      </a:lt2>
      <a:accent1>
        <a:srgbClr val="E8803A"/>
      </a:accent1>
      <a:accent2>
        <a:srgbClr val="1C7293"/>
      </a:accent2>
      <a:accent3>
        <a:srgbClr val="065A82"/>
      </a:accent3>
      <a:accent4>
        <a:srgbClr val="2F7A4F"/>
      </a:accent4>
      <a:accent5>
        <a:srgbClr val="B3261E"/>
      </a:accent5>
      <a:accent6>
        <a:srgbClr val="6B7E93"/>
      </a:accent6>
      <a:hlink>
        <a:srgbClr val="1C7293"/>
      </a:hlink>
      <a:folHlink>
        <a:srgbClr val="6B7E93"/>
      </a:folHlink>
    </a:clrScheme>
    <a:fontScheme name="Tiny Robot">
      <a:majorFont>
        <a:latin typeface="Tahoma"/>
        <a:ea typeface=""/>
        <a:cs typeface="Tahoma"/>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Tahoma"/>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4136</Words>
  <Application>Microsoft Office PowerPoint</Application>
  <PresentationFormat>Widescreen</PresentationFormat>
  <Paragraphs>457</Paragraphs>
  <Slides>24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Courier New</vt:lpstr>
      <vt:lpstr>Tahoma</vt:lpstr>
      <vt:lpstr>Tiny Robot</vt:lpstr>
      <vt:lpstr>Tiny Robot</vt:lpstr>
      <vt:lpstr>What the robot can do</vt:lpstr>
      <vt:lpstr>The four parts</vt:lpstr>
      <vt:lpstr>Who talks to whom</vt:lpstr>
      <vt:lpstr>Install and wire</vt:lpstr>
      <vt:lpstr>Software on the laptop first</vt:lpstr>
      <vt:lpstr>Wiring the STM32</vt:lpstr>
      <vt:lpstr>Wiring the ESP32 and the camera</vt:lpstr>
      <vt:lpstr>Setting up ST-Link for the STM32</vt:lpstr>
      <vt:lpstr>Configuration and wire</vt:lpstr>
      <vt:lpstr>Every Tools setting for the STM32</vt:lpstr>
      <vt:lpstr>Flashing each board</vt:lpstr>
      <vt:lpstr>Flashing without the IDE</vt:lpstr>
      <vt:lpstr>Running it</vt:lpstr>
      <vt:lpstr>Six steps to a first run</vt:lpstr>
      <vt:lpstr>What the screen is telling you</vt:lpstr>
      <vt:lpstr>The web remote</vt:lpstr>
      <vt:lpstr>What lands in the spreadsheet</vt:lpstr>
      <vt:lpstr>Tuning and faults</vt:lpstr>
      <vt:lpstr>The constants worth touching</vt:lpstr>
      <vt:lpstr>How it hunts for a lost line</vt:lpstr>
      <vt:lpstr>Faults we actually hit</vt:lpstr>
      <vt:lpstr>Before a real run</vt:lpstr>
      <vt:lpstr>Go and build 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Tiny Robot - Setup and First Run</dc:title>
  <dc:subject>Setup and operating guide for the line-following robot</dc:subject>
  <dc:creator>Tiny Robot</dc:creator>
  <cp:lastModifiedBy>Chanyada Phuphulphian</cp:lastModifiedBy>
  <cp:revision>4</cp:revision>
  <dcterms:created xsi:type="dcterms:W3CDTF">2026-10-07T10:47:24Z</dcterms:created>
  <dcterms:modified xsi:type="dcterms:W3CDTF">2026-10-08T09:56:10Z</dcterms:modified>
</cp:coreProperties>
</file>